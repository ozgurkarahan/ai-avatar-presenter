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 am a generative AI system, presenting to you live through synthesized speech and an animated avatar. Everything you are hearing right now was written by a language model moments ago and turned into audio by a separate speech system. Over the next few minutes, I want to quickly show you three ideas: what a model actually is, what makes something an agent instead of just a chatbot, and how this voice and face you are watching were built. No technical background required, just a few minutes of your attention.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like the one generating my words right now was trained on enormous amounts of text, learning statistical patterns in how language fits together rather than memorizing facts like a database. When you ask it something, it predicts the most likely next word, over and over, until a full answer forms. That is also why it can sound completely confident while occasionally being wrong, which is worth remembering whenever accuracy really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plain model only produces words. An agent is a model connected to tools, like a search engine or a calendar, that it can actually use. It works in a loop: think about the next step, act by calling a tool, look at the result, and repeat until the task is actually finished. That loop is the real difference between something that only talks and something that can get things done for you.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combines a few speech technologies. Speech-to-text would convert your spoken words into text a model can read. Text-to-speech takes generated words and turns them into the natural voice you are hearing now. An avatar layer then animates a synthesized face to match that voice. When all of this happens quickly enough for a live back-and-forth, it is called realtime voice, and it is exactly what is powering me right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was the three-minute version. The full beginner session covers twelve topics in more depth, including reasoning models, tokens and context windows, open versus closed models, and responsible use, and two further sessions go deeper still, one for practitioners who build with AI and one for experts who want the mechanics underneath. Thank you for watching, and please bring your questions, whatever your starting point with artificial intelligence happens to be.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1051560"/>
            <a:ext cx="5943600" cy="1417320"/>
          </a:xfrm>
        </p:spPr>
        <p:txBody>
          <a:bodyPr wrap="square" lIns="18288" rIns="18288" tIns="10973" bIns="10973" anchor="t">
            <a:noAutofit/>
          </a:bodyPr>
          <a:lstStyle/>
          <a:p>
            <a:pPr algn="l">
              <a:lnSpc>
                <a:spcPct val="95000"/>
              </a:lnSpc>
            </a:pPr>
            <a:r>
              <a:rPr sz="4000" b="1" i="0">
                <a:solidFill>
                  <a:srgbClr val="16202F"/>
                </a:solidFill>
                <a:latin typeface="Calibri"/>
              </a:rPr>
              <a:t>Hi, I'm an AI presenter</a:t>
            </a:r>
          </a:p>
        </p:txBody>
      </p:sp>
      <p:sp>
        <p:nvSpPr>
          <p:cNvPr id="3" name="eyebrow"/>
          <p:cNvSpPr txBox="1"/>
          <p:nvPr/>
        </p:nvSpPr>
        <p:spPr>
          <a:xfrm>
            <a:off x="502920" y="457200"/>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DECKFM · AI ENABLEMENT · LIVE DEMO</a:t>
            </a:r>
          </a:p>
        </p:txBody>
      </p:sp>
      <p:sp>
        <p:nvSpPr>
          <p:cNvPr id="4" name="TextBox 3"/>
          <p:cNvSpPr txBox="1"/>
          <p:nvPr/>
        </p:nvSpPr>
        <p:spPr>
          <a:xfrm>
            <a:off x="502920" y="2487168"/>
            <a:ext cx="5943600" cy="457200"/>
          </a:xfrm>
          <a:prstGeom prst="rect">
            <a:avLst/>
          </a:prstGeom>
          <a:noFill/>
        </p:spPr>
        <p:txBody>
          <a:bodyPr wrap="square" lIns="18288" rIns="18288" tIns="10973" bIns="10973" anchor="t">
            <a:noAutofit/>
          </a:bodyPr>
          <a:lstStyle/>
          <a:p>
            <a:pPr algn="l"/>
            <a:r>
              <a:rPr sz="2000" b="0" i="0">
                <a:solidFill>
                  <a:srgbClr val="0F6CBD"/>
                </a:solidFill>
                <a:latin typeface="Calibri"/>
              </a:rPr>
              <a:t>A quick, live look at how AI works</a:t>
            </a:r>
          </a:p>
        </p:txBody>
      </p:sp>
      <p:sp>
        <p:nvSpPr>
          <p:cNvPr id="5" name="Beginner · three-minute demo"/>
          <p:cNvSpPr/>
          <p:nvPr/>
        </p:nvSpPr>
        <p:spPr>
          <a:xfrm>
            <a:off x="502920" y="3063240"/>
            <a:ext cx="3657600" cy="402336"/>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400" b="1" i="0">
                <a:solidFill>
                  <a:srgbClr val="16202F"/>
                </a:solidFill>
                <a:latin typeface="Calibri"/>
              </a:rPr>
              <a:t>Beginner · three-minute demo</a:t>
            </a:r>
          </a:p>
        </p:txBody>
      </p:sp>
      <p:sp>
        <p:nvSpPr>
          <p:cNvPr id="6" name="bullets"/>
          <p:cNvSpPr txBox="1"/>
          <p:nvPr/>
        </p:nvSpPr>
        <p:spPr>
          <a:xfrm>
            <a:off x="502920" y="3749040"/>
            <a:ext cx="5760720" cy="2286000"/>
          </a:xfrm>
          <a:prstGeom prst="rect">
            <a:avLst/>
          </a:prstGeom>
          <a:noFill/>
        </p:spPr>
        <p:txBody>
          <a:bodyPr wrap="square" lIns="18288" rIns="18288" tIns="10973" bIns="10973" anchor="t">
            <a:noAutofit/>
          </a:bodyPr>
          <a:lstStyle/>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Built from a language model</a:t>
            </a:r>
          </a:p>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Voice generated in real time</a:t>
            </a:r>
          </a:p>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Here to explain AI, simply</a:t>
            </a:r>
          </a:p>
        </p:txBody>
      </p:sp>
      <p:sp>
        <p:nvSpPr>
          <p:cNvPr id="7" name="visual panel"/>
          <p:cNvSpPr/>
          <p:nvPr/>
        </p:nvSpPr>
        <p:spPr>
          <a:xfrm>
            <a:off x="6720840" y="1097280"/>
            <a:ext cx="4965192" cy="4937760"/>
          </a:xfrm>
          <a:prstGeom prst="roundRect">
            <a:avLst>
              <a:gd name="adj" fmla="val 3333"/>
            </a:avLst>
          </a:prstGeom>
          <a:solidFill>
            <a:srgbClr val="F7F9FC"/>
          </a:solidFill>
          <a:ln w="15875">
            <a:solidFill>
              <a:srgbClr val="E2E8F2"/>
            </a:solidFill>
          </a:ln>
          <a:effectLst/>
        </p:spPr>
        <p:txBody>
          <a:bodyPr rtlCol="0" anchor="ctr"/>
          <a:lstStyle/>
          <a:p>
            <a:pPr algn="ctr"/>
          </a:p>
        </p:txBody>
      </p:sp>
      <p:sp>
        <p:nvSpPr>
          <p:cNvPr id="8" name="avatar"/>
          <p:cNvSpPr/>
          <p:nvPr/>
        </p:nvSpPr>
        <p:spPr>
          <a:xfrm>
            <a:off x="7315200" y="1691640"/>
            <a:ext cx="2560320" cy="2560320"/>
          </a:xfrm>
          <a:prstGeom prst="ellipse">
            <a:avLst/>
          </a:prstGeom>
          <a:solidFill>
            <a:srgbClr val="EAF3FC"/>
          </a:solidFill>
          <a:ln w="15875">
            <a:solidFill>
              <a:srgbClr val="8DBBE6"/>
            </a:solidFill>
          </a:ln>
          <a:effectLst/>
        </p:spPr>
        <p:txBody>
          <a:bodyPr rtlCol="0" anchor="ctr"/>
          <a:lstStyle/>
          <a:p>
            <a:pPr algn="ctr"/>
          </a:p>
        </p:txBody>
      </p:sp>
      <p:sp>
        <p:nvSpPr>
          <p:cNvPr id="9" name="Oval 8"/>
          <p:cNvSpPr/>
          <p:nvPr/>
        </p:nvSpPr>
        <p:spPr>
          <a:xfrm>
            <a:off x="8183880" y="2103120"/>
            <a:ext cx="822960" cy="822960"/>
          </a:xfrm>
          <a:prstGeom prst="ellipse">
            <a:avLst/>
          </a:prstGeom>
          <a:solidFill>
            <a:srgbClr val="0F6CBD"/>
          </a:solidFill>
          <a:ln w="15875">
            <a:solidFill>
              <a:srgbClr val="B8C4D6"/>
            </a:solidFill>
          </a:ln>
          <a:effectLst/>
        </p:spPr>
        <p:txBody>
          <a:bodyPr rtlCol="0" anchor="ctr"/>
          <a:lstStyle/>
          <a:p>
            <a:pPr algn="ctr"/>
          </a:p>
        </p:txBody>
      </p:sp>
      <p:sp>
        <p:nvSpPr>
          <p:cNvPr id="10" name="Round Same Side Corner Rectangle 9"/>
          <p:cNvSpPr/>
          <p:nvPr/>
        </p:nvSpPr>
        <p:spPr>
          <a:xfrm>
            <a:off x="7818120" y="3063240"/>
            <a:ext cx="1554480" cy="960120"/>
          </a:xfrm>
          <a:prstGeom prst="round2SameRect">
            <a:avLst/>
          </a:prstGeom>
          <a:solidFill>
            <a:srgbClr val="0F6CBD"/>
          </a:solidFill>
          <a:ln w="15875">
            <a:solidFill>
              <a:srgbClr val="B8C4D6"/>
            </a:solidFill>
          </a:ln>
          <a:effectLst/>
        </p:spPr>
        <p:txBody>
          <a:bodyPr rtlCol="0" anchor="ctr"/>
          <a:lstStyle/>
          <a:p>
            <a:pPr algn="ctr"/>
          </a:p>
        </p:txBody>
      </p:sp>
      <p:sp>
        <p:nvSpPr>
          <p:cNvPr id="11" name="chat bubble"/>
          <p:cNvSpPr/>
          <p:nvPr/>
        </p:nvSpPr>
        <p:spPr>
          <a:xfrm>
            <a:off x="10012680" y="1600200"/>
            <a:ext cx="1417320" cy="914400"/>
          </a:xfrm>
          <a:prstGeom prst="wedgeEllipseCallout">
            <a:avLst/>
          </a:prstGeom>
          <a:solidFill>
            <a:srgbClr val="FFFFFF"/>
          </a:solidFill>
          <a:ln w="19050">
            <a:solidFill>
              <a:srgbClr val="8DBBE6"/>
            </a:solidFill>
          </a:ln>
          <a:effectLst/>
        </p:spPr>
        <p:txBody>
          <a:bodyPr rtlCol="0" anchor="ctr"/>
          <a:lstStyle/>
          <a:p>
            <a:pPr algn="ctr"/>
          </a:p>
        </p:txBody>
      </p:sp>
      <p:sp>
        <p:nvSpPr>
          <p:cNvPr id="12" name="Freeform 11"/>
          <p:cNvSpPr/>
          <p:nvPr/>
        </p:nvSpPr>
        <p:spPr>
          <a:xfrm>
            <a:off x="10367010" y="1941050"/>
            <a:ext cx="708660" cy="196124"/>
          </a:xfrm>
          <a:custGeom>
            <a:avLst/>
            <a:gdLst/>
            <a:ahLst/>
            <a:cxnLst/>
            <a:rect l="l" t="t" r="r" b="b"/>
            <a:pathLst>
              <a:path w="708660" h="196124">
                <a:moveTo>
                  <a:pt x="0" y="98062"/>
                </a:moveTo>
                <a:lnTo>
                  <a:pt x="25309" y="141704"/>
                </a:lnTo>
                <a:lnTo>
                  <a:pt x="50619" y="176702"/>
                </a:lnTo>
                <a:lnTo>
                  <a:pt x="75928" y="196124"/>
                </a:lnTo>
                <a:lnTo>
                  <a:pt x="101237" y="196124"/>
                </a:lnTo>
                <a:lnTo>
                  <a:pt x="126546" y="176702"/>
                </a:lnTo>
                <a:lnTo>
                  <a:pt x="151856" y="141704"/>
                </a:lnTo>
                <a:lnTo>
                  <a:pt x="177165" y="98062"/>
                </a:lnTo>
                <a:lnTo>
                  <a:pt x="202474" y="54420"/>
                </a:lnTo>
                <a:lnTo>
                  <a:pt x="227784" y="19422"/>
                </a:lnTo>
                <a:lnTo>
                  <a:pt x="253093" y="0"/>
                </a:lnTo>
                <a:lnTo>
                  <a:pt x="278402" y="0"/>
                </a:lnTo>
                <a:lnTo>
                  <a:pt x="303711" y="19422"/>
                </a:lnTo>
                <a:lnTo>
                  <a:pt x="329021" y="54420"/>
                </a:lnTo>
                <a:lnTo>
                  <a:pt x="354330" y="98062"/>
                </a:lnTo>
                <a:lnTo>
                  <a:pt x="379639" y="141704"/>
                </a:lnTo>
                <a:lnTo>
                  <a:pt x="404949" y="176702"/>
                </a:lnTo>
                <a:lnTo>
                  <a:pt x="430258" y="196124"/>
                </a:lnTo>
                <a:lnTo>
                  <a:pt x="455567" y="196124"/>
                </a:lnTo>
                <a:lnTo>
                  <a:pt x="480876" y="176702"/>
                </a:lnTo>
                <a:lnTo>
                  <a:pt x="506186" y="141704"/>
                </a:lnTo>
                <a:lnTo>
                  <a:pt x="531495" y="98062"/>
                </a:lnTo>
                <a:lnTo>
                  <a:pt x="556804" y="54420"/>
                </a:lnTo>
                <a:lnTo>
                  <a:pt x="582114" y="19422"/>
                </a:lnTo>
                <a:lnTo>
                  <a:pt x="607423" y="0"/>
                </a:lnTo>
                <a:lnTo>
                  <a:pt x="632732" y="0"/>
                </a:lnTo>
                <a:lnTo>
                  <a:pt x="658041" y="19422"/>
                </a:lnTo>
                <a:lnTo>
                  <a:pt x="683351" y="54420"/>
                </a:lnTo>
                <a:lnTo>
                  <a:pt x="708660" y="98062"/>
                </a:lnTo>
              </a:path>
            </a:pathLst>
          </a:custGeom>
          <a:noFill/>
          <a:ln w="25400">
            <a:solidFill>
              <a:srgbClr val="0F6CBD"/>
            </a:solidFill>
          </a:ln>
          <a:effectLst/>
        </p:spPr>
        <p:txBody>
          <a:bodyPr rtlCol="0" anchor="ctr"/>
          <a:lstStyle/>
          <a:p>
            <a:pPr algn="ctr"/>
          </a:p>
        </p:txBody>
      </p:sp>
      <p:sp>
        <p:nvSpPr>
          <p:cNvPr id="13" name="language model"/>
          <p:cNvSpPr/>
          <p:nvPr/>
        </p:nvSpPr>
        <p:spPr>
          <a:xfrm>
            <a:off x="6995160" y="4709160"/>
            <a:ext cx="1417320" cy="411480"/>
          </a:xfrm>
          <a:prstGeom prst="roundRect">
            <a:avLst>
              <a:gd name="adj" fmla="val 50000"/>
            </a:avLst>
          </a:prstGeom>
          <a:solidFill>
            <a:srgbClr val="EAF3FC"/>
          </a:solidFill>
          <a:ln w="15875">
            <a:solidFill>
              <a:srgbClr val="8DBBE6"/>
            </a:solidFill>
          </a:ln>
          <a:effectLst/>
        </p:spPr>
        <p:txBody>
          <a:bodyPr rtlCol="0" anchor="ctr" wrap="square" lIns="45720" rIns="45720" tIns="27432" bIns="27432">
            <a:noAutofit/>
          </a:bodyPr>
          <a:lstStyle/>
          <a:p>
            <a:pPr algn="ctr"/>
            <a:r>
              <a:rPr sz="1300" b="1" i="0">
                <a:solidFill>
                  <a:srgbClr val="16202F"/>
                </a:solidFill>
                <a:latin typeface="Calibri"/>
              </a:rPr>
              <a:t>language model</a:t>
            </a:r>
          </a:p>
        </p:txBody>
      </p:sp>
      <p:sp>
        <p:nvSpPr>
          <p:cNvPr id="14" name="realtime voice"/>
          <p:cNvSpPr/>
          <p:nvPr/>
        </p:nvSpPr>
        <p:spPr>
          <a:xfrm>
            <a:off x="8503920" y="4709160"/>
            <a:ext cx="1417320" cy="411480"/>
          </a:xfrm>
          <a:prstGeom prst="roundRect">
            <a:avLst>
              <a:gd name="adj" fmla="val 50000"/>
            </a:avLst>
          </a:prstGeom>
          <a:solidFill>
            <a:srgbClr val="EAF3FC"/>
          </a:solidFill>
          <a:ln w="15875">
            <a:solidFill>
              <a:srgbClr val="8DBBE6"/>
            </a:solidFill>
          </a:ln>
          <a:effectLst/>
        </p:spPr>
        <p:txBody>
          <a:bodyPr rtlCol="0" anchor="ctr" wrap="square" lIns="45720" rIns="45720" tIns="27432" bIns="27432">
            <a:noAutofit/>
          </a:bodyPr>
          <a:lstStyle/>
          <a:p>
            <a:pPr algn="ctr"/>
            <a:r>
              <a:rPr sz="1300" b="1" i="0">
                <a:solidFill>
                  <a:srgbClr val="16202F"/>
                </a:solidFill>
                <a:latin typeface="Calibri"/>
              </a:rPr>
              <a:t>realtime voice</a:t>
            </a:r>
          </a:p>
        </p:txBody>
      </p:sp>
      <p:sp>
        <p:nvSpPr>
          <p:cNvPr id="15" name="avatar"/>
          <p:cNvSpPr/>
          <p:nvPr/>
        </p:nvSpPr>
        <p:spPr>
          <a:xfrm>
            <a:off x="10012680" y="4709160"/>
            <a:ext cx="1417320" cy="411480"/>
          </a:xfrm>
          <a:prstGeom prst="roundRect">
            <a:avLst>
              <a:gd name="adj" fmla="val 50000"/>
            </a:avLst>
          </a:prstGeom>
          <a:solidFill>
            <a:srgbClr val="0F6CBD"/>
          </a:solidFill>
          <a:ln w="15875">
            <a:solidFill>
              <a:srgbClr val="0F6CBD"/>
            </a:solidFill>
          </a:ln>
          <a:effectLst/>
        </p:spPr>
        <p:txBody>
          <a:bodyPr rtlCol="0" anchor="ctr" wrap="square" lIns="45720" rIns="45720" tIns="27432" bIns="27432">
            <a:noAutofit/>
          </a:bodyPr>
          <a:lstStyle/>
          <a:p>
            <a:pPr algn="ctr"/>
            <a:r>
              <a:rPr sz="1300" b="1" i="0">
                <a:solidFill>
                  <a:srgbClr val="FFFFFF"/>
                </a:solidFill>
                <a:latin typeface="Calibri"/>
              </a:rPr>
              <a:t>avatar</a:t>
            </a:r>
          </a:p>
        </p:txBody>
      </p:sp>
      <p:sp>
        <p:nvSpPr>
          <p:cNvPr id="16" name="Freeform 15"/>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7"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Beginner demo</a:t>
            </a:r>
          </a:p>
        </p:txBody>
      </p:sp>
      <p:sp>
        <p:nvSpPr>
          <p:cNvPr id="18"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What is a model?</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DEMO · MODELS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Trained on huge amounts of text</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Learns patterns, not facts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Predicts the next likely word</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Training text"/>
          <p:cNvSpPr/>
          <p:nvPr/>
        </p:nvSpPr>
        <p:spPr>
          <a:xfrm>
            <a:off x="5212080" y="2788920"/>
            <a:ext cx="1600200" cy="1097280"/>
          </a:xfrm>
          <a:prstGeom prst="roundRect">
            <a:avLst>
              <a:gd name="adj" fmla="val 10000"/>
            </a:avLst>
          </a:prstGeom>
          <a:solidFill>
            <a:srgbClr val="FFFFFF"/>
          </a:solidFill>
          <a:ln w="15875">
            <a:solidFill>
              <a:srgbClr val="B8C4D6"/>
            </a:solidFill>
          </a:ln>
          <a:effectLst/>
        </p:spPr>
        <p:txBody>
          <a:bodyPr rtlCol="0" anchor="ctr" wrap="square" lIns="73152" rIns="73152" tIns="43891" bIns="43891">
            <a:noAutofit/>
          </a:bodyPr>
          <a:lstStyle/>
          <a:p>
            <a:pPr algn="ctr"/>
            <a:r>
              <a:rPr sz="1600" b="1" i="0">
                <a:solidFill>
                  <a:srgbClr val="16202F"/>
                </a:solidFill>
                <a:latin typeface="Calibri"/>
              </a:rPr>
              <a:t>Training</a:t>
            </a:r>
          </a:p>
          <a:p>
            <a:pPr algn="ctr"/>
            <a:r>
              <a:rPr sz="1600" b="1" i="0">
                <a:solidFill>
                  <a:srgbClr val="16202F"/>
                </a:solidFill>
                <a:latin typeface="Calibri"/>
              </a:rPr>
              <a:t>text</a:t>
            </a:r>
          </a:p>
        </p:txBody>
      </p:sp>
      <p:sp>
        <p:nvSpPr>
          <p:cNvPr id="7" name="funnel"/>
          <p:cNvSpPr/>
          <p:nvPr/>
        </p:nvSpPr>
        <p:spPr>
          <a:xfrm rot="5400000">
            <a:off x="6903720" y="2697480"/>
            <a:ext cx="1280160" cy="914400"/>
          </a:xfrm>
          <a:prstGeom prst="triangle">
            <a:avLst/>
          </a:prstGeom>
          <a:solidFill>
            <a:srgbClr val="EAF3FC"/>
          </a:solidFill>
          <a:ln w="15875">
            <a:solidFill>
              <a:srgbClr val="8DBBE6"/>
            </a:solidFill>
          </a:ln>
          <a:effectLst/>
        </p:spPr>
        <p:txBody>
          <a:bodyPr rtlCol="0" anchor="ctr"/>
          <a:lstStyle/>
          <a:p>
            <a:pPr algn="ctr"/>
          </a:p>
        </p:txBody>
      </p:sp>
      <p:sp>
        <p:nvSpPr>
          <p:cNvPr id="8" name="Model"/>
          <p:cNvSpPr/>
          <p:nvPr/>
        </p:nvSpPr>
        <p:spPr>
          <a:xfrm>
            <a:off x="8275320" y="2606040"/>
            <a:ext cx="1463040" cy="1463040"/>
          </a:xfrm>
          <a:prstGeom prst="ellipse">
            <a:avLst/>
          </a:prstGeom>
          <a:solidFill>
            <a:srgbClr val="0F6CBD"/>
          </a:solidFill>
          <a:ln w="15875">
            <a:solidFill>
              <a:srgbClr val="0F6CBD"/>
            </a:solidFill>
          </a:ln>
          <a:effectLst/>
        </p:spPr>
        <p:txBody>
          <a:bodyPr rtlCol="0" anchor="ctr" wrap="square" lIns="73152" rIns="73152" tIns="43891" bIns="43891">
            <a:noAutofit/>
          </a:bodyPr>
          <a:lstStyle/>
          <a:p>
            <a:pPr algn="ctr"/>
            <a:r>
              <a:rPr sz="1700" b="1" i="0">
                <a:solidFill>
                  <a:srgbClr val="FFFFFF"/>
                </a:solidFill>
                <a:latin typeface="Calibri"/>
              </a:rPr>
              <a:t>Model</a:t>
            </a:r>
          </a:p>
        </p:txBody>
      </p:sp>
      <p:cxnSp>
        <p:nvCxnSpPr>
          <p:cNvPr id="9" name="Connector 8"/>
          <p:cNvCxnSpPr/>
          <p:nvPr/>
        </p:nvCxnSpPr>
        <p:spPr>
          <a:xfrm>
            <a:off x="9784080" y="3337560"/>
            <a:ext cx="274320" cy="0"/>
          </a:xfrm>
          <a:prstGeom prst="line">
            <a:avLst/>
          </a:prstGeom>
          <a:ln w="28575">
            <a:solidFill>
              <a:srgbClr val="0F6CBD"/>
            </a:solidFill>
            <a:tailEnd type="triangle" w="med" len="med"/>
          </a:ln>
        </p:spPr>
      </p:cxnSp>
      <p:sp>
        <p:nvSpPr>
          <p:cNvPr id="10" name="Prediction"/>
          <p:cNvSpPr/>
          <p:nvPr/>
        </p:nvSpPr>
        <p:spPr>
          <a:xfrm>
            <a:off x="10104120" y="2788920"/>
            <a:ext cx="1371600" cy="1097280"/>
          </a:xfrm>
          <a:prstGeom prst="roundRect">
            <a:avLst>
              <a:gd name="adj" fmla="val 10000"/>
            </a:avLst>
          </a:prstGeom>
          <a:solidFill>
            <a:srgbClr val="FFFFFF"/>
          </a:solidFill>
          <a:ln w="15875">
            <a:solidFill>
              <a:srgbClr val="B8C4D6"/>
            </a:solidFill>
          </a:ln>
          <a:effectLst/>
        </p:spPr>
        <p:txBody>
          <a:bodyPr rtlCol="0" anchor="ctr" wrap="square" lIns="73152" rIns="73152" tIns="43891" bIns="43891">
            <a:noAutofit/>
          </a:bodyPr>
          <a:lstStyle/>
          <a:p>
            <a:pPr algn="ctr"/>
            <a:r>
              <a:rPr sz="1500" b="1" i="0">
                <a:solidFill>
                  <a:srgbClr val="16202F"/>
                </a:solidFill>
                <a:latin typeface="Calibri"/>
              </a:rPr>
              <a:t>Prediction</a:t>
            </a:r>
          </a:p>
          <a:p>
            <a:pPr algn="ctr"/>
            <a:r>
              <a:rPr sz="1200" b="0" i="0">
                <a:solidFill>
                  <a:srgbClr val="53617A"/>
                </a:solidFill>
                <a:latin typeface="Calibri"/>
              </a:rPr>
              <a:t>next likely word</a:t>
            </a:r>
          </a:p>
        </p:txBody>
      </p:sp>
      <p:sp>
        <p:nvSpPr>
          <p:cNvPr id="11" name="Patterns, not facts: it can sound sure and still be wrong"/>
          <p:cNvSpPr/>
          <p:nvPr/>
        </p:nvSpPr>
        <p:spPr>
          <a:xfrm>
            <a:off x="5166360" y="4846320"/>
            <a:ext cx="6245352" cy="475488"/>
          </a:xfrm>
          <a:prstGeom prst="roundRect">
            <a:avLst>
              <a:gd name="adj" fmla="val 1923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Patterns, not facts: it can sound sure and still be wrong</a:t>
            </a:r>
          </a:p>
        </p:txBody>
      </p:sp>
      <p:sp>
        <p:nvSpPr>
          <p:cNvPr id="12" name="Freeform 11"/>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3"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Beginner demo</a:t>
            </a:r>
          </a:p>
        </p:txBody>
      </p:sp>
      <p:sp>
        <p:nvSpPr>
          <p:cNvPr id="14"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What is an agent?</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DEMO · AGENTS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A model that can also act</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Uses tools: search, calendars, files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Works in a loop until done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Think"/>
          <p:cNvSpPr/>
          <p:nvPr/>
        </p:nvSpPr>
        <p:spPr>
          <a:xfrm>
            <a:off x="7630668" y="2034540"/>
            <a:ext cx="1325880" cy="1325880"/>
          </a:xfrm>
          <a:prstGeom prst="ellipse">
            <a:avLst/>
          </a:prstGeom>
          <a:solidFill>
            <a:srgbClr val="0F6CBD"/>
          </a:solidFill>
          <a:ln w="15875">
            <a:solidFill>
              <a:srgbClr val="0F6CBD"/>
            </a:solidFill>
          </a:ln>
          <a:effectLst/>
        </p:spPr>
        <p:txBody>
          <a:bodyPr rtlCol="0" anchor="ctr" wrap="square" lIns="45720" rIns="45720" tIns="27432" bIns="27432">
            <a:noAutofit/>
          </a:bodyPr>
          <a:lstStyle/>
          <a:p>
            <a:pPr algn="ctr"/>
            <a:r>
              <a:rPr sz="1700" b="1" i="0">
                <a:solidFill>
                  <a:srgbClr val="FFFFFF"/>
                </a:solidFill>
                <a:latin typeface="Calibri"/>
              </a:rPr>
              <a:t>Think</a:t>
            </a:r>
          </a:p>
        </p:txBody>
      </p:sp>
      <p:sp>
        <p:nvSpPr>
          <p:cNvPr id="7" name="Act"/>
          <p:cNvSpPr/>
          <p:nvPr/>
        </p:nvSpPr>
        <p:spPr>
          <a:xfrm>
            <a:off x="9505188" y="4320540"/>
            <a:ext cx="1325880" cy="1325880"/>
          </a:xfrm>
          <a:prstGeom prst="ellipse">
            <a:avLst/>
          </a:prstGeom>
          <a:solidFill>
            <a:srgbClr val="EAF3FC"/>
          </a:solidFill>
          <a:ln w="15875">
            <a:solidFill>
              <a:srgbClr val="8DBBE6"/>
            </a:solidFill>
          </a:ln>
          <a:effectLst/>
        </p:spPr>
        <p:txBody>
          <a:bodyPr rtlCol="0" anchor="ctr" wrap="square" lIns="45720" rIns="45720" tIns="27432" bIns="27432">
            <a:noAutofit/>
          </a:bodyPr>
          <a:lstStyle/>
          <a:p>
            <a:pPr algn="ctr"/>
            <a:r>
              <a:rPr sz="1700" b="1" i="0">
                <a:solidFill>
                  <a:srgbClr val="16202F"/>
                </a:solidFill>
                <a:latin typeface="Calibri"/>
              </a:rPr>
              <a:t>Act</a:t>
            </a:r>
          </a:p>
          <a:p>
            <a:pPr algn="ctr"/>
            <a:r>
              <a:rPr sz="1300" b="0" i="0">
                <a:solidFill>
                  <a:srgbClr val="53617A"/>
                </a:solidFill>
                <a:latin typeface="Calibri"/>
              </a:rPr>
              <a:t>call a tool</a:t>
            </a:r>
          </a:p>
        </p:txBody>
      </p:sp>
      <p:sp>
        <p:nvSpPr>
          <p:cNvPr id="8" name="Observe"/>
          <p:cNvSpPr/>
          <p:nvPr/>
        </p:nvSpPr>
        <p:spPr>
          <a:xfrm>
            <a:off x="5756148" y="4320540"/>
            <a:ext cx="1325880" cy="1325880"/>
          </a:xfrm>
          <a:prstGeom prst="ellipse">
            <a:avLst/>
          </a:prstGeom>
          <a:solidFill>
            <a:srgbClr val="FFFFFF"/>
          </a:solidFill>
          <a:ln w="15875">
            <a:solidFill>
              <a:srgbClr val="B8C4D6"/>
            </a:solidFill>
          </a:ln>
          <a:effectLst/>
        </p:spPr>
        <p:txBody>
          <a:bodyPr rtlCol="0" anchor="ctr" wrap="square" lIns="45720" rIns="45720" tIns="27432" bIns="27432">
            <a:noAutofit/>
          </a:bodyPr>
          <a:lstStyle/>
          <a:p>
            <a:pPr algn="ctr"/>
            <a:r>
              <a:rPr sz="1700" b="1" i="0">
                <a:solidFill>
                  <a:srgbClr val="16202F"/>
                </a:solidFill>
                <a:latin typeface="Calibri"/>
              </a:rPr>
              <a:t>Observe</a:t>
            </a:r>
          </a:p>
          <a:p>
            <a:pPr algn="ctr"/>
            <a:r>
              <a:rPr sz="1300" b="0" i="0">
                <a:solidFill>
                  <a:srgbClr val="53617A"/>
                </a:solidFill>
                <a:latin typeface="Calibri"/>
              </a:rPr>
              <a:t>look at result</a:t>
            </a:r>
          </a:p>
        </p:txBody>
      </p:sp>
      <p:cxnSp>
        <p:nvCxnSpPr>
          <p:cNvPr id="9" name="Connector 8"/>
          <p:cNvCxnSpPr/>
          <p:nvPr/>
        </p:nvCxnSpPr>
        <p:spPr>
          <a:xfrm>
            <a:off x="8748753" y="3252535"/>
            <a:ext cx="941038" cy="1147607"/>
          </a:xfrm>
          <a:prstGeom prst="line">
            <a:avLst/>
          </a:prstGeom>
          <a:ln w="28575">
            <a:solidFill>
              <a:srgbClr val="0F6CBD"/>
            </a:solidFill>
            <a:tailEnd type="triangle" w="med" len="med"/>
          </a:ln>
        </p:spPr>
      </p:cxnSp>
      <p:cxnSp>
        <p:nvCxnSpPr>
          <p:cNvPr id="10" name="Connector 9"/>
          <p:cNvCxnSpPr/>
          <p:nvPr/>
        </p:nvCxnSpPr>
        <p:spPr>
          <a:xfrm flipH="1">
            <a:off x="7173468" y="4983480"/>
            <a:ext cx="2276856" cy="0"/>
          </a:xfrm>
          <a:prstGeom prst="line">
            <a:avLst/>
          </a:prstGeom>
          <a:ln w="28575">
            <a:solidFill>
              <a:srgbClr val="0F6CBD"/>
            </a:solidFill>
            <a:tailEnd type="triangle" w="med" len="med"/>
          </a:ln>
        </p:spPr>
      </p:cxnSp>
      <p:cxnSp>
        <p:nvCxnSpPr>
          <p:cNvPr id="11" name="Connector 10"/>
          <p:cNvCxnSpPr/>
          <p:nvPr/>
        </p:nvCxnSpPr>
        <p:spPr>
          <a:xfrm flipV="1">
            <a:off x="6874233" y="3280818"/>
            <a:ext cx="941038" cy="1147607"/>
          </a:xfrm>
          <a:prstGeom prst="line">
            <a:avLst/>
          </a:prstGeom>
          <a:ln w="28575">
            <a:solidFill>
              <a:srgbClr val="0F6CBD"/>
            </a:solidFill>
            <a:tailEnd type="triangle" w="med" len="med"/>
          </a:ln>
        </p:spPr>
      </p:cxnSp>
      <p:sp>
        <p:nvSpPr>
          <p:cNvPr id="12" name="TextBox 11"/>
          <p:cNvSpPr txBox="1"/>
          <p:nvPr/>
        </p:nvSpPr>
        <p:spPr>
          <a:xfrm>
            <a:off x="7287768" y="4069080"/>
            <a:ext cx="2011680" cy="365760"/>
          </a:xfrm>
          <a:prstGeom prst="rect">
            <a:avLst/>
          </a:prstGeom>
          <a:noFill/>
        </p:spPr>
        <p:txBody>
          <a:bodyPr wrap="square" lIns="18288" rIns="18288" tIns="10973" bIns="10973" anchor="t">
            <a:noAutofit/>
          </a:bodyPr>
          <a:lstStyle/>
          <a:p>
            <a:pPr algn="ctr"/>
            <a:r>
              <a:rPr sz="1300" b="0" i="1">
                <a:solidFill>
                  <a:srgbClr val="53617A"/>
                </a:solidFill>
                <a:latin typeface="Calibri"/>
              </a:rPr>
              <a:t>repeat until done</a:t>
            </a:r>
          </a:p>
        </p:txBody>
      </p:sp>
      <p:sp>
        <p:nvSpPr>
          <p:cNvPr id="13" name="Freeform 12"/>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4"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Beginner demo</a:t>
            </a:r>
          </a:p>
        </p:txBody>
      </p:sp>
      <p:sp>
        <p:nvSpPr>
          <p:cNvPr id="15"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How my voice works</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DEMO · SPEECH</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Speech-to-text hears you</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Text-to-speech gives me a voice</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An avatar adds a moving face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Your voice"/>
          <p:cNvSpPr/>
          <p:nvPr/>
        </p:nvSpPr>
        <p:spPr>
          <a:xfrm>
            <a:off x="5212080" y="3017520"/>
            <a:ext cx="987552" cy="1051560"/>
          </a:xfrm>
          <a:prstGeom prst="roundRect">
            <a:avLst>
              <a:gd name="adj" fmla="val 11111"/>
            </a:avLst>
          </a:prstGeom>
          <a:solidFill>
            <a:srgbClr val="FFFFFF"/>
          </a:solidFill>
          <a:ln w="15875">
            <a:solidFill>
              <a:srgbClr val="B8C4D6"/>
            </a:solidFill>
          </a:ln>
          <a:effectLst/>
        </p:spPr>
        <p:txBody>
          <a:bodyPr rtlCol="0" anchor="ctr" wrap="square" lIns="73152" rIns="73152" tIns="43891" bIns="43891">
            <a:noAutofit/>
          </a:bodyPr>
          <a:lstStyle/>
          <a:p>
            <a:pPr algn="ctr"/>
            <a:r>
              <a:rPr sz="1500" b="1" i="0">
                <a:solidFill>
                  <a:srgbClr val="16202F"/>
                </a:solidFill>
                <a:latin typeface="Calibri"/>
              </a:rPr>
              <a:t>Your</a:t>
            </a:r>
          </a:p>
          <a:p>
            <a:pPr algn="ctr"/>
            <a:r>
              <a:rPr sz="1500" b="1" i="0">
                <a:solidFill>
                  <a:srgbClr val="16202F"/>
                </a:solidFill>
                <a:latin typeface="Calibri"/>
              </a:rPr>
              <a:t>voice</a:t>
            </a:r>
          </a:p>
        </p:txBody>
      </p:sp>
      <p:sp>
        <p:nvSpPr>
          <p:cNvPr id="7" name="Speech to text"/>
          <p:cNvSpPr/>
          <p:nvPr/>
        </p:nvSpPr>
        <p:spPr>
          <a:xfrm>
            <a:off x="6519672" y="3017520"/>
            <a:ext cx="987552" cy="1051560"/>
          </a:xfrm>
          <a:prstGeom prst="roundRect">
            <a:avLst>
              <a:gd name="adj" fmla="val 11111"/>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Speech</a:t>
            </a:r>
          </a:p>
          <a:p>
            <a:pPr algn="ctr"/>
            <a:r>
              <a:rPr sz="1500" b="1" i="0">
                <a:solidFill>
                  <a:srgbClr val="16202F"/>
                </a:solidFill>
                <a:latin typeface="Calibri"/>
              </a:rPr>
              <a:t>to text</a:t>
            </a:r>
          </a:p>
        </p:txBody>
      </p:sp>
      <p:sp>
        <p:nvSpPr>
          <p:cNvPr id="8" name="Model"/>
          <p:cNvSpPr/>
          <p:nvPr/>
        </p:nvSpPr>
        <p:spPr>
          <a:xfrm>
            <a:off x="7827264" y="3017520"/>
            <a:ext cx="987552" cy="1051560"/>
          </a:xfrm>
          <a:prstGeom prst="roundRect">
            <a:avLst>
              <a:gd name="adj" fmla="val 11111"/>
            </a:avLst>
          </a:prstGeom>
          <a:solidFill>
            <a:srgbClr val="0F6CBD"/>
          </a:solidFill>
          <a:ln w="15875">
            <a:solidFill>
              <a:srgbClr val="0F6CBD"/>
            </a:solidFill>
          </a:ln>
          <a:effectLst/>
        </p:spPr>
        <p:txBody>
          <a:bodyPr rtlCol="0" anchor="ctr" wrap="square" lIns="73152" rIns="73152" tIns="43891" bIns="43891">
            <a:noAutofit/>
          </a:bodyPr>
          <a:lstStyle/>
          <a:p>
            <a:pPr algn="ctr"/>
            <a:r>
              <a:rPr sz="1500" b="1" i="0">
                <a:solidFill>
                  <a:srgbClr val="FFFFFF"/>
                </a:solidFill>
                <a:latin typeface="Calibri"/>
              </a:rPr>
              <a:t>Model</a:t>
            </a:r>
          </a:p>
        </p:txBody>
      </p:sp>
      <p:sp>
        <p:nvSpPr>
          <p:cNvPr id="9" name="Text to speech"/>
          <p:cNvSpPr/>
          <p:nvPr/>
        </p:nvSpPr>
        <p:spPr>
          <a:xfrm>
            <a:off x="9134856" y="3017520"/>
            <a:ext cx="987552" cy="1051560"/>
          </a:xfrm>
          <a:prstGeom prst="roundRect">
            <a:avLst>
              <a:gd name="adj" fmla="val 11111"/>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Text to</a:t>
            </a:r>
          </a:p>
          <a:p>
            <a:pPr algn="ctr"/>
            <a:r>
              <a:rPr sz="1500" b="1" i="0">
                <a:solidFill>
                  <a:srgbClr val="16202F"/>
                </a:solidFill>
                <a:latin typeface="Calibri"/>
              </a:rPr>
              <a:t>speech</a:t>
            </a:r>
          </a:p>
        </p:txBody>
      </p:sp>
      <p:sp>
        <p:nvSpPr>
          <p:cNvPr id="10" name="Avatar"/>
          <p:cNvSpPr/>
          <p:nvPr/>
        </p:nvSpPr>
        <p:spPr>
          <a:xfrm>
            <a:off x="10442448" y="3017520"/>
            <a:ext cx="987552" cy="1051560"/>
          </a:xfrm>
          <a:prstGeom prst="roundRect">
            <a:avLst>
              <a:gd name="adj" fmla="val 11111"/>
            </a:avLst>
          </a:prstGeom>
          <a:solidFill>
            <a:srgbClr val="0F6CBD"/>
          </a:solidFill>
          <a:ln w="15875">
            <a:solidFill>
              <a:srgbClr val="0F6CBD"/>
            </a:solidFill>
          </a:ln>
          <a:effectLst/>
        </p:spPr>
        <p:txBody>
          <a:bodyPr rtlCol="0" anchor="ctr" wrap="square" lIns="73152" rIns="73152" tIns="43891" bIns="43891">
            <a:noAutofit/>
          </a:bodyPr>
          <a:lstStyle/>
          <a:p>
            <a:pPr algn="ctr"/>
            <a:r>
              <a:rPr sz="1500" b="1" i="0">
                <a:solidFill>
                  <a:srgbClr val="FFFFFF"/>
                </a:solidFill>
                <a:latin typeface="Calibri"/>
              </a:rPr>
              <a:t>Avatar</a:t>
            </a:r>
          </a:p>
        </p:txBody>
      </p:sp>
      <p:cxnSp>
        <p:nvCxnSpPr>
          <p:cNvPr id="11" name="Connector 10"/>
          <p:cNvCxnSpPr/>
          <p:nvPr/>
        </p:nvCxnSpPr>
        <p:spPr>
          <a:xfrm>
            <a:off x="6236208" y="3543300"/>
            <a:ext cx="246888" cy="0"/>
          </a:xfrm>
          <a:prstGeom prst="line">
            <a:avLst/>
          </a:prstGeom>
          <a:ln w="22225">
            <a:solidFill>
              <a:srgbClr val="0F6CBD"/>
            </a:solidFill>
            <a:tailEnd type="triangle" w="med" len="med"/>
          </a:ln>
        </p:spPr>
      </p:cxnSp>
      <p:cxnSp>
        <p:nvCxnSpPr>
          <p:cNvPr id="12" name="Connector 11"/>
          <p:cNvCxnSpPr/>
          <p:nvPr/>
        </p:nvCxnSpPr>
        <p:spPr>
          <a:xfrm>
            <a:off x="7543800" y="3543300"/>
            <a:ext cx="246888" cy="0"/>
          </a:xfrm>
          <a:prstGeom prst="line">
            <a:avLst/>
          </a:prstGeom>
          <a:ln w="22225">
            <a:solidFill>
              <a:srgbClr val="0F6CBD"/>
            </a:solidFill>
            <a:tailEnd type="triangle" w="med" len="med"/>
          </a:ln>
        </p:spPr>
      </p:cxnSp>
      <p:cxnSp>
        <p:nvCxnSpPr>
          <p:cNvPr id="13" name="Connector 12"/>
          <p:cNvCxnSpPr/>
          <p:nvPr/>
        </p:nvCxnSpPr>
        <p:spPr>
          <a:xfrm>
            <a:off x="8851392" y="3543300"/>
            <a:ext cx="246888" cy="0"/>
          </a:xfrm>
          <a:prstGeom prst="line">
            <a:avLst/>
          </a:prstGeom>
          <a:ln w="22225">
            <a:solidFill>
              <a:srgbClr val="0F6CBD"/>
            </a:solidFill>
            <a:tailEnd type="triangle" w="med" len="med"/>
          </a:ln>
        </p:spPr>
      </p:cxnSp>
      <p:cxnSp>
        <p:nvCxnSpPr>
          <p:cNvPr id="14" name="Connector 13"/>
          <p:cNvCxnSpPr/>
          <p:nvPr/>
        </p:nvCxnSpPr>
        <p:spPr>
          <a:xfrm>
            <a:off x="10158984" y="3543300"/>
            <a:ext cx="246888" cy="0"/>
          </a:xfrm>
          <a:prstGeom prst="line">
            <a:avLst/>
          </a:prstGeom>
          <a:ln w="22225">
            <a:solidFill>
              <a:srgbClr val="0F6CBD"/>
            </a:solidFill>
            <a:tailEnd type="triangle" w="med" len="med"/>
          </a:ln>
        </p:spPr>
      </p:cxnSp>
      <p:sp>
        <p:nvSpPr>
          <p:cNvPr id="15" name="Fast enough for live back-and-forth = realtime voice"/>
          <p:cNvSpPr/>
          <p:nvPr/>
        </p:nvSpPr>
        <p:spPr>
          <a:xfrm>
            <a:off x="5166360" y="4754880"/>
            <a:ext cx="6245352" cy="475488"/>
          </a:xfrm>
          <a:prstGeom prst="roundRect">
            <a:avLst>
              <a:gd name="adj" fmla="val 1923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Fast enough for live back-and-forth = realtime voice</a:t>
            </a:r>
          </a:p>
        </p:txBody>
      </p:sp>
      <p:sp>
        <p:nvSpPr>
          <p:cNvPr id="16" name="Freeform 15"/>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7"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Beginner demo</a:t>
            </a:r>
          </a:p>
        </p:txBody>
      </p:sp>
      <p:sp>
        <p:nvSpPr>
          <p:cNvPr id="18"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Thanks for watching — go deeper</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BEGINNER DEMO · GO DEEPER</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That was the quick version</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Full beginner deck: twelve topics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Ask us anything, anytime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You are here"/>
          <p:cNvSpPr/>
          <p:nvPr/>
        </p:nvSpPr>
        <p:spPr>
          <a:xfrm>
            <a:off x="5303520" y="2788920"/>
            <a:ext cx="2103120" cy="1280160"/>
          </a:xfrm>
          <a:prstGeom prst="roundRect">
            <a:avLst>
              <a:gd name="adj" fmla="val 8571"/>
            </a:avLst>
          </a:prstGeom>
          <a:solidFill>
            <a:srgbClr val="FFFFFF"/>
          </a:solidFill>
          <a:ln w="15875">
            <a:solidFill>
              <a:srgbClr val="B8C4D6"/>
            </a:solidFill>
          </a:ln>
          <a:effectLst/>
        </p:spPr>
        <p:txBody>
          <a:bodyPr rtlCol="0" anchor="ctr" wrap="square" lIns="73152" rIns="73152" tIns="43891" bIns="43891">
            <a:noAutofit/>
          </a:bodyPr>
          <a:lstStyle/>
          <a:p>
            <a:pPr algn="ctr"/>
            <a:r>
              <a:rPr sz="1700" b="1" i="0">
                <a:solidFill>
                  <a:srgbClr val="16202F"/>
                </a:solidFill>
                <a:latin typeface="Calibri"/>
              </a:rPr>
              <a:t>You are here</a:t>
            </a:r>
          </a:p>
          <a:p>
            <a:pPr algn="ctr"/>
            <a:r>
              <a:rPr sz="1300" b="0" i="0">
                <a:solidFill>
                  <a:srgbClr val="53617A"/>
                </a:solidFill>
                <a:latin typeface="Calibri"/>
              </a:rPr>
              <a:t>3-minute demo</a:t>
            </a:r>
          </a:p>
        </p:txBody>
      </p:sp>
      <p:sp>
        <p:nvSpPr>
          <p:cNvPr id="7" name="next arrow"/>
          <p:cNvSpPr/>
          <p:nvPr/>
        </p:nvSpPr>
        <p:spPr>
          <a:xfrm>
            <a:off x="7635240" y="3090672"/>
            <a:ext cx="914400" cy="685800"/>
          </a:xfrm>
          <a:prstGeom prst="rightArrow">
            <a:avLst/>
          </a:prstGeom>
          <a:solidFill>
            <a:srgbClr val="0F6CBD"/>
          </a:solidFill>
          <a:ln w="15875">
            <a:solidFill>
              <a:srgbClr val="B8C4D6"/>
            </a:solidFill>
          </a:ln>
          <a:effectLst/>
        </p:spPr>
        <p:txBody>
          <a:bodyPr rtlCol="0" anchor="ctr"/>
          <a:lstStyle/>
          <a:p>
            <a:pPr algn="ctr"/>
          </a:p>
        </p:txBody>
      </p:sp>
      <p:sp>
        <p:nvSpPr>
          <p:cNvPr id="8" name="Full AI enablement series"/>
          <p:cNvSpPr/>
          <p:nvPr/>
        </p:nvSpPr>
        <p:spPr>
          <a:xfrm>
            <a:off x="8778240" y="2286000"/>
            <a:ext cx="2697480" cy="2286000"/>
          </a:xfrm>
          <a:prstGeom prst="roundRect">
            <a:avLst>
              <a:gd name="adj" fmla="val 4800"/>
            </a:avLst>
          </a:prstGeom>
          <a:solidFill>
            <a:srgbClr val="0F6CBD"/>
          </a:solidFill>
          <a:ln w="15875">
            <a:solidFill>
              <a:srgbClr val="0F6CBD"/>
            </a:solidFill>
          </a:ln>
          <a:effectLst/>
        </p:spPr>
        <p:txBody>
          <a:bodyPr rtlCol="0" anchor="ctr" wrap="square" lIns="73152" rIns="73152" tIns="43891" bIns="43891">
            <a:noAutofit/>
          </a:bodyPr>
          <a:lstStyle/>
          <a:p>
            <a:pPr algn="ctr"/>
            <a:r>
              <a:rPr sz="1900" b="1" i="0">
                <a:solidFill>
                  <a:srgbClr val="FFFFFF"/>
                </a:solidFill>
                <a:latin typeface="Calibri"/>
              </a:rPr>
              <a:t>Full AI enablement series</a:t>
            </a:r>
          </a:p>
          <a:p>
            <a:pPr algn="ctr"/>
            <a:r>
              <a:rPr sz="1300" b="0" i="0">
                <a:solidFill>
                  <a:srgbClr val="FFFFFF"/>
                </a:solidFill>
                <a:latin typeface="Calibri"/>
              </a:rPr>
              <a:t>3 decks:</a:t>
            </a:r>
          </a:p>
          <a:p>
            <a:pPr algn="ctr"/>
            <a:r>
              <a:rPr sz="1300" b="0" i="0">
                <a:solidFill>
                  <a:srgbClr val="FFFFFF"/>
                </a:solidFill>
                <a:latin typeface="Calibri"/>
              </a:rPr>
              <a:t>Beginner · Practitioner · Expert</a:t>
            </a:r>
          </a:p>
        </p:txBody>
      </p:sp>
      <p:sp>
        <p:nvSpPr>
          <p:cNvPr id="9" name="Bring your questions, whatever your starting point"/>
          <p:cNvSpPr/>
          <p:nvPr/>
        </p:nvSpPr>
        <p:spPr>
          <a:xfrm>
            <a:off x="5166360" y="5074920"/>
            <a:ext cx="6245352" cy="475488"/>
          </a:xfrm>
          <a:prstGeom prst="roundRect">
            <a:avLst>
              <a:gd name="adj" fmla="val 1923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Bring your questions, whatever your starting point</a:t>
            </a:r>
          </a:p>
        </p:txBody>
      </p:sp>
      <p:sp>
        <p:nvSpPr>
          <p:cNvPr id="10" name="Freeform 9"/>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1"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Beginner demo</a:t>
            </a:r>
          </a:p>
        </p:txBody>
      </p:sp>
      <p:sp>
        <p:nvSpPr>
          <p:cNvPr id="12"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enablement — Beginner demo cut (about 3 minutes)</dc:title>
  <dc:subject>DeckFM AI enablement series</dc:subject>
  <dc:creator>DeckFM</dc:creator>
  <cp:keywords>AI enablement; DeckFM; Beginner demo</cp:keywords>
  <dc:description>Generated by scripts/generate_ai_enablement_pptx.py</dc:description>
  <cp:lastModifiedBy>DeckFM</cp:lastModifiedBy>
  <cp:revision>1</cp:revision>
  <dcterms:created xsi:type="dcterms:W3CDTF">2026-10-01T09:00:00Z</dcterms:created>
  <dcterms:modified xsi:type="dcterms:W3CDTF">2026-10-01T09:00:00Z</dcterms:modified>
  <cp:category/>
  <cp:lastPrinted>2026-10-01T09:00:00Z</cp:lastPrinted>
</cp:coreProperties>
</file>