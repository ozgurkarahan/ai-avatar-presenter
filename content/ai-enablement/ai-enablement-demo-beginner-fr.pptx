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un système d’IA générative, qui vous présente en direct grâce à une voix synthétique et un avatar animé. Tout ce que vous entendez en ce moment a été écrit par un modèle de langage il y a quelques instants, puis transformé en audio par un autre système vocal. Pendant les prochaines minutes, je vais vous montrer trois idées : ce qu’est vraiment un modèle, ce qui fait d’un agent plus qu’un simple chatbot, et comment ma voix et mon visage ont été créés. Aucun bagage technique nécessaire, juste quelques minutes de votre attention.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modèle comme celui qui génère mes mots a été entraîné sur d’immenses quantités de textes, en apprenant les schémas statistiques du langage plutôt qu’en mémorisant des faits comme une base de données. Quand vous lui posez une question, il prédit le mot le plus probable, encore et encore, jusqu’à former une réponse complète. C’est aussi pour cela qu’il peut sembler très sûr de lui tout en se trompant parfois, ce qu’il faut garder en tête quand la précision compte vraiment.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simple modèle ne produit que des mots. Un agent, c’est un modèle connecté à des outils, comme un moteur de recherche ou un agenda, qu’il peut réellement utiliser. Il fonctionne en boucle : il réfléchit à l’étape suivante, agit en appelant un outil, regarde le résultat, et recommence jusqu’à ce que la tâche soit vraiment terminée. Cette boucle fait toute la différence entre un système qui ne fait que parler et un système capable d’agir pour vous.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présentation combine plusieurs technologies vocales. La reconnaissance vocale transforme vos paroles en texte lisible par un modèle. La synthèse vocale prend les mots générés et les transforme en la voix naturelle que vous entendez. Une couche avatar anime ensuite un visage synthétique pour suivre cette voix. Quand tout cela est assez rapide pour un échange en direct, on parle de voix en temps réel, et c’est exactement ce qui me fait fonctionner en ce moment.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C’était la version en trois minutes. La session complète pour débutants couvre douze sujets en détail, comme les modèles de raisonnement, les tokens et les fenêtres de contexte, les modèles ouverts ou fermés, et l’usage responsable. Deux autres sessions vont encore plus loin : une pour les praticiens qui construisent avec l’IA, et une pour les experts qui veulent comprendre les mécanismes. Merci de votre attention, et n’hésitez pas à poser vos questions, quel que soit votre niveau de départ avec l’intelligence artificielle.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1051560"/>
            <a:ext cx="5943600" cy="1417320"/>
          </a:xfrm>
        </p:spPr>
        <p:txBody>
          <a:bodyPr wrap="square" lIns="18288" rIns="18288" tIns="10973" bIns="10973" anchor="t">
            <a:noAutofit/>
          </a:bodyPr>
          <a:lstStyle/>
          <a:p>
            <a:pPr algn="l">
              <a:lnSpc>
                <a:spcPct val="95000"/>
              </a:lnSpc>
            </a:pPr>
            <a:r>
              <a:rPr sz="4000" b="1" i="0">
                <a:solidFill>
                  <a:srgbClr val="16202F"/>
                </a:solidFill>
                <a:latin typeface="Calibri"/>
              </a:rPr>
              <a:t>Bonjour, je suis un présentateur IA</a:t>
            </a:r>
          </a:p>
        </p:txBody>
      </p:sp>
      <p:sp>
        <p:nvSpPr>
          <p:cNvPr id="3" name="eyebrow"/>
          <p:cNvSpPr txBox="1"/>
          <p:nvPr/>
        </p:nvSpPr>
        <p:spPr>
          <a:xfrm>
            <a:off x="502920" y="457200"/>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OZ RADIO · AI ENABLEMENT · DÉMO EN DIRECT</a:t>
            </a:r>
          </a:p>
        </p:txBody>
      </p:sp>
      <p:sp>
        <p:nvSpPr>
          <p:cNvPr id="4" name="TextBox 3"/>
          <p:cNvSpPr txBox="1"/>
          <p:nvPr/>
        </p:nvSpPr>
        <p:spPr>
          <a:xfrm>
            <a:off x="502920" y="2487168"/>
            <a:ext cx="5943600" cy="457200"/>
          </a:xfrm>
          <a:prstGeom prst="rect">
            <a:avLst/>
          </a:prstGeom>
          <a:noFill/>
        </p:spPr>
        <p:txBody>
          <a:bodyPr wrap="square" lIns="18288" rIns="18288" tIns="10973" bIns="10973" anchor="t">
            <a:noAutofit/>
          </a:bodyPr>
          <a:lstStyle/>
          <a:p>
            <a:pPr algn="l"/>
            <a:r>
              <a:rPr sz="2000" b="0" i="0">
                <a:solidFill>
                  <a:srgbClr val="0F6CBD"/>
                </a:solidFill>
                <a:latin typeface="Calibri"/>
              </a:rPr>
              <a:t>Un aperçu rapide de l’IA, en direct</a:t>
            </a:r>
          </a:p>
        </p:txBody>
      </p:sp>
      <p:sp>
        <p:nvSpPr>
          <p:cNvPr id="5" name="Débutant · démo de trois minutes"/>
          <p:cNvSpPr/>
          <p:nvPr/>
        </p:nvSpPr>
        <p:spPr>
          <a:xfrm>
            <a:off x="502920" y="3063240"/>
            <a:ext cx="3657600" cy="402336"/>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400" b="1" i="0">
                <a:solidFill>
                  <a:srgbClr val="16202F"/>
                </a:solidFill>
                <a:latin typeface="Calibri"/>
              </a:rPr>
              <a:t>Débutant · démo de trois minutes</a:t>
            </a:r>
          </a:p>
        </p:txBody>
      </p:sp>
      <p:sp>
        <p:nvSpPr>
          <p:cNvPr id="6" name="bullets"/>
          <p:cNvSpPr txBox="1"/>
          <p:nvPr/>
        </p:nvSpPr>
        <p:spPr>
          <a:xfrm>
            <a:off x="502920" y="3749040"/>
            <a:ext cx="5760720" cy="2286000"/>
          </a:xfrm>
          <a:prstGeom prst="rect">
            <a:avLst/>
          </a:prstGeom>
          <a:noFill/>
        </p:spPr>
        <p:txBody>
          <a:bodyPr wrap="square" lIns="18288" rIns="18288" tIns="10973" bIns="10973" anchor="t">
            <a:noAutofit/>
          </a:bodyPr>
          <a:lstStyle/>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Construit à partir d’un modèle de langage</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Une voix générée en temps réel</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Là pour expliquer l’IA simplement</a:t>
            </a:r>
          </a:p>
        </p:txBody>
      </p:sp>
      <p:sp>
        <p:nvSpPr>
          <p:cNvPr id="7" name="visual panel"/>
          <p:cNvSpPr/>
          <p:nvPr/>
        </p:nvSpPr>
        <p:spPr>
          <a:xfrm>
            <a:off x="6720840" y="1097280"/>
            <a:ext cx="4965192" cy="4937760"/>
          </a:xfrm>
          <a:prstGeom prst="roundRect">
            <a:avLst>
              <a:gd name="adj" fmla="val 3333"/>
            </a:avLst>
          </a:prstGeom>
          <a:solidFill>
            <a:srgbClr val="F7F9FC"/>
          </a:solidFill>
          <a:ln w="15875">
            <a:solidFill>
              <a:srgbClr val="E2E8F2"/>
            </a:solidFill>
          </a:ln>
          <a:effectLst/>
        </p:spPr>
        <p:txBody>
          <a:bodyPr rtlCol="0" anchor="ctr"/>
          <a:lstStyle/>
          <a:p>
            <a:pPr algn="ctr"/>
          </a:p>
        </p:txBody>
      </p:sp>
      <p:sp>
        <p:nvSpPr>
          <p:cNvPr id="8" name="avatar"/>
          <p:cNvSpPr/>
          <p:nvPr/>
        </p:nvSpPr>
        <p:spPr>
          <a:xfrm>
            <a:off x="7315200" y="1691640"/>
            <a:ext cx="2560320" cy="2560320"/>
          </a:xfrm>
          <a:prstGeom prst="ellipse">
            <a:avLst/>
          </a:prstGeom>
          <a:solidFill>
            <a:srgbClr val="EAF3FC"/>
          </a:solidFill>
          <a:ln w="15875">
            <a:solidFill>
              <a:srgbClr val="8DBBE6"/>
            </a:solidFill>
          </a:ln>
          <a:effectLst/>
        </p:spPr>
        <p:txBody>
          <a:bodyPr rtlCol="0" anchor="ctr"/>
          <a:lstStyle/>
          <a:p>
            <a:pPr algn="ctr"/>
          </a:p>
        </p:txBody>
      </p:sp>
      <p:sp>
        <p:nvSpPr>
          <p:cNvPr id="9" name="Oval 8"/>
          <p:cNvSpPr/>
          <p:nvPr/>
        </p:nvSpPr>
        <p:spPr>
          <a:xfrm>
            <a:off x="8183880" y="2103120"/>
            <a:ext cx="822960" cy="822960"/>
          </a:xfrm>
          <a:prstGeom prst="ellipse">
            <a:avLst/>
          </a:prstGeom>
          <a:solidFill>
            <a:srgbClr val="0F6CBD"/>
          </a:solidFill>
          <a:ln w="15875">
            <a:solidFill>
              <a:srgbClr val="B8C4D6"/>
            </a:solidFill>
          </a:ln>
          <a:effectLst/>
        </p:spPr>
        <p:txBody>
          <a:bodyPr rtlCol="0" anchor="ctr"/>
          <a:lstStyle/>
          <a:p>
            <a:pPr algn="ctr"/>
          </a:p>
        </p:txBody>
      </p:sp>
      <p:sp>
        <p:nvSpPr>
          <p:cNvPr id="10" name="Round Same Side Corner Rectangle 9"/>
          <p:cNvSpPr/>
          <p:nvPr/>
        </p:nvSpPr>
        <p:spPr>
          <a:xfrm>
            <a:off x="7818120" y="3063240"/>
            <a:ext cx="1554480" cy="960120"/>
          </a:xfrm>
          <a:prstGeom prst="round2SameRect">
            <a:avLst/>
          </a:prstGeom>
          <a:solidFill>
            <a:srgbClr val="0F6CBD"/>
          </a:solidFill>
          <a:ln w="15875">
            <a:solidFill>
              <a:srgbClr val="B8C4D6"/>
            </a:solidFill>
          </a:ln>
          <a:effectLst/>
        </p:spPr>
        <p:txBody>
          <a:bodyPr rtlCol="0" anchor="ctr"/>
          <a:lstStyle/>
          <a:p>
            <a:pPr algn="ctr"/>
          </a:p>
        </p:txBody>
      </p:sp>
      <p:sp>
        <p:nvSpPr>
          <p:cNvPr id="11" name="chat bubble"/>
          <p:cNvSpPr/>
          <p:nvPr/>
        </p:nvSpPr>
        <p:spPr>
          <a:xfrm>
            <a:off x="10012680" y="1600200"/>
            <a:ext cx="1417320" cy="914400"/>
          </a:xfrm>
          <a:prstGeom prst="wedgeEllipseCallout">
            <a:avLst/>
          </a:prstGeom>
          <a:solidFill>
            <a:srgbClr val="FFFFFF"/>
          </a:solidFill>
          <a:ln w="19050">
            <a:solidFill>
              <a:srgbClr val="8DBBE6"/>
            </a:solidFill>
          </a:ln>
          <a:effectLst/>
        </p:spPr>
        <p:txBody>
          <a:bodyPr rtlCol="0" anchor="ctr"/>
          <a:lstStyle/>
          <a:p>
            <a:pPr algn="ctr"/>
          </a:p>
        </p:txBody>
      </p:sp>
      <p:sp>
        <p:nvSpPr>
          <p:cNvPr id="12" name="Freeform 11"/>
          <p:cNvSpPr/>
          <p:nvPr/>
        </p:nvSpPr>
        <p:spPr>
          <a:xfrm>
            <a:off x="10367010" y="1941050"/>
            <a:ext cx="708660" cy="196124"/>
          </a:xfrm>
          <a:custGeom>
            <a:avLst/>
            <a:gdLst/>
            <a:ahLst/>
            <a:cxnLst/>
            <a:rect l="l" t="t" r="r" b="b"/>
            <a:pathLst>
              <a:path w="708660" h="196124">
                <a:moveTo>
                  <a:pt x="0" y="98062"/>
                </a:moveTo>
                <a:lnTo>
                  <a:pt x="25309" y="141704"/>
                </a:lnTo>
                <a:lnTo>
                  <a:pt x="50619" y="176702"/>
                </a:lnTo>
                <a:lnTo>
                  <a:pt x="75928" y="196124"/>
                </a:lnTo>
                <a:lnTo>
                  <a:pt x="101237" y="196124"/>
                </a:lnTo>
                <a:lnTo>
                  <a:pt x="126546" y="176702"/>
                </a:lnTo>
                <a:lnTo>
                  <a:pt x="151856" y="141704"/>
                </a:lnTo>
                <a:lnTo>
                  <a:pt x="177165" y="98062"/>
                </a:lnTo>
                <a:lnTo>
                  <a:pt x="202474" y="54420"/>
                </a:lnTo>
                <a:lnTo>
                  <a:pt x="227784" y="19422"/>
                </a:lnTo>
                <a:lnTo>
                  <a:pt x="253093" y="0"/>
                </a:lnTo>
                <a:lnTo>
                  <a:pt x="278402" y="0"/>
                </a:lnTo>
                <a:lnTo>
                  <a:pt x="303711" y="19422"/>
                </a:lnTo>
                <a:lnTo>
                  <a:pt x="329021" y="54420"/>
                </a:lnTo>
                <a:lnTo>
                  <a:pt x="354330" y="98062"/>
                </a:lnTo>
                <a:lnTo>
                  <a:pt x="379639" y="141704"/>
                </a:lnTo>
                <a:lnTo>
                  <a:pt x="404949" y="176702"/>
                </a:lnTo>
                <a:lnTo>
                  <a:pt x="430258" y="196124"/>
                </a:lnTo>
                <a:lnTo>
                  <a:pt x="455567" y="196124"/>
                </a:lnTo>
                <a:lnTo>
                  <a:pt x="480876" y="176702"/>
                </a:lnTo>
                <a:lnTo>
                  <a:pt x="506186" y="141704"/>
                </a:lnTo>
                <a:lnTo>
                  <a:pt x="531495" y="98062"/>
                </a:lnTo>
                <a:lnTo>
                  <a:pt x="556804" y="54420"/>
                </a:lnTo>
                <a:lnTo>
                  <a:pt x="582114" y="19422"/>
                </a:lnTo>
                <a:lnTo>
                  <a:pt x="607423" y="0"/>
                </a:lnTo>
                <a:lnTo>
                  <a:pt x="632732" y="0"/>
                </a:lnTo>
                <a:lnTo>
                  <a:pt x="658041" y="19422"/>
                </a:lnTo>
                <a:lnTo>
                  <a:pt x="683351" y="54420"/>
                </a:lnTo>
                <a:lnTo>
                  <a:pt x="708660" y="98062"/>
                </a:lnTo>
              </a:path>
            </a:pathLst>
          </a:custGeom>
          <a:noFill/>
          <a:ln w="25400">
            <a:solidFill>
              <a:srgbClr val="0F6CBD"/>
            </a:solidFill>
          </a:ln>
          <a:effectLst/>
        </p:spPr>
        <p:txBody>
          <a:bodyPr rtlCol="0" anchor="ctr"/>
          <a:lstStyle/>
          <a:p>
            <a:pPr algn="ctr"/>
          </a:p>
        </p:txBody>
      </p:sp>
      <p:sp>
        <p:nvSpPr>
          <p:cNvPr id="13" name="modèle de langage"/>
          <p:cNvSpPr/>
          <p:nvPr/>
        </p:nvSpPr>
        <p:spPr>
          <a:xfrm>
            <a:off x="6995160" y="4709160"/>
            <a:ext cx="1417320" cy="411480"/>
          </a:xfrm>
          <a:prstGeom prst="roundRect">
            <a:avLst>
              <a:gd name="adj" fmla="val 50000"/>
            </a:avLst>
          </a:prstGeom>
          <a:solidFill>
            <a:srgbClr val="EAF3FC"/>
          </a:solidFill>
          <a:ln w="15875">
            <a:solidFill>
              <a:srgbClr val="8DBBE6"/>
            </a:solidFill>
          </a:ln>
          <a:effectLst/>
        </p:spPr>
        <p:txBody>
          <a:bodyPr rtlCol="0" anchor="ctr" wrap="square" lIns="45720" rIns="45720" tIns="27432" bIns="27432">
            <a:noAutofit/>
          </a:bodyPr>
          <a:lstStyle/>
          <a:p>
            <a:pPr algn="ctr"/>
            <a:r>
              <a:rPr sz="1200" b="1" i="0">
                <a:solidFill>
                  <a:srgbClr val="16202F"/>
                </a:solidFill>
                <a:latin typeface="Calibri"/>
              </a:rPr>
              <a:t>modèle de langage</a:t>
            </a:r>
          </a:p>
        </p:txBody>
      </p:sp>
      <p:sp>
        <p:nvSpPr>
          <p:cNvPr id="14" name="voix temps réel"/>
          <p:cNvSpPr/>
          <p:nvPr/>
        </p:nvSpPr>
        <p:spPr>
          <a:xfrm>
            <a:off x="8503920" y="4709160"/>
            <a:ext cx="1417320" cy="411480"/>
          </a:xfrm>
          <a:prstGeom prst="roundRect">
            <a:avLst>
              <a:gd name="adj" fmla="val 50000"/>
            </a:avLst>
          </a:prstGeom>
          <a:solidFill>
            <a:srgbClr val="EAF3FC"/>
          </a:solidFill>
          <a:ln w="15875">
            <a:solidFill>
              <a:srgbClr val="8DBBE6"/>
            </a:solidFill>
          </a:ln>
          <a:effectLst/>
        </p:spPr>
        <p:txBody>
          <a:bodyPr rtlCol="0" anchor="ctr" wrap="square" lIns="45720" rIns="45720" tIns="27432" bIns="27432">
            <a:noAutofit/>
          </a:bodyPr>
          <a:lstStyle/>
          <a:p>
            <a:pPr algn="ctr"/>
            <a:r>
              <a:rPr sz="1200" b="1" i="0">
                <a:solidFill>
                  <a:srgbClr val="16202F"/>
                </a:solidFill>
                <a:latin typeface="Calibri"/>
              </a:rPr>
              <a:t>voix temps réel</a:t>
            </a:r>
          </a:p>
        </p:txBody>
      </p:sp>
      <p:sp>
        <p:nvSpPr>
          <p:cNvPr id="15" name="avatar"/>
          <p:cNvSpPr/>
          <p:nvPr/>
        </p:nvSpPr>
        <p:spPr>
          <a:xfrm>
            <a:off x="10012680" y="4709160"/>
            <a:ext cx="1417320" cy="411480"/>
          </a:xfrm>
          <a:prstGeom prst="roundRect">
            <a:avLst>
              <a:gd name="adj" fmla="val 50000"/>
            </a:avLst>
          </a:prstGeom>
          <a:solidFill>
            <a:srgbClr val="0F6CBD"/>
          </a:solidFill>
          <a:ln w="15875">
            <a:solidFill>
              <a:srgbClr val="0F6CBD"/>
            </a:solidFill>
          </a:ln>
          <a:effectLst/>
        </p:spPr>
        <p:txBody>
          <a:bodyPr rtlCol="0" anchor="ctr" wrap="square" lIns="45720" rIns="45720" tIns="27432" bIns="27432">
            <a:noAutofit/>
          </a:bodyPr>
          <a:lstStyle/>
          <a:p>
            <a:pPr algn="ctr"/>
            <a:r>
              <a:rPr sz="1200" b="1" i="0">
                <a:solidFill>
                  <a:srgbClr val="FFFFFF"/>
                </a:solidFill>
                <a:latin typeface="Calibri"/>
              </a:rPr>
              <a:t>avatar</a:t>
            </a:r>
          </a:p>
        </p:txBody>
      </p:sp>
      <p:sp>
        <p:nvSpPr>
          <p:cNvPr id="16" name="Freeform 15"/>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7"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Démo débutant</a:t>
            </a:r>
          </a:p>
        </p:txBody>
      </p:sp>
      <p:sp>
        <p:nvSpPr>
          <p:cNvPr id="18"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Qu’est-ce qu’un modèle ?</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DÉMO DÉBUTANT · MODÈLES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Entraîné sur d’énormes volumes de texte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Apprend des schémas, pas des faits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Prédit le mot suivant le plus probable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extes d’entraînement"/>
          <p:cNvSpPr/>
          <p:nvPr/>
        </p:nvSpPr>
        <p:spPr>
          <a:xfrm>
            <a:off x="5212080" y="2788920"/>
            <a:ext cx="1600200" cy="1097280"/>
          </a:xfrm>
          <a:prstGeom prst="roundRect">
            <a:avLst>
              <a:gd name="adj" fmla="val 10000"/>
            </a:avLst>
          </a:prstGeom>
          <a:solidFill>
            <a:srgbClr val="FFFFFF"/>
          </a:solidFill>
          <a:ln w="15875">
            <a:solidFill>
              <a:srgbClr val="B8C4D6"/>
            </a:solidFill>
          </a:ln>
          <a:effectLst/>
        </p:spPr>
        <p:txBody>
          <a:bodyPr rtlCol="0" anchor="ctr" wrap="square" lIns="73152" rIns="73152" tIns="43891" bIns="43891">
            <a:noAutofit/>
          </a:bodyPr>
          <a:lstStyle/>
          <a:p>
            <a:pPr algn="ctr"/>
            <a:r>
              <a:rPr sz="1400" b="1" i="0">
                <a:solidFill>
                  <a:srgbClr val="16202F"/>
                </a:solidFill>
                <a:latin typeface="Calibri"/>
              </a:rPr>
              <a:t>Textes</a:t>
            </a:r>
          </a:p>
          <a:p>
            <a:pPr algn="ctr"/>
            <a:r>
              <a:rPr sz="1400" b="1" i="0">
                <a:solidFill>
                  <a:srgbClr val="16202F"/>
                </a:solidFill>
                <a:latin typeface="Calibri"/>
              </a:rPr>
              <a:t>d’entraînement</a:t>
            </a:r>
          </a:p>
        </p:txBody>
      </p:sp>
      <p:sp>
        <p:nvSpPr>
          <p:cNvPr id="7" name="funnel"/>
          <p:cNvSpPr/>
          <p:nvPr/>
        </p:nvSpPr>
        <p:spPr>
          <a:xfrm rot="5400000">
            <a:off x="6903720" y="2697480"/>
            <a:ext cx="1280160" cy="914400"/>
          </a:xfrm>
          <a:prstGeom prst="triangle">
            <a:avLst/>
          </a:prstGeom>
          <a:solidFill>
            <a:srgbClr val="EAF3FC"/>
          </a:solidFill>
          <a:ln w="15875">
            <a:solidFill>
              <a:srgbClr val="8DBBE6"/>
            </a:solidFill>
          </a:ln>
          <a:effectLst/>
        </p:spPr>
        <p:txBody>
          <a:bodyPr rtlCol="0" anchor="ctr"/>
          <a:lstStyle/>
          <a:p>
            <a:pPr algn="ctr"/>
          </a:p>
        </p:txBody>
      </p:sp>
      <p:sp>
        <p:nvSpPr>
          <p:cNvPr id="8" name="Modèle"/>
          <p:cNvSpPr/>
          <p:nvPr/>
        </p:nvSpPr>
        <p:spPr>
          <a:xfrm>
            <a:off x="8275320" y="2606040"/>
            <a:ext cx="1463040" cy="1463040"/>
          </a:xfrm>
          <a:prstGeom prst="ellipse">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Modèle</a:t>
            </a:r>
          </a:p>
        </p:txBody>
      </p:sp>
      <p:cxnSp>
        <p:nvCxnSpPr>
          <p:cNvPr id="9" name="Connector 8"/>
          <p:cNvCxnSpPr/>
          <p:nvPr/>
        </p:nvCxnSpPr>
        <p:spPr>
          <a:xfrm>
            <a:off x="9784080" y="3337560"/>
            <a:ext cx="274320" cy="0"/>
          </a:xfrm>
          <a:prstGeom prst="line">
            <a:avLst/>
          </a:prstGeom>
          <a:ln w="28575">
            <a:solidFill>
              <a:srgbClr val="0F6CBD"/>
            </a:solidFill>
            <a:tailEnd type="triangle" w="med" len="med"/>
          </a:ln>
        </p:spPr>
      </p:cxnSp>
      <p:sp>
        <p:nvSpPr>
          <p:cNvPr id="10" name="Prédiction"/>
          <p:cNvSpPr/>
          <p:nvPr/>
        </p:nvSpPr>
        <p:spPr>
          <a:xfrm>
            <a:off x="10104120" y="2788920"/>
            <a:ext cx="1371600" cy="1097280"/>
          </a:xfrm>
          <a:prstGeom prst="roundRect">
            <a:avLst>
              <a:gd name="adj" fmla="val 10000"/>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Prédiction</a:t>
            </a:r>
          </a:p>
          <a:p>
            <a:pPr algn="ctr"/>
            <a:r>
              <a:rPr sz="1200" b="0" i="0">
                <a:solidFill>
                  <a:srgbClr val="53617A"/>
                </a:solidFill>
                <a:latin typeface="Calibri"/>
              </a:rPr>
              <a:t>mot suivant probable</a:t>
            </a:r>
          </a:p>
        </p:txBody>
      </p:sp>
      <p:sp>
        <p:nvSpPr>
          <p:cNvPr id="11" name="Des schémas, pas des faits : il peut sembler sûr et se tromper"/>
          <p:cNvSpPr/>
          <p:nvPr/>
        </p:nvSpPr>
        <p:spPr>
          <a:xfrm>
            <a:off x="5166360" y="48463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Des schémas, pas des faits : il peut sembler sûr et se tromper</a:t>
            </a:r>
          </a:p>
        </p:txBody>
      </p:sp>
      <p:sp>
        <p:nvSpPr>
          <p:cNvPr id="12" name="Freeform 1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Démo débutant</a:t>
            </a:r>
          </a:p>
        </p:txBody>
      </p:sp>
      <p:sp>
        <p:nvSpPr>
          <p:cNvPr id="1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Qu’est-ce qu’un agent ?</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DÉMO DÉBUTANT · AGENTS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Un modèle qui peut aussi agir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Utilise des outils : recherche, agenda, fichiers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Travaille en boucle jusqu’au bout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éfléchir"/>
          <p:cNvSpPr/>
          <p:nvPr/>
        </p:nvSpPr>
        <p:spPr>
          <a:xfrm>
            <a:off x="7630668" y="2034540"/>
            <a:ext cx="1325880" cy="1325880"/>
          </a:xfrm>
          <a:prstGeom prst="ellipse">
            <a:avLst/>
          </a:prstGeom>
          <a:solidFill>
            <a:srgbClr val="0F6CBD"/>
          </a:solidFill>
          <a:ln w="15875">
            <a:solidFill>
              <a:srgbClr val="0F6CBD"/>
            </a:solidFill>
          </a:ln>
          <a:effectLst/>
        </p:spPr>
        <p:txBody>
          <a:bodyPr rtlCol="0" anchor="ctr" wrap="square" lIns="45720" rIns="45720" tIns="27432" bIns="27432">
            <a:noAutofit/>
          </a:bodyPr>
          <a:lstStyle/>
          <a:p>
            <a:pPr algn="ctr"/>
            <a:r>
              <a:rPr sz="1700" b="1" i="0">
                <a:solidFill>
                  <a:srgbClr val="FFFFFF"/>
                </a:solidFill>
                <a:latin typeface="Calibri"/>
              </a:rPr>
              <a:t>Réfléchir</a:t>
            </a:r>
          </a:p>
        </p:txBody>
      </p:sp>
      <p:sp>
        <p:nvSpPr>
          <p:cNvPr id="7" name="Agir"/>
          <p:cNvSpPr/>
          <p:nvPr/>
        </p:nvSpPr>
        <p:spPr>
          <a:xfrm>
            <a:off x="9505188" y="4320540"/>
            <a:ext cx="1325880" cy="1325880"/>
          </a:xfrm>
          <a:prstGeom prst="ellipse">
            <a:avLst/>
          </a:prstGeom>
          <a:solidFill>
            <a:srgbClr val="EAF3FC"/>
          </a:solidFill>
          <a:ln w="15875">
            <a:solidFill>
              <a:srgbClr val="8DBBE6"/>
            </a:solidFill>
          </a:ln>
          <a:effectLst/>
        </p:spPr>
        <p:txBody>
          <a:bodyPr rtlCol="0" anchor="ctr" wrap="square" lIns="45720" rIns="45720" tIns="27432" bIns="27432">
            <a:noAutofit/>
          </a:bodyPr>
          <a:lstStyle/>
          <a:p>
            <a:pPr algn="ctr"/>
            <a:r>
              <a:rPr sz="1700" b="1" i="0">
                <a:solidFill>
                  <a:srgbClr val="16202F"/>
                </a:solidFill>
                <a:latin typeface="Calibri"/>
              </a:rPr>
              <a:t>Agir</a:t>
            </a:r>
          </a:p>
          <a:p>
            <a:pPr algn="ctr"/>
            <a:r>
              <a:rPr sz="1300" b="0" i="0">
                <a:solidFill>
                  <a:srgbClr val="53617A"/>
                </a:solidFill>
                <a:latin typeface="Calibri"/>
              </a:rPr>
              <a:t>appeler un outil</a:t>
            </a:r>
          </a:p>
        </p:txBody>
      </p:sp>
      <p:sp>
        <p:nvSpPr>
          <p:cNvPr id="8" name="Observer"/>
          <p:cNvSpPr/>
          <p:nvPr/>
        </p:nvSpPr>
        <p:spPr>
          <a:xfrm>
            <a:off x="5756148" y="4320540"/>
            <a:ext cx="1325880" cy="1325880"/>
          </a:xfrm>
          <a:prstGeom prst="ellipse">
            <a:avLst/>
          </a:prstGeom>
          <a:solidFill>
            <a:srgbClr val="FFFFFF"/>
          </a:solidFill>
          <a:ln w="15875">
            <a:solidFill>
              <a:srgbClr val="B8C4D6"/>
            </a:solidFill>
          </a:ln>
          <a:effectLst/>
        </p:spPr>
        <p:txBody>
          <a:bodyPr rtlCol="0" anchor="ctr" wrap="square" lIns="45720" rIns="45720" tIns="27432" bIns="27432">
            <a:noAutofit/>
          </a:bodyPr>
          <a:lstStyle/>
          <a:p>
            <a:pPr algn="ctr"/>
            <a:r>
              <a:rPr sz="1700" b="1" i="0">
                <a:solidFill>
                  <a:srgbClr val="16202F"/>
                </a:solidFill>
                <a:latin typeface="Calibri"/>
              </a:rPr>
              <a:t>Observer</a:t>
            </a:r>
          </a:p>
          <a:p>
            <a:pPr algn="ctr"/>
            <a:r>
              <a:rPr sz="1300" b="0" i="0">
                <a:solidFill>
                  <a:srgbClr val="53617A"/>
                </a:solidFill>
                <a:latin typeface="Calibri"/>
              </a:rPr>
              <a:t>lire le résultat</a:t>
            </a:r>
          </a:p>
        </p:txBody>
      </p:sp>
      <p:cxnSp>
        <p:nvCxnSpPr>
          <p:cNvPr id="9" name="Connector 8"/>
          <p:cNvCxnSpPr/>
          <p:nvPr/>
        </p:nvCxnSpPr>
        <p:spPr>
          <a:xfrm>
            <a:off x="8748753" y="3252535"/>
            <a:ext cx="941038" cy="1147607"/>
          </a:xfrm>
          <a:prstGeom prst="line">
            <a:avLst/>
          </a:prstGeom>
          <a:ln w="28575">
            <a:solidFill>
              <a:srgbClr val="0F6CBD"/>
            </a:solidFill>
            <a:tailEnd type="triangle" w="med" len="med"/>
          </a:ln>
        </p:spPr>
      </p:cxnSp>
      <p:cxnSp>
        <p:nvCxnSpPr>
          <p:cNvPr id="10" name="Connector 9"/>
          <p:cNvCxnSpPr/>
          <p:nvPr/>
        </p:nvCxnSpPr>
        <p:spPr>
          <a:xfrm flipH="1">
            <a:off x="7173468" y="4983480"/>
            <a:ext cx="2276856" cy="0"/>
          </a:xfrm>
          <a:prstGeom prst="line">
            <a:avLst/>
          </a:prstGeom>
          <a:ln w="28575">
            <a:solidFill>
              <a:srgbClr val="0F6CBD"/>
            </a:solidFill>
            <a:tailEnd type="triangle" w="med" len="med"/>
          </a:ln>
        </p:spPr>
      </p:cxnSp>
      <p:cxnSp>
        <p:nvCxnSpPr>
          <p:cNvPr id="11" name="Connector 10"/>
          <p:cNvCxnSpPr/>
          <p:nvPr/>
        </p:nvCxnSpPr>
        <p:spPr>
          <a:xfrm flipV="1">
            <a:off x="6874233" y="3280818"/>
            <a:ext cx="941038" cy="1147607"/>
          </a:xfrm>
          <a:prstGeom prst="line">
            <a:avLst/>
          </a:prstGeom>
          <a:ln w="28575">
            <a:solidFill>
              <a:srgbClr val="0F6CBD"/>
            </a:solidFill>
            <a:tailEnd type="triangle" w="med" len="med"/>
          </a:ln>
        </p:spPr>
      </p:cxnSp>
      <p:sp>
        <p:nvSpPr>
          <p:cNvPr id="12" name="TextBox 11"/>
          <p:cNvSpPr txBox="1"/>
          <p:nvPr/>
        </p:nvSpPr>
        <p:spPr>
          <a:xfrm>
            <a:off x="7287768" y="4069080"/>
            <a:ext cx="2011680" cy="365760"/>
          </a:xfrm>
          <a:prstGeom prst="rect">
            <a:avLst/>
          </a:prstGeom>
          <a:noFill/>
        </p:spPr>
        <p:txBody>
          <a:bodyPr wrap="square" lIns="18288" rIns="18288" tIns="10973" bIns="10973" anchor="t">
            <a:noAutofit/>
          </a:bodyPr>
          <a:lstStyle/>
          <a:p>
            <a:pPr algn="ctr"/>
            <a:r>
              <a:rPr sz="1300" b="0" i="1">
                <a:solidFill>
                  <a:srgbClr val="53617A"/>
                </a:solidFill>
                <a:latin typeface="Calibri"/>
              </a:rPr>
              <a:t>répéter jusqu’au bout</a:t>
            </a:r>
          </a:p>
        </p:txBody>
      </p:sp>
      <p:sp>
        <p:nvSpPr>
          <p:cNvPr id="13" name="Freeform 1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Démo débutant</a:t>
            </a:r>
          </a:p>
        </p:txBody>
      </p:sp>
      <p:sp>
        <p:nvSpPr>
          <p:cNvPr id="1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Comment fonctionne ma voix</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DÉMO DÉBUTANT · VOIX</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La reconnaissance vocale vous entend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La synthèse vocale me donne une voix</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Un avatar ajoute un visage animé</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Votre voix"/>
          <p:cNvSpPr/>
          <p:nvPr/>
        </p:nvSpPr>
        <p:spPr>
          <a:xfrm>
            <a:off x="5212080" y="3017520"/>
            <a:ext cx="987552" cy="1051560"/>
          </a:xfrm>
          <a:prstGeom prst="roundRect">
            <a:avLst>
              <a:gd name="adj" fmla="val 11111"/>
            </a:avLst>
          </a:prstGeom>
          <a:solidFill>
            <a:srgbClr val="FFFFFF"/>
          </a:solidFill>
          <a:ln w="15875">
            <a:solidFill>
              <a:srgbClr val="B8C4D6"/>
            </a:solidFill>
          </a:ln>
          <a:effectLst/>
        </p:spPr>
        <p:txBody>
          <a:bodyPr rtlCol="0" anchor="ctr" wrap="square" lIns="73152" rIns="73152" tIns="43891" bIns="43891">
            <a:noAutofit/>
          </a:bodyPr>
          <a:lstStyle/>
          <a:p>
            <a:pPr algn="ctr"/>
            <a:r>
              <a:rPr sz="1400" b="1" i="0">
                <a:solidFill>
                  <a:srgbClr val="16202F"/>
                </a:solidFill>
                <a:latin typeface="Calibri"/>
              </a:rPr>
              <a:t>Votre</a:t>
            </a:r>
          </a:p>
          <a:p>
            <a:pPr algn="ctr"/>
            <a:r>
              <a:rPr sz="1400" b="1" i="0">
                <a:solidFill>
                  <a:srgbClr val="16202F"/>
                </a:solidFill>
                <a:latin typeface="Calibri"/>
              </a:rPr>
              <a:t>voix</a:t>
            </a:r>
          </a:p>
        </p:txBody>
      </p:sp>
      <p:sp>
        <p:nvSpPr>
          <p:cNvPr id="7" name="Voix en texte"/>
          <p:cNvSpPr/>
          <p:nvPr/>
        </p:nvSpPr>
        <p:spPr>
          <a:xfrm>
            <a:off x="6519672" y="3017520"/>
            <a:ext cx="987552" cy="1051560"/>
          </a:xfrm>
          <a:prstGeom prst="roundRect">
            <a:avLst>
              <a:gd name="adj" fmla="val 11111"/>
            </a:avLst>
          </a:prstGeom>
          <a:solidFill>
            <a:srgbClr val="EAF3FC"/>
          </a:solidFill>
          <a:ln w="15875">
            <a:solidFill>
              <a:srgbClr val="8DBBE6"/>
            </a:solidFill>
          </a:ln>
          <a:effectLst/>
        </p:spPr>
        <p:txBody>
          <a:bodyPr rtlCol="0" anchor="ctr" wrap="square" lIns="73152" rIns="73152" tIns="43891" bIns="43891">
            <a:noAutofit/>
          </a:bodyPr>
          <a:lstStyle/>
          <a:p>
            <a:pPr algn="ctr"/>
            <a:r>
              <a:rPr sz="1400" b="1" i="0">
                <a:solidFill>
                  <a:srgbClr val="16202F"/>
                </a:solidFill>
                <a:latin typeface="Calibri"/>
              </a:rPr>
              <a:t>Voix en</a:t>
            </a:r>
          </a:p>
          <a:p>
            <a:pPr algn="ctr"/>
            <a:r>
              <a:rPr sz="1400" b="1" i="0">
                <a:solidFill>
                  <a:srgbClr val="16202F"/>
                </a:solidFill>
                <a:latin typeface="Calibri"/>
              </a:rPr>
              <a:t>texte</a:t>
            </a:r>
          </a:p>
        </p:txBody>
      </p:sp>
      <p:sp>
        <p:nvSpPr>
          <p:cNvPr id="8" name="Modèle"/>
          <p:cNvSpPr/>
          <p:nvPr/>
        </p:nvSpPr>
        <p:spPr>
          <a:xfrm>
            <a:off x="7827264" y="3017520"/>
            <a:ext cx="987552" cy="1051560"/>
          </a:xfrm>
          <a:prstGeom prst="roundRect">
            <a:avLst>
              <a:gd name="adj" fmla="val 11111"/>
            </a:avLst>
          </a:prstGeom>
          <a:solidFill>
            <a:srgbClr val="0F6CBD"/>
          </a:solidFill>
          <a:ln w="15875">
            <a:solidFill>
              <a:srgbClr val="0F6CBD"/>
            </a:solidFill>
          </a:ln>
          <a:effectLst/>
        </p:spPr>
        <p:txBody>
          <a:bodyPr rtlCol="0" anchor="ctr" wrap="square" lIns="73152" rIns="73152" tIns="43891" bIns="43891">
            <a:noAutofit/>
          </a:bodyPr>
          <a:lstStyle/>
          <a:p>
            <a:pPr algn="ctr"/>
            <a:r>
              <a:rPr sz="1400" b="1" i="0">
                <a:solidFill>
                  <a:srgbClr val="FFFFFF"/>
                </a:solidFill>
                <a:latin typeface="Calibri"/>
              </a:rPr>
              <a:t>Modèle</a:t>
            </a:r>
          </a:p>
        </p:txBody>
      </p:sp>
      <p:sp>
        <p:nvSpPr>
          <p:cNvPr id="9" name="Texte en voix"/>
          <p:cNvSpPr/>
          <p:nvPr/>
        </p:nvSpPr>
        <p:spPr>
          <a:xfrm>
            <a:off x="9134856" y="3017520"/>
            <a:ext cx="987552" cy="1051560"/>
          </a:xfrm>
          <a:prstGeom prst="roundRect">
            <a:avLst>
              <a:gd name="adj" fmla="val 11111"/>
            </a:avLst>
          </a:prstGeom>
          <a:solidFill>
            <a:srgbClr val="EAF3FC"/>
          </a:solidFill>
          <a:ln w="15875">
            <a:solidFill>
              <a:srgbClr val="8DBBE6"/>
            </a:solidFill>
          </a:ln>
          <a:effectLst/>
        </p:spPr>
        <p:txBody>
          <a:bodyPr rtlCol="0" anchor="ctr" wrap="square" lIns="73152" rIns="73152" tIns="43891" bIns="43891">
            <a:noAutofit/>
          </a:bodyPr>
          <a:lstStyle/>
          <a:p>
            <a:pPr algn="ctr"/>
            <a:r>
              <a:rPr sz="1400" b="1" i="0">
                <a:solidFill>
                  <a:srgbClr val="16202F"/>
                </a:solidFill>
                <a:latin typeface="Calibri"/>
              </a:rPr>
              <a:t>Texte en</a:t>
            </a:r>
          </a:p>
          <a:p>
            <a:pPr algn="ctr"/>
            <a:r>
              <a:rPr sz="1400" b="1" i="0">
                <a:solidFill>
                  <a:srgbClr val="16202F"/>
                </a:solidFill>
                <a:latin typeface="Calibri"/>
              </a:rPr>
              <a:t>voix</a:t>
            </a:r>
          </a:p>
        </p:txBody>
      </p:sp>
      <p:sp>
        <p:nvSpPr>
          <p:cNvPr id="10" name="Avatar"/>
          <p:cNvSpPr/>
          <p:nvPr/>
        </p:nvSpPr>
        <p:spPr>
          <a:xfrm>
            <a:off x="10442448" y="3017520"/>
            <a:ext cx="987552" cy="1051560"/>
          </a:xfrm>
          <a:prstGeom prst="roundRect">
            <a:avLst>
              <a:gd name="adj" fmla="val 11111"/>
            </a:avLst>
          </a:prstGeom>
          <a:solidFill>
            <a:srgbClr val="0F6CBD"/>
          </a:solidFill>
          <a:ln w="15875">
            <a:solidFill>
              <a:srgbClr val="0F6CBD"/>
            </a:solidFill>
          </a:ln>
          <a:effectLst/>
        </p:spPr>
        <p:txBody>
          <a:bodyPr rtlCol="0" anchor="ctr" wrap="square" lIns="73152" rIns="73152" tIns="43891" bIns="43891">
            <a:noAutofit/>
          </a:bodyPr>
          <a:lstStyle/>
          <a:p>
            <a:pPr algn="ctr"/>
            <a:r>
              <a:rPr sz="1400" b="1" i="0">
                <a:solidFill>
                  <a:srgbClr val="FFFFFF"/>
                </a:solidFill>
                <a:latin typeface="Calibri"/>
              </a:rPr>
              <a:t>Avatar</a:t>
            </a:r>
          </a:p>
        </p:txBody>
      </p:sp>
      <p:cxnSp>
        <p:nvCxnSpPr>
          <p:cNvPr id="11" name="Connector 10"/>
          <p:cNvCxnSpPr/>
          <p:nvPr/>
        </p:nvCxnSpPr>
        <p:spPr>
          <a:xfrm>
            <a:off x="6236208" y="3543300"/>
            <a:ext cx="246888" cy="0"/>
          </a:xfrm>
          <a:prstGeom prst="line">
            <a:avLst/>
          </a:prstGeom>
          <a:ln w="22225">
            <a:solidFill>
              <a:srgbClr val="0F6CBD"/>
            </a:solidFill>
            <a:tailEnd type="triangle" w="med" len="med"/>
          </a:ln>
        </p:spPr>
      </p:cxnSp>
      <p:cxnSp>
        <p:nvCxnSpPr>
          <p:cNvPr id="12" name="Connector 11"/>
          <p:cNvCxnSpPr/>
          <p:nvPr/>
        </p:nvCxnSpPr>
        <p:spPr>
          <a:xfrm>
            <a:off x="7543800" y="3543300"/>
            <a:ext cx="246888" cy="0"/>
          </a:xfrm>
          <a:prstGeom prst="line">
            <a:avLst/>
          </a:prstGeom>
          <a:ln w="22225">
            <a:solidFill>
              <a:srgbClr val="0F6CBD"/>
            </a:solidFill>
            <a:tailEnd type="triangle" w="med" len="med"/>
          </a:ln>
        </p:spPr>
      </p:cxnSp>
      <p:cxnSp>
        <p:nvCxnSpPr>
          <p:cNvPr id="13" name="Connector 12"/>
          <p:cNvCxnSpPr/>
          <p:nvPr/>
        </p:nvCxnSpPr>
        <p:spPr>
          <a:xfrm>
            <a:off x="8851392" y="3543300"/>
            <a:ext cx="246888" cy="0"/>
          </a:xfrm>
          <a:prstGeom prst="line">
            <a:avLst/>
          </a:prstGeom>
          <a:ln w="22225">
            <a:solidFill>
              <a:srgbClr val="0F6CBD"/>
            </a:solidFill>
            <a:tailEnd type="triangle" w="med" len="med"/>
          </a:ln>
        </p:spPr>
      </p:cxnSp>
      <p:cxnSp>
        <p:nvCxnSpPr>
          <p:cNvPr id="14" name="Connector 13"/>
          <p:cNvCxnSpPr/>
          <p:nvPr/>
        </p:nvCxnSpPr>
        <p:spPr>
          <a:xfrm>
            <a:off x="10158984" y="3543300"/>
            <a:ext cx="246888" cy="0"/>
          </a:xfrm>
          <a:prstGeom prst="line">
            <a:avLst/>
          </a:prstGeom>
          <a:ln w="22225">
            <a:solidFill>
              <a:srgbClr val="0F6CBD"/>
            </a:solidFill>
            <a:tailEnd type="triangle" w="med" len="med"/>
          </a:ln>
        </p:spPr>
      </p:cxnSp>
      <p:sp>
        <p:nvSpPr>
          <p:cNvPr id="15" name="Assez rapide pour un échange en direct = voix temps réel"/>
          <p:cNvSpPr/>
          <p:nvPr/>
        </p:nvSpPr>
        <p:spPr>
          <a:xfrm>
            <a:off x="5166360" y="475488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Assez rapide pour un échange en direct = voix temps réel</a:t>
            </a:r>
          </a:p>
        </p:txBody>
      </p:sp>
      <p:sp>
        <p:nvSpPr>
          <p:cNvPr id="16" name="Freeform 15"/>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7"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Démo débutant</a:t>
            </a:r>
          </a:p>
        </p:txBody>
      </p:sp>
      <p:sp>
        <p:nvSpPr>
          <p:cNvPr id="18"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Merci de votre attention — allez plus loin</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DÉMO DÉBUTANT · POUR ALLER PLUS LOIN</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C’était la version express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Le deck débutant complet : douze sujets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Posez-nous vos questions, à tout moment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Vous êtes ici"/>
          <p:cNvSpPr/>
          <p:nvPr/>
        </p:nvSpPr>
        <p:spPr>
          <a:xfrm>
            <a:off x="5303520" y="2788920"/>
            <a:ext cx="2103120" cy="1280160"/>
          </a:xfrm>
          <a:prstGeom prst="roundRect">
            <a:avLst>
              <a:gd name="adj" fmla="val 8571"/>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Vous êtes ici</a:t>
            </a:r>
          </a:p>
          <a:p>
            <a:pPr algn="ctr"/>
            <a:r>
              <a:rPr sz="1300" b="0" i="0">
                <a:solidFill>
                  <a:srgbClr val="53617A"/>
                </a:solidFill>
                <a:latin typeface="Calibri"/>
              </a:rPr>
              <a:t>démo de 3 minutes</a:t>
            </a:r>
          </a:p>
        </p:txBody>
      </p:sp>
      <p:sp>
        <p:nvSpPr>
          <p:cNvPr id="7" name="next arrow"/>
          <p:cNvSpPr/>
          <p:nvPr/>
        </p:nvSpPr>
        <p:spPr>
          <a:xfrm>
            <a:off x="7635240" y="3090672"/>
            <a:ext cx="914400" cy="685800"/>
          </a:xfrm>
          <a:prstGeom prst="rightArrow">
            <a:avLst/>
          </a:prstGeom>
          <a:solidFill>
            <a:srgbClr val="0F6CBD"/>
          </a:solidFill>
          <a:ln w="15875">
            <a:solidFill>
              <a:srgbClr val="B8C4D6"/>
            </a:solidFill>
          </a:ln>
          <a:effectLst/>
        </p:spPr>
        <p:txBody>
          <a:bodyPr rtlCol="0" anchor="ctr"/>
          <a:lstStyle/>
          <a:p>
            <a:pPr algn="ctr"/>
          </a:p>
        </p:txBody>
      </p:sp>
      <p:sp>
        <p:nvSpPr>
          <p:cNvPr id="8" name="Série complète AI enablement"/>
          <p:cNvSpPr/>
          <p:nvPr/>
        </p:nvSpPr>
        <p:spPr>
          <a:xfrm>
            <a:off x="8778240" y="2286000"/>
            <a:ext cx="2697480" cy="2286000"/>
          </a:xfrm>
          <a:prstGeom prst="roundRect">
            <a:avLst>
              <a:gd name="adj" fmla="val 4800"/>
            </a:avLst>
          </a:prstGeom>
          <a:solidFill>
            <a:srgbClr val="0F6CBD"/>
          </a:solidFill>
          <a:ln w="15875">
            <a:solidFill>
              <a:srgbClr val="0F6CBD"/>
            </a:solidFill>
          </a:ln>
          <a:effectLst/>
        </p:spPr>
        <p:txBody>
          <a:bodyPr rtlCol="0" anchor="ctr" wrap="square" lIns="73152" rIns="73152" tIns="43891" bIns="43891">
            <a:noAutofit/>
          </a:bodyPr>
          <a:lstStyle/>
          <a:p>
            <a:pPr algn="ctr"/>
            <a:r>
              <a:rPr sz="1900" b="1" i="0">
                <a:solidFill>
                  <a:srgbClr val="FFFFFF"/>
                </a:solidFill>
                <a:latin typeface="Calibri"/>
              </a:rPr>
              <a:t>Série complète AI enablement</a:t>
            </a:r>
          </a:p>
          <a:p>
            <a:pPr algn="ctr"/>
            <a:r>
              <a:rPr sz="1300" b="0" i="0">
                <a:solidFill>
                  <a:srgbClr val="FFFFFF"/>
                </a:solidFill>
                <a:latin typeface="Calibri"/>
              </a:rPr>
              <a:t>3 decks :</a:t>
            </a:r>
          </a:p>
          <a:p>
            <a:pPr algn="ctr"/>
            <a:r>
              <a:rPr sz="1300" b="0" i="0">
                <a:solidFill>
                  <a:srgbClr val="FFFFFF"/>
                </a:solidFill>
                <a:latin typeface="Calibri"/>
              </a:rPr>
              <a:t>Débutant · Praticien · Expert</a:t>
            </a:r>
          </a:p>
        </p:txBody>
      </p:sp>
      <p:sp>
        <p:nvSpPr>
          <p:cNvPr id="9" name="Venez avec vos questions, quel que soit votre niveau"/>
          <p:cNvSpPr/>
          <p:nvPr/>
        </p:nvSpPr>
        <p:spPr>
          <a:xfrm>
            <a:off x="5166360" y="50749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Venez avec vos questions, quel que soit votre niveau</a:t>
            </a:r>
          </a:p>
        </p:txBody>
      </p:sp>
      <p:sp>
        <p:nvSpPr>
          <p:cNvPr id="10" name="Freeform 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Démo débutant</a:t>
            </a:r>
          </a:p>
        </p:txBody>
      </p:sp>
      <p:sp>
        <p:nvSpPr>
          <p:cNvPr id="1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enablement — Démo débutant (environ 3 minutes)</dc:title>
  <dc:subject>Oz Radio AI enablement series</dc:subject>
  <dc:creator>Oz Radio</dc:creator>
  <cp:keywords>AI enablement; Oz Radio; Démo débutant</cp:keywords>
  <dc:description>Generated by scripts/generate_ai_enablement_pptx.py</dc:description>
  <cp:lastModifiedBy>Oz Radio</cp:lastModifiedBy>
  <cp:revision>1</cp:revision>
  <dcterms:created xsi:type="dcterms:W3CDTF">2026-10-01T09:00:00Z</dcterms:created>
  <dcterms:modified xsi:type="dcterms:W3CDTF">2026-10-01T09:00:00Z</dcterms:modified>
  <cp:category/>
  <cp:lastPrinted>2026-10-01T09:00:00Z</cp:lastPrinted>
</cp:coreProperties>
</file>