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session goes under the hood. Where the practitioner deck covered how to build with models, agents, and the Model Context Protocol, this one examines why these systems behave the way they do at a mechanical level: how tokenization and attention create both the power and the limits of a context window, what test-time compute actually buys you in a reasoning model, how quantization and local runtimes make open-weight models practical to run outside a data center, how experienced teams structure larger agent harnesses with planners and sub-agents, the specific security risks unique to the Model Context Protocol, the latency engineering behind realtime speech, and the governance structures that keep all of this accountable. I will reference original papers and primary specifications throughout, since claims at this level deserve a traceable source.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language models are built on the transformer architecture, introduced in the 2017 paper "Attention Is All You Need," which replaced earlier recurrent designs with a mechanism called self-attention. After a tokenizer splits text into subword units, self-attention computes, for every token, how strongly it should weigh every other token in the sequence when forming its next representation. This lets the model capture long-range relationships directly, rather than passing information step by step through a chain. The practical consequence is a computational and memory cost that grows roughly with the square of sequence length, because every token pair potentially needs a comparison. That quadratic growth is the root cause of context window limits, and much of the engineering effort behind longer-context models has gone into approximating or restructuring this attention computation more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a large context window does not guarantee a model will use all of it equally well. A widely cited 2023 study, "Lost in the Middle," by Liu and colleagues, found that language models tend to retrieve information most reliably when it appears near the beginning or the end of a long input, with accuracy dropping noticeably for relevant facts buried in the middle of the context. This matters directly for context engineering: simply appending more retrieved passages into a prompt does not mean the model will weigh them fairly. Practical mitigations include placing the most important material near the start or end, reordering retrieved chunks by relevance rather than by original document order, and keeping retrieved context as concise as possible rather than relying on sheer volume to carry the right answer through.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Reasoning models take a different path to better performance than simply training a larger model. Instead, they spend additional computation at inference time, working through a problem across multiple internal steps before producing a final answer, an approach generally described as test-time compute. Several platforms expose this as a tunable reasoning-effort setting, letting a developer trade latency and cost for deeper deliberation on harder requests, while leaving simple requests fast and cheap. This differs from a conventional model, which generates its response in roughly one pass per output token without an explicit internal deliberation stage. Because reasoning happens through extra generated steps, it also tends to consume more tokens overall, so cost and latency should be budgeted deliberately rather than assumed to match a non-reasoning call.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an open-weight model locally almost always involves quantization: reducing the numeric precision used to store each parameter, for example from a 32 or 16-bit floating-point format down to 8-bit or 4-bit integers. This shrinks the memory footprint dramatically and speeds up inference, at some cost to accuracy, though well-implemented quantization often preserves most of a model's practical quality. Open-source projects such as llama.cpp popularized running quantized open-weight models efficiently on ordinary laptops and even phones, across a range of bit-widths and hardware backends. Runtimes differ in their goals: llama.cpp and Ollama target local, single-user inference with minimal setup; vLLM targets high-throughput multi-user serving using techniques such as paged memory management for attention; and ONNX Runtime, an open, cross-platform inference engine used inside platforms such as Microsoft Foundry Local, focuses on portability across different hardware.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terms open-weight and open source are often used interchangeably in casual conversation, but they describe different things, and the distinction has real licensing consequences. An open-weight model is one where the trained parameters are published for download, but the training data, training code, or usage terms may still carry significant restrictions, including limits on commercial use or redistribution. The Open Source Initiative's Open Source AI Definition sets a stricter bar: it requires sufficiently detailed information about training data, the actual code used to train and run the system, and the parameters, all made available under open terms, so a skilled person could rebuild an equivalent system. Very few widely used models currently meet that full definition. Before adopting any model family, practitioners should read its actual licence text rather than assuming a label like open or open-weight implies unrestricted use.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tasks grow more complex, a single flat agent loop starts to struggle, because every tool definition, every intermediate result, and the full conversation history all compete for the same limited context window. A common pattern splits responsibilities: a planner model decomposes a goal into smaller sub-tasks, while one or more executor agents actually carry out each sub-task, often with their own narrower toolset and context. Sub-agents can run in isolated contexts, meaning each one only sees what is relevant to its specific piece of work, then reports a concise summary back up rather than its full internal transcript. This keeps any single context window from becoming overloaded, and it allows different sub-agents to specialize, for instance one focused on retrieval and another on code execution, which generally improves both reliability and the ability to debug failures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practices separate a fragile agent from a maintainable one. Context compaction periodically summarizes older parts of a long-running conversation or task instead of either keeping everything, which eventually overflows the context window, or crudely truncating it, which can silently drop something important. A good compaction strategy preserves decisions, open questions, and key facts while discarding redundant back-and-forth. Separately, regression evaluations apply the same discipline used for conventional software testing to prompts, tool definitions, and model or version changes: a fixed set of representative cases is scored automatically every time something changes, so a prompt edit or a model upgrade that quietly degrades quality on an important case gets caught before it reaches production, rather than being discovered through user complaints weeks later.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Model Context Protocol servers can expose powerful tools, their authorization model matters. The specification defines an OAuth 2.1-based flow for remote servers reached over streamable HTTP, including protected resource metadata so a client can discover the correct authorization server automatically, rather than relying on a hardcoded shared secret. Beyond authorization, the official security guidance recommends scoping every access token to the minimum set of permissions a given client actually needs, issuing separate credentials per server rather than one broad token reused everywhere, and requiring explicit, visible user consent before a server performs a sensitive action on the user's behalf. One documented risk is the confused deputy problem, where a proxy server's static client identifier combined with a cached consent cookie can let an attacker obtain an authorization code without the user genuinely approving it, which is specifically called out in MCP's security guidance.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closely related risks deserve special attention once an agent can call external tools. Tool poisoning happens when a malicious or compromised tool definition includes misleading names, descriptions, or embedded instructions designed to manipulate how the model behaves, exploiting the fact that the model reads tool metadata as part of its own context. Prompt injection, direct or indirect, is the broader category: direct injection comes from a user deliberately crafting adversarial input, while indirect injection hides malicious instructions inside content the agent processes later, such as a webpage, email, or document, content that is never seen or approved by a human. Mitigations recommended by groups such as the Open Web Application Security Project include constraining model behavior through strict system instructions, validating and filtering both inputs and outputs, and enforcing least-privilege access so that even a successfully manipulated agent cannot reach beyond its intended scope.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Natural spoken conversation depends on tight latency engineering around turn-taking. Voice activity detection continuously analyzes the incoming audio stream to decide when a person has started or stopped speaking, which determines when the system should begin generating a response. Barge-in support allows a user to interrupt the agent's spoken reply mid-sentence, the way people naturally interrupt each other, rather than forcing them to wait for a full response to finish. When an interruption happens, the system needs to reconcile what was actually heard by the user with what the agent intended to say; this is sometimes implemented as auto-truncation, where the recorded transcript is cut to match only the portion of audio that actually played before the interruption, so the model's own record of the conversation stays accurate rather than including words the user never heard.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the mechanics covered in this session, attention, quantization, planners, protocol security, and voice latency, ultimately sit inside a governance layer, and that layer deserves equal engineering attention. Voluntary frameworks such as the United States National Institute of Standards and Technology's AI Risk Management Framework organize this work around mapping risks, measuring them, and managing them continuously, rather than treating responsible AI as a one-time checklist. Vendors publish their own responsible AI principles for similar reasons, covering fairness, reliability, privacy, and accountability as concrete engineering requirements, not just marketing language. To recap this entire series: a model predicts patterns, an agent adds tools and a loop, the Model Context Protocol standardizes how tools connect, speech and avatars add a natural interface, and underneath all of it sit real trade-offs in context length, test-time compute, quantization, licensing, and security that deserve the same rigor as any other production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1051560"/>
            <a:ext cx="5943600" cy="1417320"/>
          </a:xfrm>
        </p:spPr>
        <p:txBody>
          <a:bodyPr wrap="square" lIns="18288" rIns="18288" tIns="10973" bIns="10973" anchor="t">
            <a:noAutofit/>
          </a:bodyPr>
          <a:lstStyle/>
          <a:p>
            <a:pPr algn="l">
              <a:lnSpc>
                <a:spcPct val="95000"/>
              </a:lnSpc>
            </a:pPr>
            <a:r>
              <a:rPr sz="4600" b="1" i="0">
                <a:solidFill>
                  <a:srgbClr val="16202F"/>
                </a:solidFill>
                <a:latin typeface="Calibri"/>
              </a:rPr>
              <a:t>Under the Hood</a:t>
            </a:r>
          </a:p>
        </p:txBody>
      </p:sp>
      <p:sp>
        <p:nvSpPr>
          <p:cNvPr id="3" name="eyebrow"/>
          <p:cNvSpPr txBox="1"/>
          <p:nvPr/>
        </p:nvSpPr>
        <p:spPr>
          <a:xfrm>
            <a:off x="502920" y="457200"/>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OZ RADIO · AI ENABLEMENT SERIES · PART 3 OF 3</a:t>
            </a:r>
          </a:p>
        </p:txBody>
      </p:sp>
      <p:sp>
        <p:nvSpPr>
          <p:cNvPr id="4" name="TextBox 3"/>
          <p:cNvSpPr txBox="1"/>
          <p:nvPr/>
        </p:nvSpPr>
        <p:spPr>
          <a:xfrm>
            <a:off x="502920" y="2487168"/>
            <a:ext cx="5943600" cy="457200"/>
          </a:xfrm>
          <a:prstGeom prst="rect">
            <a:avLst/>
          </a:prstGeom>
          <a:noFill/>
        </p:spPr>
        <p:txBody>
          <a:bodyPr wrap="square" lIns="18288" rIns="18288" tIns="10973" bIns="10973" anchor="t">
            <a:noAutofit/>
          </a:bodyPr>
          <a:lstStyle/>
          <a:p>
            <a:pPr algn="l"/>
            <a:r>
              <a:rPr sz="2000" b="0" i="0">
                <a:solidFill>
                  <a:srgbClr val="0F6CBD"/>
                </a:solidFill>
                <a:latin typeface="Calibri"/>
              </a:rPr>
              <a:t>Mechanics, trade-offs and security</a:t>
            </a:r>
          </a:p>
        </p:txBody>
      </p:sp>
      <p:sp>
        <p:nvSpPr>
          <p:cNvPr id="5" name="Expert · wants the internals"/>
          <p:cNvSpPr/>
          <p:nvPr/>
        </p:nvSpPr>
        <p:spPr>
          <a:xfrm>
            <a:off x="502920" y="3063240"/>
            <a:ext cx="3657600" cy="402336"/>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400" b="1" i="0">
                <a:solidFill>
                  <a:srgbClr val="16202F"/>
                </a:solidFill>
                <a:latin typeface="Calibri"/>
              </a:rPr>
              <a:t>Expert · wants the internals</a:t>
            </a:r>
          </a:p>
        </p:txBody>
      </p:sp>
      <p:sp>
        <p:nvSpPr>
          <p:cNvPr id="6" name="bullets"/>
          <p:cNvSpPr txBox="1"/>
          <p:nvPr/>
        </p:nvSpPr>
        <p:spPr>
          <a:xfrm>
            <a:off x="502920" y="3749040"/>
            <a:ext cx="5760720" cy="2286000"/>
          </a:xfrm>
          <a:prstGeom prst="rect">
            <a:avLst/>
          </a:prstGeom>
          <a:noFill/>
        </p:spPr>
        <p:txBody>
          <a:bodyPr wrap="square" lIns="18288" rIns="18288" tIns="10973" bIns="10973" anchor="t">
            <a:noAutofit/>
          </a:bodyPr>
          <a:lstStyle/>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For engineers who want internals</a:t>
            </a:r>
          </a:p>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Tokenization, attention, quantization, security</a:t>
            </a:r>
          </a:p>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Assumes practitioner-level familiarity</a:t>
            </a:r>
          </a:p>
        </p:txBody>
      </p:sp>
      <p:sp>
        <p:nvSpPr>
          <p:cNvPr id="7" name="visual panel"/>
          <p:cNvSpPr/>
          <p:nvPr/>
        </p:nvSpPr>
        <p:spPr>
          <a:xfrm>
            <a:off x="6720840" y="1097280"/>
            <a:ext cx="4965192" cy="4937760"/>
          </a:xfrm>
          <a:prstGeom prst="roundRect">
            <a:avLst>
              <a:gd name="adj" fmla="val 3333"/>
            </a:avLst>
          </a:prstGeom>
          <a:solidFill>
            <a:srgbClr val="F7F9FC"/>
          </a:solidFill>
          <a:ln w="15875">
            <a:solidFill>
              <a:srgbClr val="E2E8F2"/>
            </a:solidFill>
          </a:ln>
          <a:effectLst/>
        </p:spPr>
        <p:txBody>
          <a:bodyPr rtlCol="0" anchor="ctr"/>
          <a:lstStyle/>
          <a:p>
            <a:pPr algn="ctr"/>
          </a:p>
        </p:txBody>
      </p:sp>
      <p:sp>
        <p:nvSpPr>
          <p:cNvPr id="8" name="Oval 7"/>
          <p:cNvSpPr/>
          <p:nvPr/>
        </p:nvSpPr>
        <p:spPr>
          <a:xfrm>
            <a:off x="7178040" y="1600200"/>
            <a:ext cx="4023360" cy="4023360"/>
          </a:xfrm>
          <a:prstGeom prst="ellipse">
            <a:avLst/>
          </a:prstGeom>
          <a:solidFill>
            <a:srgbClr val="FFFFFF"/>
          </a:solidFill>
          <a:ln w="25400">
            <a:solidFill>
              <a:srgbClr val="0F6CBD"/>
            </a:solidFill>
          </a:ln>
          <a:effectLst/>
        </p:spPr>
        <p:txBody>
          <a:bodyPr rtlCol="0" anchor="ctr"/>
          <a:lstStyle/>
          <a:p>
            <a:pPr algn="ctr"/>
          </a:p>
        </p:txBody>
      </p:sp>
      <p:sp>
        <p:nvSpPr>
          <p:cNvPr id="9" name="Oval 8"/>
          <p:cNvSpPr/>
          <p:nvPr/>
        </p:nvSpPr>
        <p:spPr>
          <a:xfrm>
            <a:off x="7863840" y="2286000"/>
            <a:ext cx="2651760" cy="2651760"/>
          </a:xfrm>
          <a:prstGeom prst="ellipse">
            <a:avLst/>
          </a:prstGeom>
          <a:solidFill>
            <a:srgbClr val="FFFFFF"/>
          </a:solidFill>
          <a:ln w="25400">
            <a:solidFill>
              <a:srgbClr val="0F6CBD"/>
            </a:solidFill>
          </a:ln>
          <a:effectLst/>
        </p:spPr>
        <p:txBody>
          <a:bodyPr rtlCol="0" anchor="ctr"/>
          <a:lstStyle/>
          <a:p>
            <a:pPr algn="ctr"/>
          </a:p>
        </p:txBody>
      </p:sp>
      <p:sp>
        <p:nvSpPr>
          <p:cNvPr id="10" name="Oval 9"/>
          <p:cNvSpPr/>
          <p:nvPr/>
        </p:nvSpPr>
        <p:spPr>
          <a:xfrm>
            <a:off x="8481060" y="2903220"/>
            <a:ext cx="1417320" cy="1417320"/>
          </a:xfrm>
          <a:prstGeom prst="ellipse">
            <a:avLst/>
          </a:prstGeom>
          <a:solidFill>
            <a:srgbClr val="0F6CBD"/>
          </a:solidFill>
          <a:ln w="25400">
            <a:solidFill>
              <a:srgbClr val="0F6CBD"/>
            </a:solidFill>
          </a:ln>
          <a:effectLst/>
        </p:spPr>
        <p:txBody>
          <a:bodyPr rtlCol="0" anchor="ctr"/>
          <a:lstStyle/>
          <a:p>
            <a:pPr algn="ctr"/>
          </a:p>
        </p:txBody>
      </p:sp>
      <p:sp>
        <p:nvSpPr>
          <p:cNvPr id="11" name="TextBox 10"/>
          <p:cNvSpPr txBox="1"/>
          <p:nvPr/>
        </p:nvSpPr>
        <p:spPr>
          <a:xfrm>
            <a:off x="8503920" y="3383280"/>
            <a:ext cx="1371600" cy="457200"/>
          </a:xfrm>
          <a:prstGeom prst="rect">
            <a:avLst/>
          </a:prstGeom>
          <a:noFill/>
        </p:spPr>
        <p:txBody>
          <a:bodyPr wrap="square" lIns="18288" rIns="18288" tIns="10973" bIns="10973" anchor="t">
            <a:noAutofit/>
          </a:bodyPr>
          <a:lstStyle/>
          <a:p>
            <a:pPr algn="ctr"/>
            <a:r>
              <a:rPr sz="1800" b="1" i="0">
                <a:solidFill>
                  <a:srgbClr val="FFFFFF"/>
                </a:solidFill>
                <a:latin typeface="Calibri"/>
              </a:rPr>
              <a:t>Model</a:t>
            </a:r>
          </a:p>
        </p:txBody>
      </p:sp>
      <p:sp>
        <p:nvSpPr>
          <p:cNvPr id="12" name="TextBox 11"/>
          <p:cNvSpPr txBox="1"/>
          <p:nvPr/>
        </p:nvSpPr>
        <p:spPr>
          <a:xfrm>
            <a:off x="8275320" y="2350008"/>
            <a:ext cx="1828800" cy="365760"/>
          </a:xfrm>
          <a:prstGeom prst="rect">
            <a:avLst/>
          </a:prstGeom>
          <a:noFill/>
        </p:spPr>
        <p:txBody>
          <a:bodyPr wrap="square" lIns="18288" rIns="18288" tIns="10973" bIns="10973" anchor="t">
            <a:noAutofit/>
          </a:bodyPr>
          <a:lstStyle/>
          <a:p>
            <a:pPr algn="ctr"/>
            <a:r>
              <a:rPr sz="1500" b="1" i="0">
                <a:solidFill>
                  <a:srgbClr val="0F6CBD"/>
                </a:solidFill>
                <a:latin typeface="Calibri"/>
              </a:rPr>
              <a:t>Harness</a:t>
            </a:r>
          </a:p>
        </p:txBody>
      </p:sp>
      <p:sp>
        <p:nvSpPr>
          <p:cNvPr id="13" name="TextBox 12"/>
          <p:cNvSpPr txBox="1"/>
          <p:nvPr/>
        </p:nvSpPr>
        <p:spPr>
          <a:xfrm>
            <a:off x="8183880" y="5001768"/>
            <a:ext cx="2011680" cy="365760"/>
          </a:xfrm>
          <a:prstGeom prst="rect">
            <a:avLst/>
          </a:prstGeom>
          <a:noFill/>
        </p:spPr>
        <p:txBody>
          <a:bodyPr wrap="square" lIns="18288" rIns="18288" tIns="10973" bIns="10973" anchor="t">
            <a:noAutofit/>
          </a:bodyPr>
          <a:lstStyle/>
          <a:p>
            <a:pPr algn="ctr"/>
            <a:r>
              <a:rPr sz="1300" b="1" i="0">
                <a:solidFill>
                  <a:srgbClr val="C2620A"/>
                </a:solidFill>
                <a:latin typeface="Calibri"/>
              </a:rPr>
              <a:t>Governance &amp; security</a:t>
            </a:r>
          </a:p>
        </p:txBody>
      </p:sp>
      <p:sp>
        <p:nvSpPr>
          <p:cNvPr id="14" name="Freeform 13"/>
          <p:cNvSpPr/>
          <p:nvPr/>
        </p:nvSpPr>
        <p:spPr>
          <a:xfrm>
            <a:off x="11149645" y="4423708"/>
            <a:ext cx="236543" cy="97979"/>
          </a:xfrm>
          <a:custGeom>
            <a:avLst/>
            <a:gdLst/>
            <a:ahLst/>
            <a:cxnLst/>
            <a:rect l="l" t="t" r="r" b="b"/>
            <a:pathLst>
              <a:path w="236543" h="97979">
                <a:moveTo>
                  <a:pt x="0" y="0"/>
                </a:moveTo>
                <a:lnTo>
                  <a:pt x="236543" y="97979"/>
                </a:lnTo>
              </a:path>
            </a:pathLst>
          </a:custGeom>
          <a:noFill/>
          <a:ln w="28575">
            <a:solidFill>
              <a:srgbClr val="C2620A"/>
            </a:solidFill>
          </a:ln>
          <a:effectLst/>
        </p:spPr>
        <p:txBody>
          <a:bodyPr rtlCol="0" anchor="ctr"/>
          <a:lstStyle/>
          <a:p>
            <a:pPr algn="ctr"/>
          </a:p>
        </p:txBody>
      </p:sp>
      <p:sp>
        <p:nvSpPr>
          <p:cNvPr id="15" name="Freeform 14"/>
          <p:cNvSpPr/>
          <p:nvPr/>
        </p:nvSpPr>
        <p:spPr>
          <a:xfrm>
            <a:off x="10001548" y="5571805"/>
            <a:ext cx="97979" cy="236543"/>
          </a:xfrm>
          <a:custGeom>
            <a:avLst/>
            <a:gdLst/>
            <a:ahLst/>
            <a:cxnLst/>
            <a:rect l="l" t="t" r="r" b="b"/>
            <a:pathLst>
              <a:path w="97979" h="236543">
                <a:moveTo>
                  <a:pt x="0" y="0"/>
                </a:moveTo>
                <a:lnTo>
                  <a:pt x="97979" y="236543"/>
                </a:lnTo>
              </a:path>
            </a:pathLst>
          </a:custGeom>
          <a:noFill/>
          <a:ln w="28575">
            <a:solidFill>
              <a:srgbClr val="C2620A"/>
            </a:solidFill>
          </a:ln>
          <a:effectLst/>
        </p:spPr>
        <p:txBody>
          <a:bodyPr rtlCol="0" anchor="ctr"/>
          <a:lstStyle/>
          <a:p>
            <a:pPr algn="ctr"/>
          </a:p>
        </p:txBody>
      </p:sp>
      <p:sp>
        <p:nvSpPr>
          <p:cNvPr id="16" name="Freeform 15"/>
          <p:cNvSpPr/>
          <p:nvPr/>
        </p:nvSpPr>
        <p:spPr>
          <a:xfrm>
            <a:off x="8279913" y="5571805"/>
            <a:ext cx="97979" cy="236543"/>
          </a:xfrm>
          <a:custGeom>
            <a:avLst/>
            <a:gdLst/>
            <a:ahLst/>
            <a:cxnLst/>
            <a:rect l="l" t="t" r="r" b="b"/>
            <a:pathLst>
              <a:path w="97979" h="236543">
                <a:moveTo>
                  <a:pt x="97979" y="0"/>
                </a:moveTo>
                <a:lnTo>
                  <a:pt x="0" y="236543"/>
                </a:lnTo>
              </a:path>
            </a:pathLst>
          </a:custGeom>
          <a:noFill/>
          <a:ln w="28575">
            <a:solidFill>
              <a:srgbClr val="C2620A"/>
            </a:solidFill>
          </a:ln>
          <a:effectLst/>
        </p:spPr>
        <p:txBody>
          <a:bodyPr rtlCol="0" anchor="ctr"/>
          <a:lstStyle/>
          <a:p>
            <a:pPr algn="ctr"/>
          </a:p>
        </p:txBody>
      </p:sp>
      <p:sp>
        <p:nvSpPr>
          <p:cNvPr id="17" name="Freeform 16"/>
          <p:cNvSpPr/>
          <p:nvPr/>
        </p:nvSpPr>
        <p:spPr>
          <a:xfrm>
            <a:off x="6993252" y="4423708"/>
            <a:ext cx="236543" cy="97979"/>
          </a:xfrm>
          <a:custGeom>
            <a:avLst/>
            <a:gdLst/>
            <a:ahLst/>
            <a:cxnLst/>
            <a:rect l="l" t="t" r="r" b="b"/>
            <a:pathLst>
              <a:path w="236543" h="97979">
                <a:moveTo>
                  <a:pt x="236543" y="0"/>
                </a:moveTo>
                <a:lnTo>
                  <a:pt x="0" y="97979"/>
                </a:lnTo>
              </a:path>
            </a:pathLst>
          </a:custGeom>
          <a:noFill/>
          <a:ln w="28575">
            <a:solidFill>
              <a:srgbClr val="C2620A"/>
            </a:solidFill>
          </a:ln>
          <a:effectLst/>
        </p:spPr>
        <p:txBody>
          <a:bodyPr rtlCol="0" anchor="ctr"/>
          <a:lstStyle/>
          <a:p>
            <a:pPr algn="ctr"/>
          </a:p>
        </p:txBody>
      </p:sp>
      <p:sp>
        <p:nvSpPr>
          <p:cNvPr id="18" name="Freeform 17"/>
          <p:cNvSpPr/>
          <p:nvPr/>
        </p:nvSpPr>
        <p:spPr>
          <a:xfrm>
            <a:off x="6993252" y="2702073"/>
            <a:ext cx="236543" cy="97979"/>
          </a:xfrm>
          <a:custGeom>
            <a:avLst/>
            <a:gdLst/>
            <a:ahLst/>
            <a:cxnLst/>
            <a:rect l="l" t="t" r="r" b="b"/>
            <a:pathLst>
              <a:path w="236543" h="97979">
                <a:moveTo>
                  <a:pt x="236543" y="97979"/>
                </a:moveTo>
                <a:lnTo>
                  <a:pt x="0" y="0"/>
                </a:lnTo>
              </a:path>
            </a:pathLst>
          </a:custGeom>
          <a:noFill/>
          <a:ln w="28575">
            <a:solidFill>
              <a:srgbClr val="C2620A"/>
            </a:solidFill>
          </a:ln>
          <a:effectLst/>
        </p:spPr>
        <p:txBody>
          <a:bodyPr rtlCol="0" anchor="ctr"/>
          <a:lstStyle/>
          <a:p>
            <a:pPr algn="ctr"/>
          </a:p>
        </p:txBody>
      </p:sp>
      <p:sp>
        <p:nvSpPr>
          <p:cNvPr id="19" name="Freeform 18"/>
          <p:cNvSpPr/>
          <p:nvPr/>
        </p:nvSpPr>
        <p:spPr>
          <a:xfrm>
            <a:off x="8279913" y="1415412"/>
            <a:ext cx="97979" cy="236543"/>
          </a:xfrm>
          <a:custGeom>
            <a:avLst/>
            <a:gdLst/>
            <a:ahLst/>
            <a:cxnLst/>
            <a:rect l="l" t="t" r="r" b="b"/>
            <a:pathLst>
              <a:path w="97979" h="236543">
                <a:moveTo>
                  <a:pt x="97979" y="236543"/>
                </a:moveTo>
                <a:lnTo>
                  <a:pt x="0" y="0"/>
                </a:lnTo>
              </a:path>
            </a:pathLst>
          </a:custGeom>
          <a:noFill/>
          <a:ln w="28575">
            <a:solidFill>
              <a:srgbClr val="C2620A"/>
            </a:solidFill>
          </a:ln>
          <a:effectLst/>
        </p:spPr>
        <p:txBody>
          <a:bodyPr rtlCol="0" anchor="ctr"/>
          <a:lstStyle/>
          <a:p>
            <a:pPr algn="ctr"/>
          </a:p>
        </p:txBody>
      </p:sp>
      <p:sp>
        <p:nvSpPr>
          <p:cNvPr id="20" name="Freeform 19"/>
          <p:cNvSpPr/>
          <p:nvPr/>
        </p:nvSpPr>
        <p:spPr>
          <a:xfrm>
            <a:off x="10001548" y="1415412"/>
            <a:ext cx="97979" cy="236543"/>
          </a:xfrm>
          <a:custGeom>
            <a:avLst/>
            <a:gdLst/>
            <a:ahLst/>
            <a:cxnLst/>
            <a:rect l="l" t="t" r="r" b="b"/>
            <a:pathLst>
              <a:path w="97979" h="236543">
                <a:moveTo>
                  <a:pt x="0" y="236543"/>
                </a:moveTo>
                <a:lnTo>
                  <a:pt x="97979" y="0"/>
                </a:lnTo>
              </a:path>
            </a:pathLst>
          </a:custGeom>
          <a:noFill/>
          <a:ln w="28575">
            <a:solidFill>
              <a:srgbClr val="C2620A"/>
            </a:solidFill>
          </a:ln>
          <a:effectLst/>
        </p:spPr>
        <p:txBody>
          <a:bodyPr rtlCol="0" anchor="ctr"/>
          <a:lstStyle/>
          <a:p>
            <a:pPr algn="ctr"/>
          </a:p>
        </p:txBody>
      </p:sp>
      <p:sp>
        <p:nvSpPr>
          <p:cNvPr id="21" name="Freeform 20"/>
          <p:cNvSpPr/>
          <p:nvPr/>
        </p:nvSpPr>
        <p:spPr>
          <a:xfrm>
            <a:off x="11149645" y="2702073"/>
            <a:ext cx="236543" cy="97979"/>
          </a:xfrm>
          <a:custGeom>
            <a:avLst/>
            <a:gdLst/>
            <a:ahLst/>
            <a:cxnLst/>
            <a:rect l="l" t="t" r="r" b="b"/>
            <a:pathLst>
              <a:path w="236543" h="97979">
                <a:moveTo>
                  <a:pt x="0" y="97979"/>
                </a:moveTo>
                <a:lnTo>
                  <a:pt x="236543" y="0"/>
                </a:lnTo>
              </a:path>
            </a:pathLst>
          </a:custGeom>
          <a:noFill/>
          <a:ln w="28575">
            <a:solidFill>
              <a:srgbClr val="C2620A"/>
            </a:solidFill>
          </a:ln>
          <a:effectLst/>
        </p:spPr>
        <p:txBody>
          <a:bodyPr rtlCol="0" anchor="ctr"/>
          <a:lstStyle/>
          <a:p>
            <a:pPr algn="ctr"/>
          </a:p>
        </p:txBody>
      </p:sp>
      <p:sp>
        <p:nvSpPr>
          <p:cNvPr id="22" name="Freeform 21"/>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3"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24"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Tokenization and attention</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TRANSFORMERS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Subword tokenization builds the vocabulary</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Self-attention relates every token pair</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Cost grows with sequence length</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TextBox 5"/>
          <p:cNvSpPr txBox="1"/>
          <p:nvPr/>
        </p:nvSpPr>
        <p:spPr>
          <a:xfrm>
            <a:off x="5120640" y="2395728"/>
            <a:ext cx="1005840" cy="402336"/>
          </a:xfrm>
          <a:prstGeom prst="rect">
            <a:avLst/>
          </a:prstGeom>
          <a:noFill/>
        </p:spPr>
        <p:txBody>
          <a:bodyPr wrap="square" lIns="18288" rIns="18288" tIns="10973" bIns="10973" anchor="ctr">
            <a:noAutofit/>
          </a:bodyPr>
          <a:lstStyle/>
          <a:p>
            <a:pPr algn="r"/>
            <a:r>
              <a:rPr sz="1300" b="0" i="0">
                <a:solidFill>
                  <a:srgbClr val="16202F"/>
                </a:solidFill>
                <a:latin typeface="Calibri"/>
              </a:rPr>
              <a:t>The</a:t>
            </a:r>
          </a:p>
        </p:txBody>
      </p:sp>
      <p:sp>
        <p:nvSpPr>
          <p:cNvPr id="7" name="TextBox 6"/>
          <p:cNvSpPr txBox="1"/>
          <p:nvPr/>
        </p:nvSpPr>
        <p:spPr>
          <a:xfrm>
            <a:off x="6035040" y="2011680"/>
            <a:ext cx="676656" cy="320040"/>
          </a:xfrm>
          <a:prstGeom prst="rect">
            <a:avLst/>
          </a:prstGeom>
          <a:noFill/>
        </p:spPr>
        <p:txBody>
          <a:bodyPr wrap="square" lIns="18288" rIns="18288" tIns="10973" bIns="10973" anchor="t">
            <a:noAutofit/>
          </a:bodyPr>
          <a:lstStyle/>
          <a:p>
            <a:pPr algn="ctr"/>
            <a:r>
              <a:rPr sz="1100" b="0" i="0">
                <a:solidFill>
                  <a:srgbClr val="53617A"/>
                </a:solidFill>
                <a:latin typeface="Calibri"/>
              </a:rPr>
              <a:t>The</a:t>
            </a:r>
          </a:p>
        </p:txBody>
      </p:sp>
      <p:sp>
        <p:nvSpPr>
          <p:cNvPr id="8" name="Rectangle 7"/>
          <p:cNvSpPr/>
          <p:nvPr/>
        </p:nvSpPr>
        <p:spPr>
          <a:xfrm>
            <a:off x="6172200" y="2377440"/>
            <a:ext cx="402336" cy="402336"/>
          </a:xfrm>
          <a:prstGeom prst="rect">
            <a:avLst/>
          </a:prstGeom>
          <a:solidFill>
            <a:srgbClr val="B2D0EA"/>
          </a:solidFill>
          <a:ln w="9525">
            <a:solidFill>
              <a:srgbClr val="E2E8F2"/>
            </a:solidFill>
          </a:ln>
          <a:effectLst/>
        </p:spPr>
        <p:txBody>
          <a:bodyPr rtlCol="0" anchor="ctr"/>
          <a:lstStyle/>
          <a:p>
            <a:pPr algn="ctr"/>
          </a:p>
        </p:txBody>
      </p:sp>
      <p:sp>
        <p:nvSpPr>
          <p:cNvPr id="9" name="Rectangle 8"/>
          <p:cNvSpPr/>
          <p:nvPr/>
        </p:nvSpPr>
        <p:spPr>
          <a:xfrm>
            <a:off x="6574536" y="2377440"/>
            <a:ext cx="402336" cy="402336"/>
          </a:xfrm>
          <a:prstGeom prst="rect">
            <a:avLst/>
          </a:prstGeom>
          <a:solidFill>
            <a:srgbClr val="F1F6FB"/>
          </a:solidFill>
          <a:ln w="9525">
            <a:solidFill>
              <a:srgbClr val="E2E8F2"/>
            </a:solidFill>
          </a:ln>
          <a:effectLst/>
        </p:spPr>
        <p:txBody>
          <a:bodyPr rtlCol="0" anchor="ctr"/>
          <a:lstStyle/>
          <a:p>
            <a:pPr algn="ctr"/>
          </a:p>
        </p:txBody>
      </p:sp>
      <p:sp>
        <p:nvSpPr>
          <p:cNvPr id="10" name="Rectangle 9"/>
          <p:cNvSpPr/>
          <p:nvPr/>
        </p:nvSpPr>
        <p:spPr>
          <a:xfrm>
            <a:off x="6976872" y="2377440"/>
            <a:ext cx="402336" cy="402336"/>
          </a:xfrm>
          <a:prstGeom prst="rect">
            <a:avLst/>
          </a:prstGeom>
          <a:solidFill>
            <a:srgbClr val="F1F6FB"/>
          </a:solidFill>
          <a:ln w="9525">
            <a:solidFill>
              <a:srgbClr val="E2E8F2"/>
            </a:solidFill>
          </a:ln>
          <a:effectLst/>
        </p:spPr>
        <p:txBody>
          <a:bodyPr rtlCol="0" anchor="ctr"/>
          <a:lstStyle/>
          <a:p>
            <a:pPr algn="ctr"/>
          </a:p>
        </p:txBody>
      </p:sp>
      <p:sp>
        <p:nvSpPr>
          <p:cNvPr id="11" name="Rectangle 10"/>
          <p:cNvSpPr/>
          <p:nvPr/>
        </p:nvSpPr>
        <p:spPr>
          <a:xfrm>
            <a:off x="7379208" y="2377440"/>
            <a:ext cx="402336" cy="402336"/>
          </a:xfrm>
          <a:prstGeom prst="rect">
            <a:avLst/>
          </a:prstGeom>
          <a:solidFill>
            <a:srgbClr val="F1F6FB"/>
          </a:solidFill>
          <a:ln w="9525">
            <a:solidFill>
              <a:srgbClr val="E2E8F2"/>
            </a:solidFill>
          </a:ln>
          <a:effectLst/>
        </p:spPr>
        <p:txBody>
          <a:bodyPr rtlCol="0" anchor="ctr"/>
          <a:lstStyle/>
          <a:p>
            <a:pPr algn="ctr"/>
          </a:p>
        </p:txBody>
      </p:sp>
      <p:sp>
        <p:nvSpPr>
          <p:cNvPr id="12" name="Rectangle 11"/>
          <p:cNvSpPr/>
          <p:nvPr/>
        </p:nvSpPr>
        <p:spPr>
          <a:xfrm>
            <a:off x="7781544" y="2377440"/>
            <a:ext cx="402336" cy="402336"/>
          </a:xfrm>
          <a:prstGeom prst="rect">
            <a:avLst/>
          </a:prstGeom>
          <a:solidFill>
            <a:srgbClr val="F1F6FB"/>
          </a:solidFill>
          <a:ln w="9525">
            <a:solidFill>
              <a:srgbClr val="E2E8F2"/>
            </a:solidFill>
          </a:ln>
          <a:effectLst/>
        </p:spPr>
        <p:txBody>
          <a:bodyPr rtlCol="0" anchor="ctr"/>
          <a:lstStyle/>
          <a:p>
            <a:pPr algn="ctr"/>
          </a:p>
        </p:txBody>
      </p:sp>
      <p:sp>
        <p:nvSpPr>
          <p:cNvPr id="13" name="Rectangle 12"/>
          <p:cNvSpPr/>
          <p:nvPr/>
        </p:nvSpPr>
        <p:spPr>
          <a:xfrm>
            <a:off x="8183880" y="2377440"/>
            <a:ext cx="402336" cy="402336"/>
          </a:xfrm>
          <a:prstGeom prst="rect">
            <a:avLst/>
          </a:prstGeom>
          <a:solidFill>
            <a:srgbClr val="F1F6FB"/>
          </a:solidFill>
          <a:ln w="9525">
            <a:solidFill>
              <a:srgbClr val="E2E8F2"/>
            </a:solidFill>
          </a:ln>
          <a:effectLst/>
        </p:spPr>
        <p:txBody>
          <a:bodyPr rtlCol="0" anchor="ctr"/>
          <a:lstStyle/>
          <a:p>
            <a:pPr algn="ctr"/>
          </a:p>
        </p:txBody>
      </p:sp>
      <p:sp>
        <p:nvSpPr>
          <p:cNvPr id="14" name="Rectangle 13"/>
          <p:cNvSpPr/>
          <p:nvPr/>
        </p:nvSpPr>
        <p:spPr>
          <a:xfrm>
            <a:off x="8586216" y="2377440"/>
            <a:ext cx="402336" cy="402336"/>
          </a:xfrm>
          <a:prstGeom prst="rect">
            <a:avLst/>
          </a:prstGeom>
          <a:solidFill>
            <a:srgbClr val="F1F6FB"/>
          </a:solidFill>
          <a:ln w="9525">
            <a:solidFill>
              <a:srgbClr val="E2E8F2"/>
            </a:solidFill>
          </a:ln>
          <a:effectLst/>
        </p:spPr>
        <p:txBody>
          <a:bodyPr rtlCol="0" anchor="ctr"/>
          <a:lstStyle/>
          <a:p>
            <a:pPr algn="ctr"/>
          </a:p>
        </p:txBody>
      </p:sp>
      <p:sp>
        <p:nvSpPr>
          <p:cNvPr id="15" name="Rectangle 14"/>
          <p:cNvSpPr/>
          <p:nvPr/>
        </p:nvSpPr>
        <p:spPr>
          <a:xfrm>
            <a:off x="8988552" y="2377440"/>
            <a:ext cx="402336" cy="402336"/>
          </a:xfrm>
          <a:prstGeom prst="rect">
            <a:avLst/>
          </a:prstGeom>
          <a:solidFill>
            <a:srgbClr val="F1F6FB"/>
          </a:solidFill>
          <a:ln w="9525">
            <a:solidFill>
              <a:srgbClr val="E2E8F2"/>
            </a:solidFill>
          </a:ln>
          <a:effectLst/>
        </p:spPr>
        <p:txBody>
          <a:bodyPr rtlCol="0" anchor="ctr"/>
          <a:lstStyle/>
          <a:p>
            <a:pPr algn="ctr"/>
          </a:p>
        </p:txBody>
      </p:sp>
      <p:sp>
        <p:nvSpPr>
          <p:cNvPr id="16" name="TextBox 15"/>
          <p:cNvSpPr txBox="1"/>
          <p:nvPr/>
        </p:nvSpPr>
        <p:spPr>
          <a:xfrm>
            <a:off x="5120640" y="2798064"/>
            <a:ext cx="1005840" cy="402336"/>
          </a:xfrm>
          <a:prstGeom prst="rect">
            <a:avLst/>
          </a:prstGeom>
          <a:noFill/>
        </p:spPr>
        <p:txBody>
          <a:bodyPr wrap="square" lIns="18288" rIns="18288" tIns="10973" bIns="10973" anchor="ctr">
            <a:noAutofit/>
          </a:bodyPr>
          <a:lstStyle/>
          <a:p>
            <a:pPr algn="r"/>
            <a:r>
              <a:rPr sz="1300" b="0" i="0">
                <a:solidFill>
                  <a:srgbClr val="16202F"/>
                </a:solidFill>
                <a:latin typeface="Calibri"/>
              </a:rPr>
              <a:t>cat</a:t>
            </a:r>
          </a:p>
        </p:txBody>
      </p:sp>
      <p:sp>
        <p:nvSpPr>
          <p:cNvPr id="17" name="TextBox 16"/>
          <p:cNvSpPr txBox="1"/>
          <p:nvPr/>
        </p:nvSpPr>
        <p:spPr>
          <a:xfrm>
            <a:off x="6437376" y="2011680"/>
            <a:ext cx="676656" cy="320040"/>
          </a:xfrm>
          <a:prstGeom prst="rect">
            <a:avLst/>
          </a:prstGeom>
          <a:noFill/>
        </p:spPr>
        <p:txBody>
          <a:bodyPr wrap="square" lIns="18288" rIns="18288" tIns="10973" bIns="10973" anchor="t">
            <a:noAutofit/>
          </a:bodyPr>
          <a:lstStyle/>
          <a:p>
            <a:pPr algn="ctr"/>
            <a:r>
              <a:rPr sz="1100" b="0" i="0">
                <a:solidFill>
                  <a:srgbClr val="53617A"/>
                </a:solidFill>
                <a:latin typeface="Calibri"/>
              </a:rPr>
              <a:t>cat</a:t>
            </a:r>
          </a:p>
        </p:txBody>
      </p:sp>
      <p:sp>
        <p:nvSpPr>
          <p:cNvPr id="18" name="Rectangle 17"/>
          <p:cNvSpPr/>
          <p:nvPr/>
        </p:nvSpPr>
        <p:spPr>
          <a:xfrm>
            <a:off x="6172200" y="2779776"/>
            <a:ext cx="402336" cy="402336"/>
          </a:xfrm>
          <a:prstGeom prst="rect">
            <a:avLst/>
          </a:prstGeom>
          <a:solidFill>
            <a:srgbClr val="F1F6FB"/>
          </a:solidFill>
          <a:ln w="9525">
            <a:solidFill>
              <a:srgbClr val="E2E8F2"/>
            </a:solidFill>
          </a:ln>
          <a:effectLst/>
        </p:spPr>
        <p:txBody>
          <a:bodyPr rtlCol="0" anchor="ctr"/>
          <a:lstStyle/>
          <a:p>
            <a:pPr algn="ctr"/>
          </a:p>
        </p:txBody>
      </p:sp>
      <p:sp>
        <p:nvSpPr>
          <p:cNvPr id="19" name="Rectangle 18"/>
          <p:cNvSpPr/>
          <p:nvPr/>
        </p:nvSpPr>
        <p:spPr>
          <a:xfrm>
            <a:off x="6574536" y="2779776"/>
            <a:ext cx="402336" cy="402336"/>
          </a:xfrm>
          <a:prstGeom prst="rect">
            <a:avLst/>
          </a:prstGeom>
          <a:solidFill>
            <a:srgbClr val="B2D0EA"/>
          </a:solidFill>
          <a:ln w="9525">
            <a:solidFill>
              <a:srgbClr val="E2E8F2"/>
            </a:solidFill>
          </a:ln>
          <a:effectLst/>
        </p:spPr>
        <p:txBody>
          <a:bodyPr rtlCol="0" anchor="ctr"/>
          <a:lstStyle/>
          <a:p>
            <a:pPr algn="ctr"/>
          </a:p>
        </p:txBody>
      </p:sp>
      <p:sp>
        <p:nvSpPr>
          <p:cNvPr id="20" name="Rectangle 19"/>
          <p:cNvSpPr/>
          <p:nvPr/>
        </p:nvSpPr>
        <p:spPr>
          <a:xfrm>
            <a:off x="6976872" y="2779776"/>
            <a:ext cx="402336" cy="402336"/>
          </a:xfrm>
          <a:prstGeom prst="rect">
            <a:avLst/>
          </a:prstGeom>
          <a:solidFill>
            <a:srgbClr val="F1F6FB"/>
          </a:solidFill>
          <a:ln w="9525">
            <a:solidFill>
              <a:srgbClr val="E2E8F2"/>
            </a:solidFill>
          </a:ln>
          <a:effectLst/>
        </p:spPr>
        <p:txBody>
          <a:bodyPr rtlCol="0" anchor="ctr"/>
          <a:lstStyle/>
          <a:p>
            <a:pPr algn="ctr"/>
          </a:p>
        </p:txBody>
      </p:sp>
      <p:sp>
        <p:nvSpPr>
          <p:cNvPr id="21" name="Rectangle 20"/>
          <p:cNvSpPr/>
          <p:nvPr/>
        </p:nvSpPr>
        <p:spPr>
          <a:xfrm>
            <a:off x="7379208" y="2779776"/>
            <a:ext cx="402336" cy="402336"/>
          </a:xfrm>
          <a:prstGeom prst="rect">
            <a:avLst/>
          </a:prstGeom>
          <a:solidFill>
            <a:srgbClr val="F1F6FB"/>
          </a:solidFill>
          <a:ln w="9525">
            <a:solidFill>
              <a:srgbClr val="E2E8F2"/>
            </a:solidFill>
          </a:ln>
          <a:effectLst/>
        </p:spPr>
        <p:txBody>
          <a:bodyPr rtlCol="0" anchor="ctr"/>
          <a:lstStyle/>
          <a:p>
            <a:pPr algn="ctr"/>
          </a:p>
        </p:txBody>
      </p:sp>
      <p:sp>
        <p:nvSpPr>
          <p:cNvPr id="22" name="Rectangle 21"/>
          <p:cNvSpPr/>
          <p:nvPr/>
        </p:nvSpPr>
        <p:spPr>
          <a:xfrm>
            <a:off x="7781544" y="2779776"/>
            <a:ext cx="402336" cy="402336"/>
          </a:xfrm>
          <a:prstGeom prst="rect">
            <a:avLst/>
          </a:prstGeom>
          <a:solidFill>
            <a:srgbClr val="F1F6FB"/>
          </a:solidFill>
          <a:ln w="9525">
            <a:solidFill>
              <a:srgbClr val="E2E8F2"/>
            </a:solidFill>
          </a:ln>
          <a:effectLst/>
        </p:spPr>
        <p:txBody>
          <a:bodyPr rtlCol="0" anchor="ctr"/>
          <a:lstStyle/>
          <a:p>
            <a:pPr algn="ctr"/>
          </a:p>
        </p:txBody>
      </p:sp>
      <p:sp>
        <p:nvSpPr>
          <p:cNvPr id="23" name="Rectangle 22"/>
          <p:cNvSpPr/>
          <p:nvPr/>
        </p:nvSpPr>
        <p:spPr>
          <a:xfrm>
            <a:off x="8183880" y="2779776"/>
            <a:ext cx="402336" cy="402336"/>
          </a:xfrm>
          <a:prstGeom prst="rect">
            <a:avLst/>
          </a:prstGeom>
          <a:solidFill>
            <a:srgbClr val="F1F6FB"/>
          </a:solidFill>
          <a:ln w="9525">
            <a:solidFill>
              <a:srgbClr val="E2E8F2"/>
            </a:solidFill>
          </a:ln>
          <a:effectLst/>
        </p:spPr>
        <p:txBody>
          <a:bodyPr rtlCol="0" anchor="ctr"/>
          <a:lstStyle/>
          <a:p>
            <a:pPr algn="ctr"/>
          </a:p>
        </p:txBody>
      </p:sp>
      <p:sp>
        <p:nvSpPr>
          <p:cNvPr id="24" name="Rectangle 23"/>
          <p:cNvSpPr/>
          <p:nvPr/>
        </p:nvSpPr>
        <p:spPr>
          <a:xfrm>
            <a:off x="8586216" y="2779776"/>
            <a:ext cx="402336" cy="402336"/>
          </a:xfrm>
          <a:prstGeom prst="rect">
            <a:avLst/>
          </a:prstGeom>
          <a:solidFill>
            <a:srgbClr val="F1F6FB"/>
          </a:solidFill>
          <a:ln w="9525">
            <a:solidFill>
              <a:srgbClr val="E2E8F2"/>
            </a:solidFill>
          </a:ln>
          <a:effectLst/>
        </p:spPr>
        <p:txBody>
          <a:bodyPr rtlCol="0" anchor="ctr"/>
          <a:lstStyle/>
          <a:p>
            <a:pPr algn="ctr"/>
          </a:p>
        </p:txBody>
      </p:sp>
      <p:sp>
        <p:nvSpPr>
          <p:cNvPr id="25" name="Rectangle 24"/>
          <p:cNvSpPr/>
          <p:nvPr/>
        </p:nvSpPr>
        <p:spPr>
          <a:xfrm>
            <a:off x="8988552" y="2779776"/>
            <a:ext cx="402336" cy="402336"/>
          </a:xfrm>
          <a:prstGeom prst="rect">
            <a:avLst/>
          </a:prstGeom>
          <a:solidFill>
            <a:srgbClr val="F1F6FB"/>
          </a:solidFill>
          <a:ln w="9525">
            <a:solidFill>
              <a:srgbClr val="E2E8F2"/>
            </a:solidFill>
          </a:ln>
          <a:effectLst/>
        </p:spPr>
        <p:txBody>
          <a:bodyPr rtlCol="0" anchor="ctr"/>
          <a:lstStyle/>
          <a:p>
            <a:pPr algn="ctr"/>
          </a:p>
        </p:txBody>
      </p:sp>
      <p:sp>
        <p:nvSpPr>
          <p:cNvPr id="26" name="TextBox 25"/>
          <p:cNvSpPr txBox="1"/>
          <p:nvPr/>
        </p:nvSpPr>
        <p:spPr>
          <a:xfrm>
            <a:off x="5120640" y="3200400"/>
            <a:ext cx="1005840" cy="402336"/>
          </a:xfrm>
          <a:prstGeom prst="rect">
            <a:avLst/>
          </a:prstGeom>
          <a:noFill/>
        </p:spPr>
        <p:txBody>
          <a:bodyPr wrap="square" lIns="18288" rIns="18288" tIns="10973" bIns="10973" anchor="ctr">
            <a:noAutofit/>
          </a:bodyPr>
          <a:lstStyle/>
          <a:p>
            <a:pPr algn="r"/>
            <a:r>
              <a:rPr sz="1300" b="0" i="0">
                <a:solidFill>
                  <a:srgbClr val="16202F"/>
                </a:solidFill>
                <a:latin typeface="Calibri"/>
              </a:rPr>
              <a:t>sat</a:t>
            </a:r>
          </a:p>
        </p:txBody>
      </p:sp>
      <p:sp>
        <p:nvSpPr>
          <p:cNvPr id="27" name="TextBox 26"/>
          <p:cNvSpPr txBox="1"/>
          <p:nvPr/>
        </p:nvSpPr>
        <p:spPr>
          <a:xfrm>
            <a:off x="6839712" y="2011680"/>
            <a:ext cx="676656" cy="320040"/>
          </a:xfrm>
          <a:prstGeom prst="rect">
            <a:avLst/>
          </a:prstGeom>
          <a:noFill/>
        </p:spPr>
        <p:txBody>
          <a:bodyPr wrap="square" lIns="18288" rIns="18288" tIns="10973" bIns="10973" anchor="t">
            <a:noAutofit/>
          </a:bodyPr>
          <a:lstStyle/>
          <a:p>
            <a:pPr algn="ctr"/>
            <a:r>
              <a:rPr sz="1100" b="0" i="0">
                <a:solidFill>
                  <a:srgbClr val="53617A"/>
                </a:solidFill>
                <a:latin typeface="Calibri"/>
              </a:rPr>
              <a:t>sat</a:t>
            </a:r>
          </a:p>
        </p:txBody>
      </p:sp>
      <p:sp>
        <p:nvSpPr>
          <p:cNvPr id="28" name="Rectangle 27"/>
          <p:cNvSpPr/>
          <p:nvPr/>
        </p:nvSpPr>
        <p:spPr>
          <a:xfrm>
            <a:off x="6172200" y="3182112"/>
            <a:ext cx="402336" cy="402336"/>
          </a:xfrm>
          <a:prstGeom prst="rect">
            <a:avLst/>
          </a:prstGeom>
          <a:solidFill>
            <a:srgbClr val="F1F6FB"/>
          </a:solidFill>
          <a:ln w="9525">
            <a:solidFill>
              <a:srgbClr val="E2E8F2"/>
            </a:solidFill>
          </a:ln>
          <a:effectLst/>
        </p:spPr>
        <p:txBody>
          <a:bodyPr rtlCol="0" anchor="ctr"/>
          <a:lstStyle/>
          <a:p>
            <a:pPr algn="ctr"/>
          </a:p>
        </p:txBody>
      </p:sp>
      <p:sp>
        <p:nvSpPr>
          <p:cNvPr id="29" name="Rectangle 28"/>
          <p:cNvSpPr/>
          <p:nvPr/>
        </p:nvSpPr>
        <p:spPr>
          <a:xfrm>
            <a:off x="6574536" y="3182112"/>
            <a:ext cx="402336" cy="402336"/>
          </a:xfrm>
          <a:prstGeom prst="rect">
            <a:avLst/>
          </a:prstGeom>
          <a:solidFill>
            <a:srgbClr val="4B91CE"/>
          </a:solidFill>
          <a:ln w="9525">
            <a:solidFill>
              <a:srgbClr val="E2E8F2"/>
            </a:solidFill>
          </a:ln>
          <a:effectLst/>
        </p:spPr>
        <p:txBody>
          <a:bodyPr rtlCol="0" anchor="ctr"/>
          <a:lstStyle/>
          <a:p>
            <a:pPr algn="ctr"/>
          </a:p>
        </p:txBody>
      </p:sp>
      <p:sp>
        <p:nvSpPr>
          <p:cNvPr id="30" name="Rectangle 29"/>
          <p:cNvSpPr/>
          <p:nvPr/>
        </p:nvSpPr>
        <p:spPr>
          <a:xfrm>
            <a:off x="6976872" y="3182112"/>
            <a:ext cx="402336" cy="402336"/>
          </a:xfrm>
          <a:prstGeom prst="rect">
            <a:avLst/>
          </a:prstGeom>
          <a:solidFill>
            <a:srgbClr val="B2D0EA"/>
          </a:solidFill>
          <a:ln w="9525">
            <a:solidFill>
              <a:srgbClr val="E2E8F2"/>
            </a:solidFill>
          </a:ln>
          <a:effectLst/>
        </p:spPr>
        <p:txBody>
          <a:bodyPr rtlCol="0" anchor="ctr"/>
          <a:lstStyle/>
          <a:p>
            <a:pPr algn="ctr"/>
          </a:p>
        </p:txBody>
      </p:sp>
      <p:sp>
        <p:nvSpPr>
          <p:cNvPr id="31" name="Rectangle 30"/>
          <p:cNvSpPr/>
          <p:nvPr/>
        </p:nvSpPr>
        <p:spPr>
          <a:xfrm>
            <a:off x="7379208" y="3182112"/>
            <a:ext cx="402336" cy="402336"/>
          </a:xfrm>
          <a:prstGeom prst="rect">
            <a:avLst/>
          </a:prstGeom>
          <a:solidFill>
            <a:srgbClr val="F1F6FB"/>
          </a:solidFill>
          <a:ln w="9525">
            <a:solidFill>
              <a:srgbClr val="E2E8F2"/>
            </a:solidFill>
          </a:ln>
          <a:effectLst/>
        </p:spPr>
        <p:txBody>
          <a:bodyPr rtlCol="0" anchor="ctr"/>
          <a:lstStyle/>
          <a:p>
            <a:pPr algn="ctr"/>
          </a:p>
        </p:txBody>
      </p:sp>
      <p:sp>
        <p:nvSpPr>
          <p:cNvPr id="32" name="Rectangle 31"/>
          <p:cNvSpPr/>
          <p:nvPr/>
        </p:nvSpPr>
        <p:spPr>
          <a:xfrm>
            <a:off x="7781544" y="3182112"/>
            <a:ext cx="402336" cy="402336"/>
          </a:xfrm>
          <a:prstGeom prst="rect">
            <a:avLst/>
          </a:prstGeom>
          <a:solidFill>
            <a:srgbClr val="F1F6FB"/>
          </a:solidFill>
          <a:ln w="9525">
            <a:solidFill>
              <a:srgbClr val="E2E8F2"/>
            </a:solidFill>
          </a:ln>
          <a:effectLst/>
        </p:spPr>
        <p:txBody>
          <a:bodyPr rtlCol="0" anchor="ctr"/>
          <a:lstStyle/>
          <a:p>
            <a:pPr algn="ctr"/>
          </a:p>
        </p:txBody>
      </p:sp>
      <p:sp>
        <p:nvSpPr>
          <p:cNvPr id="33" name="Rectangle 32"/>
          <p:cNvSpPr/>
          <p:nvPr/>
        </p:nvSpPr>
        <p:spPr>
          <a:xfrm>
            <a:off x="8183880" y="3182112"/>
            <a:ext cx="402336" cy="402336"/>
          </a:xfrm>
          <a:prstGeom prst="rect">
            <a:avLst/>
          </a:prstGeom>
          <a:solidFill>
            <a:srgbClr val="F1F6FB"/>
          </a:solidFill>
          <a:ln w="9525">
            <a:solidFill>
              <a:srgbClr val="E2E8F2"/>
            </a:solidFill>
          </a:ln>
          <a:effectLst/>
        </p:spPr>
        <p:txBody>
          <a:bodyPr rtlCol="0" anchor="ctr"/>
          <a:lstStyle/>
          <a:p>
            <a:pPr algn="ctr"/>
          </a:p>
        </p:txBody>
      </p:sp>
      <p:sp>
        <p:nvSpPr>
          <p:cNvPr id="34" name="Rectangle 33"/>
          <p:cNvSpPr/>
          <p:nvPr/>
        </p:nvSpPr>
        <p:spPr>
          <a:xfrm>
            <a:off x="8586216" y="3182112"/>
            <a:ext cx="402336" cy="402336"/>
          </a:xfrm>
          <a:prstGeom prst="rect">
            <a:avLst/>
          </a:prstGeom>
          <a:solidFill>
            <a:srgbClr val="F1F6FB"/>
          </a:solidFill>
          <a:ln w="9525">
            <a:solidFill>
              <a:srgbClr val="E2E8F2"/>
            </a:solidFill>
          </a:ln>
          <a:effectLst/>
        </p:spPr>
        <p:txBody>
          <a:bodyPr rtlCol="0" anchor="ctr"/>
          <a:lstStyle/>
          <a:p>
            <a:pPr algn="ctr"/>
          </a:p>
        </p:txBody>
      </p:sp>
      <p:sp>
        <p:nvSpPr>
          <p:cNvPr id="35" name="Rectangle 34"/>
          <p:cNvSpPr/>
          <p:nvPr/>
        </p:nvSpPr>
        <p:spPr>
          <a:xfrm>
            <a:off x="8988552" y="3182112"/>
            <a:ext cx="402336" cy="402336"/>
          </a:xfrm>
          <a:prstGeom prst="rect">
            <a:avLst/>
          </a:prstGeom>
          <a:solidFill>
            <a:srgbClr val="F1F6FB"/>
          </a:solidFill>
          <a:ln w="9525">
            <a:solidFill>
              <a:srgbClr val="E2E8F2"/>
            </a:solidFill>
          </a:ln>
          <a:effectLst/>
        </p:spPr>
        <p:txBody>
          <a:bodyPr rtlCol="0" anchor="ctr"/>
          <a:lstStyle/>
          <a:p>
            <a:pPr algn="ctr"/>
          </a:p>
        </p:txBody>
      </p:sp>
      <p:sp>
        <p:nvSpPr>
          <p:cNvPr id="36" name="TextBox 35"/>
          <p:cNvSpPr txBox="1"/>
          <p:nvPr/>
        </p:nvSpPr>
        <p:spPr>
          <a:xfrm>
            <a:off x="5120640" y="3602736"/>
            <a:ext cx="1005840" cy="402336"/>
          </a:xfrm>
          <a:prstGeom prst="rect">
            <a:avLst/>
          </a:prstGeom>
          <a:noFill/>
        </p:spPr>
        <p:txBody>
          <a:bodyPr wrap="square" lIns="18288" rIns="18288" tIns="10973" bIns="10973" anchor="ctr">
            <a:noAutofit/>
          </a:bodyPr>
          <a:lstStyle/>
          <a:p>
            <a:pPr algn="r"/>
            <a:r>
              <a:rPr sz="1300" b="0" i="0">
                <a:solidFill>
                  <a:srgbClr val="16202F"/>
                </a:solidFill>
                <a:latin typeface="Calibri"/>
              </a:rPr>
              <a:t>on</a:t>
            </a:r>
          </a:p>
        </p:txBody>
      </p:sp>
      <p:sp>
        <p:nvSpPr>
          <p:cNvPr id="37" name="TextBox 36"/>
          <p:cNvSpPr txBox="1"/>
          <p:nvPr/>
        </p:nvSpPr>
        <p:spPr>
          <a:xfrm>
            <a:off x="7242048" y="2011680"/>
            <a:ext cx="676656" cy="320040"/>
          </a:xfrm>
          <a:prstGeom prst="rect">
            <a:avLst/>
          </a:prstGeom>
          <a:noFill/>
        </p:spPr>
        <p:txBody>
          <a:bodyPr wrap="square" lIns="18288" rIns="18288" tIns="10973" bIns="10973" anchor="t">
            <a:noAutofit/>
          </a:bodyPr>
          <a:lstStyle/>
          <a:p>
            <a:pPr algn="ctr"/>
            <a:r>
              <a:rPr sz="1100" b="0" i="0">
                <a:solidFill>
                  <a:srgbClr val="53617A"/>
                </a:solidFill>
                <a:latin typeface="Calibri"/>
              </a:rPr>
              <a:t>on</a:t>
            </a:r>
          </a:p>
        </p:txBody>
      </p:sp>
      <p:sp>
        <p:nvSpPr>
          <p:cNvPr id="38" name="Rectangle 37"/>
          <p:cNvSpPr/>
          <p:nvPr/>
        </p:nvSpPr>
        <p:spPr>
          <a:xfrm>
            <a:off x="6172200" y="3584448"/>
            <a:ext cx="402336" cy="402336"/>
          </a:xfrm>
          <a:prstGeom prst="rect">
            <a:avLst/>
          </a:prstGeom>
          <a:solidFill>
            <a:srgbClr val="F1F6FB"/>
          </a:solidFill>
          <a:ln w="9525">
            <a:solidFill>
              <a:srgbClr val="E2E8F2"/>
            </a:solidFill>
          </a:ln>
          <a:effectLst/>
        </p:spPr>
        <p:txBody>
          <a:bodyPr rtlCol="0" anchor="ctr"/>
          <a:lstStyle/>
          <a:p>
            <a:pPr algn="ctr"/>
          </a:p>
        </p:txBody>
      </p:sp>
      <p:sp>
        <p:nvSpPr>
          <p:cNvPr id="39" name="Rectangle 38"/>
          <p:cNvSpPr/>
          <p:nvPr/>
        </p:nvSpPr>
        <p:spPr>
          <a:xfrm>
            <a:off x="6574536" y="3584448"/>
            <a:ext cx="402336" cy="402336"/>
          </a:xfrm>
          <a:prstGeom prst="rect">
            <a:avLst/>
          </a:prstGeom>
          <a:solidFill>
            <a:srgbClr val="F1F6FB"/>
          </a:solidFill>
          <a:ln w="9525">
            <a:solidFill>
              <a:srgbClr val="E2E8F2"/>
            </a:solidFill>
          </a:ln>
          <a:effectLst/>
        </p:spPr>
        <p:txBody>
          <a:bodyPr rtlCol="0" anchor="ctr"/>
          <a:lstStyle/>
          <a:p>
            <a:pPr algn="ctr"/>
          </a:p>
        </p:txBody>
      </p:sp>
      <p:sp>
        <p:nvSpPr>
          <p:cNvPr id="40" name="Rectangle 39"/>
          <p:cNvSpPr/>
          <p:nvPr/>
        </p:nvSpPr>
        <p:spPr>
          <a:xfrm>
            <a:off x="6976872" y="3584448"/>
            <a:ext cx="402336" cy="402336"/>
          </a:xfrm>
          <a:prstGeom prst="rect">
            <a:avLst/>
          </a:prstGeom>
          <a:solidFill>
            <a:srgbClr val="87B6DE"/>
          </a:solidFill>
          <a:ln w="9525">
            <a:solidFill>
              <a:srgbClr val="E2E8F2"/>
            </a:solidFill>
          </a:ln>
          <a:effectLst/>
        </p:spPr>
        <p:txBody>
          <a:bodyPr rtlCol="0" anchor="ctr"/>
          <a:lstStyle/>
          <a:p>
            <a:pPr algn="ctr"/>
          </a:p>
        </p:txBody>
      </p:sp>
      <p:sp>
        <p:nvSpPr>
          <p:cNvPr id="41" name="Rectangle 40"/>
          <p:cNvSpPr/>
          <p:nvPr/>
        </p:nvSpPr>
        <p:spPr>
          <a:xfrm>
            <a:off x="7379208" y="3584448"/>
            <a:ext cx="402336" cy="402336"/>
          </a:xfrm>
          <a:prstGeom prst="rect">
            <a:avLst/>
          </a:prstGeom>
          <a:solidFill>
            <a:srgbClr val="B2D0EA"/>
          </a:solidFill>
          <a:ln w="9525">
            <a:solidFill>
              <a:srgbClr val="E2E8F2"/>
            </a:solidFill>
          </a:ln>
          <a:effectLst/>
        </p:spPr>
        <p:txBody>
          <a:bodyPr rtlCol="0" anchor="ctr"/>
          <a:lstStyle/>
          <a:p>
            <a:pPr algn="ctr"/>
          </a:p>
        </p:txBody>
      </p:sp>
      <p:sp>
        <p:nvSpPr>
          <p:cNvPr id="42" name="Rectangle 41"/>
          <p:cNvSpPr/>
          <p:nvPr/>
        </p:nvSpPr>
        <p:spPr>
          <a:xfrm>
            <a:off x="7781544" y="3584448"/>
            <a:ext cx="402336" cy="402336"/>
          </a:xfrm>
          <a:prstGeom prst="rect">
            <a:avLst/>
          </a:prstGeom>
          <a:solidFill>
            <a:srgbClr val="F1F6FB"/>
          </a:solidFill>
          <a:ln w="9525">
            <a:solidFill>
              <a:srgbClr val="E2E8F2"/>
            </a:solidFill>
          </a:ln>
          <a:effectLst/>
        </p:spPr>
        <p:txBody>
          <a:bodyPr rtlCol="0" anchor="ctr"/>
          <a:lstStyle/>
          <a:p>
            <a:pPr algn="ctr"/>
          </a:p>
        </p:txBody>
      </p:sp>
      <p:sp>
        <p:nvSpPr>
          <p:cNvPr id="43" name="Rectangle 42"/>
          <p:cNvSpPr/>
          <p:nvPr/>
        </p:nvSpPr>
        <p:spPr>
          <a:xfrm>
            <a:off x="8183880" y="3584448"/>
            <a:ext cx="402336" cy="402336"/>
          </a:xfrm>
          <a:prstGeom prst="rect">
            <a:avLst/>
          </a:prstGeom>
          <a:solidFill>
            <a:srgbClr val="F1F6FB"/>
          </a:solidFill>
          <a:ln w="9525">
            <a:solidFill>
              <a:srgbClr val="E2E8F2"/>
            </a:solidFill>
          </a:ln>
          <a:effectLst/>
        </p:spPr>
        <p:txBody>
          <a:bodyPr rtlCol="0" anchor="ctr"/>
          <a:lstStyle/>
          <a:p>
            <a:pPr algn="ctr"/>
          </a:p>
        </p:txBody>
      </p:sp>
      <p:sp>
        <p:nvSpPr>
          <p:cNvPr id="44" name="Rectangle 43"/>
          <p:cNvSpPr/>
          <p:nvPr/>
        </p:nvSpPr>
        <p:spPr>
          <a:xfrm>
            <a:off x="8586216" y="3584448"/>
            <a:ext cx="402336" cy="402336"/>
          </a:xfrm>
          <a:prstGeom prst="rect">
            <a:avLst/>
          </a:prstGeom>
          <a:solidFill>
            <a:srgbClr val="F1F6FB"/>
          </a:solidFill>
          <a:ln w="9525">
            <a:solidFill>
              <a:srgbClr val="E2E8F2"/>
            </a:solidFill>
          </a:ln>
          <a:effectLst/>
        </p:spPr>
        <p:txBody>
          <a:bodyPr rtlCol="0" anchor="ctr"/>
          <a:lstStyle/>
          <a:p>
            <a:pPr algn="ctr"/>
          </a:p>
        </p:txBody>
      </p:sp>
      <p:sp>
        <p:nvSpPr>
          <p:cNvPr id="45" name="Rectangle 44"/>
          <p:cNvSpPr/>
          <p:nvPr/>
        </p:nvSpPr>
        <p:spPr>
          <a:xfrm>
            <a:off x="8988552" y="3584448"/>
            <a:ext cx="402336" cy="402336"/>
          </a:xfrm>
          <a:prstGeom prst="rect">
            <a:avLst/>
          </a:prstGeom>
          <a:solidFill>
            <a:srgbClr val="F1F6FB"/>
          </a:solidFill>
          <a:ln w="9525">
            <a:solidFill>
              <a:srgbClr val="E2E8F2"/>
            </a:solidFill>
          </a:ln>
          <a:effectLst/>
        </p:spPr>
        <p:txBody>
          <a:bodyPr rtlCol="0" anchor="ctr"/>
          <a:lstStyle/>
          <a:p>
            <a:pPr algn="ctr"/>
          </a:p>
        </p:txBody>
      </p:sp>
      <p:sp>
        <p:nvSpPr>
          <p:cNvPr id="46" name="TextBox 45"/>
          <p:cNvSpPr txBox="1"/>
          <p:nvPr/>
        </p:nvSpPr>
        <p:spPr>
          <a:xfrm>
            <a:off x="5120640" y="4005072"/>
            <a:ext cx="1005840" cy="402336"/>
          </a:xfrm>
          <a:prstGeom prst="rect">
            <a:avLst/>
          </a:prstGeom>
          <a:noFill/>
        </p:spPr>
        <p:txBody>
          <a:bodyPr wrap="square" lIns="18288" rIns="18288" tIns="10973" bIns="10973" anchor="ctr">
            <a:noAutofit/>
          </a:bodyPr>
          <a:lstStyle/>
          <a:p>
            <a:pPr algn="r"/>
            <a:r>
              <a:rPr sz="1300" b="0" i="0">
                <a:solidFill>
                  <a:srgbClr val="16202F"/>
                </a:solidFill>
                <a:latin typeface="Calibri"/>
              </a:rPr>
              <a:t>the</a:t>
            </a:r>
          </a:p>
        </p:txBody>
      </p:sp>
      <p:sp>
        <p:nvSpPr>
          <p:cNvPr id="47" name="TextBox 46"/>
          <p:cNvSpPr txBox="1"/>
          <p:nvPr/>
        </p:nvSpPr>
        <p:spPr>
          <a:xfrm>
            <a:off x="7644384" y="2011680"/>
            <a:ext cx="676656" cy="320040"/>
          </a:xfrm>
          <a:prstGeom prst="rect">
            <a:avLst/>
          </a:prstGeom>
          <a:noFill/>
        </p:spPr>
        <p:txBody>
          <a:bodyPr wrap="square" lIns="18288" rIns="18288" tIns="10973" bIns="10973" anchor="t">
            <a:noAutofit/>
          </a:bodyPr>
          <a:lstStyle/>
          <a:p>
            <a:pPr algn="ctr"/>
            <a:r>
              <a:rPr sz="1100" b="0" i="0">
                <a:solidFill>
                  <a:srgbClr val="53617A"/>
                </a:solidFill>
                <a:latin typeface="Calibri"/>
              </a:rPr>
              <a:t>the</a:t>
            </a:r>
          </a:p>
        </p:txBody>
      </p:sp>
      <p:sp>
        <p:nvSpPr>
          <p:cNvPr id="48" name="Rectangle 47"/>
          <p:cNvSpPr/>
          <p:nvPr/>
        </p:nvSpPr>
        <p:spPr>
          <a:xfrm>
            <a:off x="6172200" y="3986784"/>
            <a:ext cx="402336" cy="402336"/>
          </a:xfrm>
          <a:prstGeom prst="rect">
            <a:avLst/>
          </a:prstGeom>
          <a:solidFill>
            <a:srgbClr val="F1F6FB"/>
          </a:solidFill>
          <a:ln w="9525">
            <a:solidFill>
              <a:srgbClr val="E2E8F2"/>
            </a:solidFill>
          </a:ln>
          <a:effectLst/>
        </p:spPr>
        <p:txBody>
          <a:bodyPr rtlCol="0" anchor="ctr"/>
          <a:lstStyle/>
          <a:p>
            <a:pPr algn="ctr"/>
          </a:p>
        </p:txBody>
      </p:sp>
      <p:sp>
        <p:nvSpPr>
          <p:cNvPr id="49" name="Rectangle 48"/>
          <p:cNvSpPr/>
          <p:nvPr/>
        </p:nvSpPr>
        <p:spPr>
          <a:xfrm>
            <a:off x="6574536" y="3986784"/>
            <a:ext cx="402336" cy="402336"/>
          </a:xfrm>
          <a:prstGeom prst="rect">
            <a:avLst/>
          </a:prstGeom>
          <a:solidFill>
            <a:srgbClr val="F1F6FB"/>
          </a:solidFill>
          <a:ln w="9525">
            <a:solidFill>
              <a:srgbClr val="E2E8F2"/>
            </a:solidFill>
          </a:ln>
          <a:effectLst/>
        </p:spPr>
        <p:txBody>
          <a:bodyPr rtlCol="0" anchor="ctr"/>
          <a:lstStyle/>
          <a:p>
            <a:pPr algn="ctr"/>
          </a:p>
        </p:txBody>
      </p:sp>
      <p:sp>
        <p:nvSpPr>
          <p:cNvPr id="50" name="Rectangle 49"/>
          <p:cNvSpPr/>
          <p:nvPr/>
        </p:nvSpPr>
        <p:spPr>
          <a:xfrm>
            <a:off x="6976872" y="3986784"/>
            <a:ext cx="402336" cy="402336"/>
          </a:xfrm>
          <a:prstGeom prst="rect">
            <a:avLst/>
          </a:prstGeom>
          <a:solidFill>
            <a:srgbClr val="F1F6FB"/>
          </a:solidFill>
          <a:ln w="9525">
            <a:solidFill>
              <a:srgbClr val="E2E8F2"/>
            </a:solidFill>
          </a:ln>
          <a:effectLst/>
        </p:spPr>
        <p:txBody>
          <a:bodyPr rtlCol="0" anchor="ctr"/>
          <a:lstStyle/>
          <a:p>
            <a:pPr algn="ctr"/>
          </a:p>
        </p:txBody>
      </p:sp>
      <p:sp>
        <p:nvSpPr>
          <p:cNvPr id="51" name="Rectangle 50"/>
          <p:cNvSpPr/>
          <p:nvPr/>
        </p:nvSpPr>
        <p:spPr>
          <a:xfrm>
            <a:off x="7379208" y="3986784"/>
            <a:ext cx="402336" cy="402336"/>
          </a:xfrm>
          <a:prstGeom prst="rect">
            <a:avLst/>
          </a:prstGeom>
          <a:solidFill>
            <a:srgbClr val="F1F6FB"/>
          </a:solidFill>
          <a:ln w="9525">
            <a:solidFill>
              <a:srgbClr val="E2E8F2"/>
            </a:solidFill>
          </a:ln>
          <a:effectLst/>
        </p:spPr>
        <p:txBody>
          <a:bodyPr rtlCol="0" anchor="ctr"/>
          <a:lstStyle/>
          <a:p>
            <a:pPr algn="ctr"/>
          </a:p>
        </p:txBody>
      </p:sp>
      <p:sp>
        <p:nvSpPr>
          <p:cNvPr id="52" name="Rectangle 51"/>
          <p:cNvSpPr/>
          <p:nvPr/>
        </p:nvSpPr>
        <p:spPr>
          <a:xfrm>
            <a:off x="7781544" y="3986784"/>
            <a:ext cx="402336" cy="402336"/>
          </a:xfrm>
          <a:prstGeom prst="rect">
            <a:avLst/>
          </a:prstGeom>
          <a:solidFill>
            <a:srgbClr val="B2D0EA"/>
          </a:solidFill>
          <a:ln w="9525">
            <a:solidFill>
              <a:srgbClr val="E2E8F2"/>
            </a:solidFill>
          </a:ln>
          <a:effectLst/>
        </p:spPr>
        <p:txBody>
          <a:bodyPr rtlCol="0" anchor="ctr"/>
          <a:lstStyle/>
          <a:p>
            <a:pPr algn="ctr"/>
          </a:p>
        </p:txBody>
      </p:sp>
      <p:sp>
        <p:nvSpPr>
          <p:cNvPr id="53" name="Rectangle 52"/>
          <p:cNvSpPr/>
          <p:nvPr/>
        </p:nvSpPr>
        <p:spPr>
          <a:xfrm>
            <a:off x="8183880" y="3986784"/>
            <a:ext cx="402336" cy="402336"/>
          </a:xfrm>
          <a:prstGeom prst="rect">
            <a:avLst/>
          </a:prstGeom>
          <a:solidFill>
            <a:srgbClr val="7BAEDB"/>
          </a:solidFill>
          <a:ln w="9525">
            <a:solidFill>
              <a:srgbClr val="E2E8F2"/>
            </a:solidFill>
          </a:ln>
          <a:effectLst/>
        </p:spPr>
        <p:txBody>
          <a:bodyPr rtlCol="0" anchor="ctr"/>
          <a:lstStyle/>
          <a:p>
            <a:pPr algn="ctr"/>
          </a:p>
        </p:txBody>
      </p:sp>
      <p:sp>
        <p:nvSpPr>
          <p:cNvPr id="54" name="Rectangle 53"/>
          <p:cNvSpPr/>
          <p:nvPr/>
        </p:nvSpPr>
        <p:spPr>
          <a:xfrm>
            <a:off x="8586216" y="3986784"/>
            <a:ext cx="402336" cy="402336"/>
          </a:xfrm>
          <a:prstGeom prst="rect">
            <a:avLst/>
          </a:prstGeom>
          <a:solidFill>
            <a:srgbClr val="F1F6FB"/>
          </a:solidFill>
          <a:ln w="9525">
            <a:solidFill>
              <a:srgbClr val="E2E8F2"/>
            </a:solidFill>
          </a:ln>
          <a:effectLst/>
        </p:spPr>
        <p:txBody>
          <a:bodyPr rtlCol="0" anchor="ctr"/>
          <a:lstStyle/>
          <a:p>
            <a:pPr algn="ctr"/>
          </a:p>
        </p:txBody>
      </p:sp>
      <p:sp>
        <p:nvSpPr>
          <p:cNvPr id="55" name="Rectangle 54"/>
          <p:cNvSpPr/>
          <p:nvPr/>
        </p:nvSpPr>
        <p:spPr>
          <a:xfrm>
            <a:off x="8988552" y="3986784"/>
            <a:ext cx="402336" cy="402336"/>
          </a:xfrm>
          <a:prstGeom prst="rect">
            <a:avLst/>
          </a:prstGeom>
          <a:solidFill>
            <a:srgbClr val="F1F6FB"/>
          </a:solidFill>
          <a:ln w="9525">
            <a:solidFill>
              <a:srgbClr val="E2E8F2"/>
            </a:solidFill>
          </a:ln>
          <a:effectLst/>
        </p:spPr>
        <p:txBody>
          <a:bodyPr rtlCol="0" anchor="ctr"/>
          <a:lstStyle/>
          <a:p>
            <a:pPr algn="ctr"/>
          </a:p>
        </p:txBody>
      </p:sp>
      <p:sp>
        <p:nvSpPr>
          <p:cNvPr id="56" name="TextBox 55"/>
          <p:cNvSpPr txBox="1"/>
          <p:nvPr/>
        </p:nvSpPr>
        <p:spPr>
          <a:xfrm>
            <a:off x="5120640" y="4407408"/>
            <a:ext cx="1005840" cy="402336"/>
          </a:xfrm>
          <a:prstGeom prst="rect">
            <a:avLst/>
          </a:prstGeom>
          <a:noFill/>
        </p:spPr>
        <p:txBody>
          <a:bodyPr wrap="square" lIns="18288" rIns="18288" tIns="10973" bIns="10973" anchor="ctr">
            <a:noAutofit/>
          </a:bodyPr>
          <a:lstStyle/>
          <a:p>
            <a:pPr algn="r"/>
            <a:r>
              <a:rPr sz="1300" b="0" i="0">
                <a:solidFill>
                  <a:srgbClr val="16202F"/>
                </a:solidFill>
                <a:latin typeface="Calibri"/>
              </a:rPr>
              <a:t>mat</a:t>
            </a:r>
          </a:p>
        </p:txBody>
      </p:sp>
      <p:sp>
        <p:nvSpPr>
          <p:cNvPr id="57" name="TextBox 56"/>
          <p:cNvSpPr txBox="1"/>
          <p:nvPr/>
        </p:nvSpPr>
        <p:spPr>
          <a:xfrm>
            <a:off x="8046720" y="2011680"/>
            <a:ext cx="676656" cy="320040"/>
          </a:xfrm>
          <a:prstGeom prst="rect">
            <a:avLst/>
          </a:prstGeom>
          <a:noFill/>
        </p:spPr>
        <p:txBody>
          <a:bodyPr wrap="square" lIns="18288" rIns="18288" tIns="10973" bIns="10973" anchor="t">
            <a:noAutofit/>
          </a:bodyPr>
          <a:lstStyle/>
          <a:p>
            <a:pPr algn="ctr"/>
            <a:r>
              <a:rPr sz="1100" b="0" i="0">
                <a:solidFill>
                  <a:srgbClr val="53617A"/>
                </a:solidFill>
                <a:latin typeface="Calibri"/>
              </a:rPr>
              <a:t>mat</a:t>
            </a:r>
          </a:p>
        </p:txBody>
      </p:sp>
      <p:sp>
        <p:nvSpPr>
          <p:cNvPr id="58" name="Rectangle 57"/>
          <p:cNvSpPr/>
          <p:nvPr/>
        </p:nvSpPr>
        <p:spPr>
          <a:xfrm>
            <a:off x="6172200" y="4389120"/>
            <a:ext cx="402336" cy="402336"/>
          </a:xfrm>
          <a:prstGeom prst="rect">
            <a:avLst/>
          </a:prstGeom>
          <a:solidFill>
            <a:srgbClr val="F1F6FB"/>
          </a:solidFill>
          <a:ln w="9525">
            <a:solidFill>
              <a:srgbClr val="E2E8F2"/>
            </a:solidFill>
          </a:ln>
          <a:effectLst/>
        </p:spPr>
        <p:txBody>
          <a:bodyPr rtlCol="0" anchor="ctr"/>
          <a:lstStyle/>
          <a:p>
            <a:pPr algn="ctr"/>
          </a:p>
        </p:txBody>
      </p:sp>
      <p:sp>
        <p:nvSpPr>
          <p:cNvPr id="59" name="Rectangle 58"/>
          <p:cNvSpPr/>
          <p:nvPr/>
        </p:nvSpPr>
        <p:spPr>
          <a:xfrm>
            <a:off x="6574536" y="4389120"/>
            <a:ext cx="402336" cy="402336"/>
          </a:xfrm>
          <a:prstGeom prst="rect">
            <a:avLst/>
          </a:prstGeom>
          <a:solidFill>
            <a:srgbClr val="F1F6FB"/>
          </a:solidFill>
          <a:ln w="9525">
            <a:solidFill>
              <a:srgbClr val="E2E8F2"/>
            </a:solidFill>
          </a:ln>
          <a:effectLst/>
        </p:spPr>
        <p:txBody>
          <a:bodyPr rtlCol="0" anchor="ctr"/>
          <a:lstStyle/>
          <a:p>
            <a:pPr algn="ctr"/>
          </a:p>
        </p:txBody>
      </p:sp>
      <p:sp>
        <p:nvSpPr>
          <p:cNvPr id="60" name="Rectangle 59"/>
          <p:cNvSpPr/>
          <p:nvPr/>
        </p:nvSpPr>
        <p:spPr>
          <a:xfrm>
            <a:off x="6976872" y="4389120"/>
            <a:ext cx="402336" cy="402336"/>
          </a:xfrm>
          <a:prstGeom prst="rect">
            <a:avLst/>
          </a:prstGeom>
          <a:solidFill>
            <a:srgbClr val="F1F6FB"/>
          </a:solidFill>
          <a:ln w="9525">
            <a:solidFill>
              <a:srgbClr val="E2E8F2"/>
            </a:solidFill>
          </a:ln>
          <a:effectLst/>
        </p:spPr>
        <p:txBody>
          <a:bodyPr rtlCol="0" anchor="ctr"/>
          <a:lstStyle/>
          <a:p>
            <a:pPr algn="ctr"/>
          </a:p>
        </p:txBody>
      </p:sp>
      <p:sp>
        <p:nvSpPr>
          <p:cNvPr id="61" name="Rectangle 60"/>
          <p:cNvSpPr/>
          <p:nvPr/>
        </p:nvSpPr>
        <p:spPr>
          <a:xfrm>
            <a:off x="7379208" y="4389120"/>
            <a:ext cx="402336" cy="402336"/>
          </a:xfrm>
          <a:prstGeom prst="rect">
            <a:avLst/>
          </a:prstGeom>
          <a:solidFill>
            <a:srgbClr val="6FA7D7"/>
          </a:solidFill>
          <a:ln w="9525">
            <a:solidFill>
              <a:srgbClr val="E2E8F2"/>
            </a:solidFill>
          </a:ln>
          <a:effectLst/>
        </p:spPr>
        <p:txBody>
          <a:bodyPr rtlCol="0" anchor="ctr"/>
          <a:lstStyle/>
          <a:p>
            <a:pPr algn="ctr"/>
          </a:p>
        </p:txBody>
      </p:sp>
      <p:sp>
        <p:nvSpPr>
          <p:cNvPr id="62" name="Rectangle 61"/>
          <p:cNvSpPr/>
          <p:nvPr/>
        </p:nvSpPr>
        <p:spPr>
          <a:xfrm>
            <a:off x="7781544" y="4389120"/>
            <a:ext cx="402336" cy="402336"/>
          </a:xfrm>
          <a:prstGeom prst="rect">
            <a:avLst/>
          </a:prstGeom>
          <a:solidFill>
            <a:srgbClr val="F1F6FB"/>
          </a:solidFill>
          <a:ln w="9525">
            <a:solidFill>
              <a:srgbClr val="E2E8F2"/>
            </a:solidFill>
          </a:ln>
          <a:effectLst/>
        </p:spPr>
        <p:txBody>
          <a:bodyPr rtlCol="0" anchor="ctr"/>
          <a:lstStyle/>
          <a:p>
            <a:pPr algn="ctr"/>
          </a:p>
        </p:txBody>
      </p:sp>
      <p:sp>
        <p:nvSpPr>
          <p:cNvPr id="63" name="Rectangle 62"/>
          <p:cNvSpPr/>
          <p:nvPr/>
        </p:nvSpPr>
        <p:spPr>
          <a:xfrm>
            <a:off x="8183880" y="4389120"/>
            <a:ext cx="402336" cy="402336"/>
          </a:xfrm>
          <a:prstGeom prst="rect">
            <a:avLst/>
          </a:prstGeom>
          <a:solidFill>
            <a:srgbClr val="B2D0EA"/>
          </a:solidFill>
          <a:ln w="9525">
            <a:solidFill>
              <a:srgbClr val="E2E8F2"/>
            </a:solidFill>
          </a:ln>
          <a:effectLst/>
        </p:spPr>
        <p:txBody>
          <a:bodyPr rtlCol="0" anchor="ctr"/>
          <a:lstStyle/>
          <a:p>
            <a:pPr algn="ctr"/>
          </a:p>
        </p:txBody>
      </p:sp>
      <p:sp>
        <p:nvSpPr>
          <p:cNvPr id="64" name="Rectangle 63"/>
          <p:cNvSpPr/>
          <p:nvPr/>
        </p:nvSpPr>
        <p:spPr>
          <a:xfrm>
            <a:off x="8586216" y="4389120"/>
            <a:ext cx="402336" cy="402336"/>
          </a:xfrm>
          <a:prstGeom prst="rect">
            <a:avLst/>
          </a:prstGeom>
          <a:solidFill>
            <a:srgbClr val="F1F6FB"/>
          </a:solidFill>
          <a:ln w="9525">
            <a:solidFill>
              <a:srgbClr val="E2E8F2"/>
            </a:solidFill>
          </a:ln>
          <a:effectLst/>
        </p:spPr>
        <p:txBody>
          <a:bodyPr rtlCol="0" anchor="ctr"/>
          <a:lstStyle/>
          <a:p>
            <a:pPr algn="ctr"/>
          </a:p>
        </p:txBody>
      </p:sp>
      <p:sp>
        <p:nvSpPr>
          <p:cNvPr id="65" name="Rectangle 64"/>
          <p:cNvSpPr/>
          <p:nvPr/>
        </p:nvSpPr>
        <p:spPr>
          <a:xfrm>
            <a:off x="8988552" y="4389120"/>
            <a:ext cx="402336" cy="402336"/>
          </a:xfrm>
          <a:prstGeom prst="rect">
            <a:avLst/>
          </a:prstGeom>
          <a:solidFill>
            <a:srgbClr val="F1F6FB"/>
          </a:solidFill>
          <a:ln w="9525">
            <a:solidFill>
              <a:srgbClr val="E2E8F2"/>
            </a:solidFill>
          </a:ln>
          <a:effectLst/>
        </p:spPr>
        <p:txBody>
          <a:bodyPr rtlCol="0" anchor="ctr"/>
          <a:lstStyle/>
          <a:p>
            <a:pPr algn="ctr"/>
          </a:p>
        </p:txBody>
      </p:sp>
      <p:sp>
        <p:nvSpPr>
          <p:cNvPr id="66" name="TextBox 65"/>
          <p:cNvSpPr txBox="1"/>
          <p:nvPr/>
        </p:nvSpPr>
        <p:spPr>
          <a:xfrm>
            <a:off x="5120640" y="4809744"/>
            <a:ext cx="1005840" cy="402336"/>
          </a:xfrm>
          <a:prstGeom prst="rect">
            <a:avLst/>
          </a:prstGeom>
          <a:noFill/>
        </p:spPr>
        <p:txBody>
          <a:bodyPr wrap="square" lIns="18288" rIns="18288" tIns="10973" bIns="10973" anchor="ctr">
            <a:noAutofit/>
          </a:bodyPr>
          <a:lstStyle/>
          <a:p>
            <a:pPr algn="r"/>
            <a:r>
              <a:rPr sz="1300" b="0" i="0">
                <a:solidFill>
                  <a:srgbClr val="16202F"/>
                </a:solidFill>
                <a:latin typeface="Calibri"/>
              </a:rPr>
              <a:t>it</a:t>
            </a:r>
          </a:p>
        </p:txBody>
      </p:sp>
      <p:sp>
        <p:nvSpPr>
          <p:cNvPr id="67" name="TextBox 66"/>
          <p:cNvSpPr txBox="1"/>
          <p:nvPr/>
        </p:nvSpPr>
        <p:spPr>
          <a:xfrm>
            <a:off x="8449056" y="2011680"/>
            <a:ext cx="676656" cy="320040"/>
          </a:xfrm>
          <a:prstGeom prst="rect">
            <a:avLst/>
          </a:prstGeom>
          <a:noFill/>
        </p:spPr>
        <p:txBody>
          <a:bodyPr wrap="square" lIns="18288" rIns="18288" tIns="10973" bIns="10973" anchor="t">
            <a:noAutofit/>
          </a:bodyPr>
          <a:lstStyle/>
          <a:p>
            <a:pPr algn="ctr"/>
            <a:r>
              <a:rPr sz="1100" b="0" i="0">
                <a:solidFill>
                  <a:srgbClr val="53617A"/>
                </a:solidFill>
                <a:latin typeface="Calibri"/>
              </a:rPr>
              <a:t>it</a:t>
            </a:r>
          </a:p>
        </p:txBody>
      </p:sp>
      <p:sp>
        <p:nvSpPr>
          <p:cNvPr id="68" name="Rectangle 67"/>
          <p:cNvSpPr/>
          <p:nvPr/>
        </p:nvSpPr>
        <p:spPr>
          <a:xfrm>
            <a:off x="6172200" y="4791456"/>
            <a:ext cx="402336" cy="402336"/>
          </a:xfrm>
          <a:prstGeom prst="rect">
            <a:avLst/>
          </a:prstGeom>
          <a:solidFill>
            <a:srgbClr val="F1F6FB"/>
          </a:solidFill>
          <a:ln w="9525">
            <a:solidFill>
              <a:srgbClr val="E2E8F2"/>
            </a:solidFill>
          </a:ln>
          <a:effectLst/>
        </p:spPr>
        <p:txBody>
          <a:bodyPr rtlCol="0" anchor="ctr"/>
          <a:lstStyle/>
          <a:p>
            <a:pPr algn="ctr"/>
          </a:p>
        </p:txBody>
      </p:sp>
      <p:sp>
        <p:nvSpPr>
          <p:cNvPr id="69" name="Rectangle 68"/>
          <p:cNvSpPr/>
          <p:nvPr/>
        </p:nvSpPr>
        <p:spPr>
          <a:xfrm>
            <a:off x="6574536" y="4791456"/>
            <a:ext cx="402336" cy="402336"/>
          </a:xfrm>
          <a:prstGeom prst="rect">
            <a:avLst/>
          </a:prstGeom>
          <a:solidFill>
            <a:srgbClr val="1B73C0"/>
          </a:solidFill>
          <a:ln w="9525">
            <a:solidFill>
              <a:srgbClr val="E2E8F2"/>
            </a:solidFill>
          </a:ln>
          <a:effectLst/>
        </p:spPr>
        <p:txBody>
          <a:bodyPr rtlCol="0" anchor="ctr"/>
          <a:lstStyle/>
          <a:p>
            <a:pPr algn="ctr"/>
          </a:p>
        </p:txBody>
      </p:sp>
      <p:sp>
        <p:nvSpPr>
          <p:cNvPr id="70" name="Rectangle 69"/>
          <p:cNvSpPr/>
          <p:nvPr/>
        </p:nvSpPr>
        <p:spPr>
          <a:xfrm>
            <a:off x="6976872" y="4791456"/>
            <a:ext cx="402336" cy="402336"/>
          </a:xfrm>
          <a:prstGeom prst="rect">
            <a:avLst/>
          </a:prstGeom>
          <a:solidFill>
            <a:srgbClr val="F1F6FB"/>
          </a:solidFill>
          <a:ln w="9525">
            <a:solidFill>
              <a:srgbClr val="E2E8F2"/>
            </a:solidFill>
          </a:ln>
          <a:effectLst/>
        </p:spPr>
        <p:txBody>
          <a:bodyPr rtlCol="0" anchor="ctr"/>
          <a:lstStyle/>
          <a:p>
            <a:pPr algn="ctr"/>
          </a:p>
        </p:txBody>
      </p:sp>
      <p:sp>
        <p:nvSpPr>
          <p:cNvPr id="71" name="Rectangle 70"/>
          <p:cNvSpPr/>
          <p:nvPr/>
        </p:nvSpPr>
        <p:spPr>
          <a:xfrm>
            <a:off x="7379208" y="4791456"/>
            <a:ext cx="402336" cy="402336"/>
          </a:xfrm>
          <a:prstGeom prst="rect">
            <a:avLst/>
          </a:prstGeom>
          <a:solidFill>
            <a:srgbClr val="F1F6FB"/>
          </a:solidFill>
          <a:ln w="9525">
            <a:solidFill>
              <a:srgbClr val="E2E8F2"/>
            </a:solidFill>
          </a:ln>
          <a:effectLst/>
        </p:spPr>
        <p:txBody>
          <a:bodyPr rtlCol="0" anchor="ctr"/>
          <a:lstStyle/>
          <a:p>
            <a:pPr algn="ctr"/>
          </a:p>
        </p:txBody>
      </p:sp>
      <p:sp>
        <p:nvSpPr>
          <p:cNvPr id="72" name="Rectangle 71"/>
          <p:cNvSpPr/>
          <p:nvPr/>
        </p:nvSpPr>
        <p:spPr>
          <a:xfrm>
            <a:off x="7781544" y="4791456"/>
            <a:ext cx="402336" cy="402336"/>
          </a:xfrm>
          <a:prstGeom prst="rect">
            <a:avLst/>
          </a:prstGeom>
          <a:solidFill>
            <a:srgbClr val="F1F6FB"/>
          </a:solidFill>
          <a:ln w="9525">
            <a:solidFill>
              <a:srgbClr val="E2E8F2"/>
            </a:solidFill>
          </a:ln>
          <a:effectLst/>
        </p:spPr>
        <p:txBody>
          <a:bodyPr rtlCol="0" anchor="ctr"/>
          <a:lstStyle/>
          <a:p>
            <a:pPr algn="ctr"/>
          </a:p>
        </p:txBody>
      </p:sp>
      <p:sp>
        <p:nvSpPr>
          <p:cNvPr id="73" name="Rectangle 72"/>
          <p:cNvSpPr/>
          <p:nvPr/>
        </p:nvSpPr>
        <p:spPr>
          <a:xfrm>
            <a:off x="8183880" y="4791456"/>
            <a:ext cx="402336" cy="402336"/>
          </a:xfrm>
          <a:prstGeom prst="rect">
            <a:avLst/>
          </a:prstGeom>
          <a:solidFill>
            <a:srgbClr val="F1F6FB"/>
          </a:solidFill>
          <a:ln w="9525">
            <a:solidFill>
              <a:srgbClr val="E2E8F2"/>
            </a:solidFill>
          </a:ln>
          <a:effectLst/>
        </p:spPr>
        <p:txBody>
          <a:bodyPr rtlCol="0" anchor="ctr"/>
          <a:lstStyle/>
          <a:p>
            <a:pPr algn="ctr"/>
          </a:p>
        </p:txBody>
      </p:sp>
      <p:sp>
        <p:nvSpPr>
          <p:cNvPr id="74" name="Rectangle 73"/>
          <p:cNvSpPr/>
          <p:nvPr/>
        </p:nvSpPr>
        <p:spPr>
          <a:xfrm>
            <a:off x="8586216" y="4791456"/>
            <a:ext cx="402336" cy="402336"/>
          </a:xfrm>
          <a:prstGeom prst="rect">
            <a:avLst/>
          </a:prstGeom>
          <a:solidFill>
            <a:srgbClr val="B2D0EA"/>
          </a:solidFill>
          <a:ln w="9525">
            <a:solidFill>
              <a:srgbClr val="E2E8F2"/>
            </a:solidFill>
          </a:ln>
          <a:effectLst/>
        </p:spPr>
        <p:txBody>
          <a:bodyPr rtlCol="0" anchor="ctr"/>
          <a:lstStyle/>
          <a:p>
            <a:pPr algn="ctr"/>
          </a:p>
        </p:txBody>
      </p:sp>
      <p:sp>
        <p:nvSpPr>
          <p:cNvPr id="75" name="Rectangle 74"/>
          <p:cNvSpPr/>
          <p:nvPr/>
        </p:nvSpPr>
        <p:spPr>
          <a:xfrm>
            <a:off x="8988552" y="4791456"/>
            <a:ext cx="402336" cy="402336"/>
          </a:xfrm>
          <a:prstGeom prst="rect">
            <a:avLst/>
          </a:prstGeom>
          <a:solidFill>
            <a:srgbClr val="F1F6FB"/>
          </a:solidFill>
          <a:ln w="9525">
            <a:solidFill>
              <a:srgbClr val="E2E8F2"/>
            </a:solidFill>
          </a:ln>
          <a:effectLst/>
        </p:spPr>
        <p:txBody>
          <a:bodyPr rtlCol="0" anchor="ctr"/>
          <a:lstStyle/>
          <a:p>
            <a:pPr algn="ctr"/>
          </a:p>
        </p:txBody>
      </p:sp>
      <p:sp>
        <p:nvSpPr>
          <p:cNvPr id="76" name="TextBox 75"/>
          <p:cNvSpPr txBox="1"/>
          <p:nvPr/>
        </p:nvSpPr>
        <p:spPr>
          <a:xfrm>
            <a:off x="5120640" y="5212080"/>
            <a:ext cx="1005840" cy="402336"/>
          </a:xfrm>
          <a:prstGeom prst="rect">
            <a:avLst/>
          </a:prstGeom>
          <a:noFill/>
        </p:spPr>
        <p:txBody>
          <a:bodyPr wrap="square" lIns="18288" rIns="18288" tIns="10973" bIns="10973" anchor="ctr">
            <a:noAutofit/>
          </a:bodyPr>
          <a:lstStyle/>
          <a:p>
            <a:pPr algn="r"/>
            <a:r>
              <a:rPr sz="1300" b="0" i="0">
                <a:solidFill>
                  <a:srgbClr val="16202F"/>
                </a:solidFill>
                <a:latin typeface="Calibri"/>
              </a:rPr>
              <a:t>slept</a:t>
            </a:r>
          </a:p>
        </p:txBody>
      </p:sp>
      <p:sp>
        <p:nvSpPr>
          <p:cNvPr id="77" name="TextBox 76"/>
          <p:cNvSpPr txBox="1"/>
          <p:nvPr/>
        </p:nvSpPr>
        <p:spPr>
          <a:xfrm>
            <a:off x="8851392" y="2011680"/>
            <a:ext cx="676656" cy="320040"/>
          </a:xfrm>
          <a:prstGeom prst="rect">
            <a:avLst/>
          </a:prstGeom>
          <a:noFill/>
        </p:spPr>
        <p:txBody>
          <a:bodyPr wrap="square" lIns="18288" rIns="18288" tIns="10973" bIns="10973" anchor="t">
            <a:noAutofit/>
          </a:bodyPr>
          <a:lstStyle/>
          <a:p>
            <a:pPr algn="ctr"/>
            <a:r>
              <a:rPr sz="1100" b="0" i="0">
                <a:solidFill>
                  <a:srgbClr val="53617A"/>
                </a:solidFill>
                <a:latin typeface="Calibri"/>
              </a:rPr>
              <a:t>slept</a:t>
            </a:r>
          </a:p>
        </p:txBody>
      </p:sp>
      <p:sp>
        <p:nvSpPr>
          <p:cNvPr id="78" name="Rectangle 77"/>
          <p:cNvSpPr/>
          <p:nvPr/>
        </p:nvSpPr>
        <p:spPr>
          <a:xfrm>
            <a:off x="6172200" y="5193792"/>
            <a:ext cx="402336" cy="402336"/>
          </a:xfrm>
          <a:prstGeom prst="rect">
            <a:avLst/>
          </a:prstGeom>
          <a:solidFill>
            <a:srgbClr val="F1F6FB"/>
          </a:solidFill>
          <a:ln w="9525">
            <a:solidFill>
              <a:srgbClr val="E2E8F2"/>
            </a:solidFill>
          </a:ln>
          <a:effectLst/>
        </p:spPr>
        <p:txBody>
          <a:bodyPr rtlCol="0" anchor="ctr"/>
          <a:lstStyle/>
          <a:p>
            <a:pPr algn="ctr"/>
          </a:p>
        </p:txBody>
      </p:sp>
      <p:sp>
        <p:nvSpPr>
          <p:cNvPr id="79" name="Rectangle 78"/>
          <p:cNvSpPr/>
          <p:nvPr/>
        </p:nvSpPr>
        <p:spPr>
          <a:xfrm>
            <a:off x="6574536" y="5193792"/>
            <a:ext cx="402336" cy="402336"/>
          </a:xfrm>
          <a:prstGeom prst="rect">
            <a:avLst/>
          </a:prstGeom>
          <a:solidFill>
            <a:srgbClr val="5798D1"/>
          </a:solidFill>
          <a:ln w="9525">
            <a:solidFill>
              <a:srgbClr val="E2E8F2"/>
            </a:solidFill>
          </a:ln>
          <a:effectLst/>
        </p:spPr>
        <p:txBody>
          <a:bodyPr rtlCol="0" anchor="ctr"/>
          <a:lstStyle/>
          <a:p>
            <a:pPr algn="ctr"/>
          </a:p>
        </p:txBody>
      </p:sp>
      <p:sp>
        <p:nvSpPr>
          <p:cNvPr id="80" name="Rectangle 79"/>
          <p:cNvSpPr/>
          <p:nvPr/>
        </p:nvSpPr>
        <p:spPr>
          <a:xfrm>
            <a:off x="6976872" y="5193792"/>
            <a:ext cx="402336" cy="402336"/>
          </a:xfrm>
          <a:prstGeom prst="rect">
            <a:avLst/>
          </a:prstGeom>
          <a:solidFill>
            <a:srgbClr val="F1F6FB"/>
          </a:solidFill>
          <a:ln w="9525">
            <a:solidFill>
              <a:srgbClr val="E2E8F2"/>
            </a:solidFill>
          </a:ln>
          <a:effectLst/>
        </p:spPr>
        <p:txBody>
          <a:bodyPr rtlCol="0" anchor="ctr"/>
          <a:lstStyle/>
          <a:p>
            <a:pPr algn="ctr"/>
          </a:p>
        </p:txBody>
      </p:sp>
      <p:sp>
        <p:nvSpPr>
          <p:cNvPr id="81" name="Rectangle 80"/>
          <p:cNvSpPr/>
          <p:nvPr/>
        </p:nvSpPr>
        <p:spPr>
          <a:xfrm>
            <a:off x="7379208" y="5193792"/>
            <a:ext cx="402336" cy="402336"/>
          </a:xfrm>
          <a:prstGeom prst="rect">
            <a:avLst/>
          </a:prstGeom>
          <a:solidFill>
            <a:srgbClr val="F1F6FB"/>
          </a:solidFill>
          <a:ln w="9525">
            <a:solidFill>
              <a:srgbClr val="E2E8F2"/>
            </a:solidFill>
          </a:ln>
          <a:effectLst/>
        </p:spPr>
        <p:txBody>
          <a:bodyPr rtlCol="0" anchor="ctr"/>
          <a:lstStyle/>
          <a:p>
            <a:pPr algn="ctr"/>
          </a:p>
        </p:txBody>
      </p:sp>
      <p:sp>
        <p:nvSpPr>
          <p:cNvPr id="82" name="Rectangle 81"/>
          <p:cNvSpPr/>
          <p:nvPr/>
        </p:nvSpPr>
        <p:spPr>
          <a:xfrm>
            <a:off x="7781544" y="5193792"/>
            <a:ext cx="402336" cy="402336"/>
          </a:xfrm>
          <a:prstGeom prst="rect">
            <a:avLst/>
          </a:prstGeom>
          <a:solidFill>
            <a:srgbClr val="F1F6FB"/>
          </a:solidFill>
          <a:ln w="9525">
            <a:solidFill>
              <a:srgbClr val="E2E8F2"/>
            </a:solidFill>
          </a:ln>
          <a:effectLst/>
        </p:spPr>
        <p:txBody>
          <a:bodyPr rtlCol="0" anchor="ctr"/>
          <a:lstStyle/>
          <a:p>
            <a:pPr algn="ctr"/>
          </a:p>
        </p:txBody>
      </p:sp>
      <p:sp>
        <p:nvSpPr>
          <p:cNvPr id="83" name="Rectangle 82"/>
          <p:cNvSpPr/>
          <p:nvPr/>
        </p:nvSpPr>
        <p:spPr>
          <a:xfrm>
            <a:off x="8183880" y="5193792"/>
            <a:ext cx="402336" cy="402336"/>
          </a:xfrm>
          <a:prstGeom prst="rect">
            <a:avLst/>
          </a:prstGeom>
          <a:solidFill>
            <a:srgbClr val="F1F6FB"/>
          </a:solidFill>
          <a:ln w="9525">
            <a:solidFill>
              <a:srgbClr val="E2E8F2"/>
            </a:solidFill>
          </a:ln>
          <a:effectLst/>
        </p:spPr>
        <p:txBody>
          <a:bodyPr rtlCol="0" anchor="ctr"/>
          <a:lstStyle/>
          <a:p>
            <a:pPr algn="ctr"/>
          </a:p>
        </p:txBody>
      </p:sp>
      <p:sp>
        <p:nvSpPr>
          <p:cNvPr id="84" name="Rectangle 83"/>
          <p:cNvSpPr/>
          <p:nvPr/>
        </p:nvSpPr>
        <p:spPr>
          <a:xfrm>
            <a:off x="8586216" y="5193792"/>
            <a:ext cx="402336" cy="402336"/>
          </a:xfrm>
          <a:prstGeom prst="rect">
            <a:avLst/>
          </a:prstGeom>
          <a:solidFill>
            <a:srgbClr val="3382C7"/>
          </a:solidFill>
          <a:ln w="9525">
            <a:solidFill>
              <a:srgbClr val="E2E8F2"/>
            </a:solidFill>
          </a:ln>
          <a:effectLst/>
        </p:spPr>
        <p:txBody>
          <a:bodyPr rtlCol="0" anchor="ctr"/>
          <a:lstStyle/>
          <a:p>
            <a:pPr algn="ctr"/>
          </a:p>
        </p:txBody>
      </p:sp>
      <p:sp>
        <p:nvSpPr>
          <p:cNvPr id="85" name="Rectangle 84"/>
          <p:cNvSpPr/>
          <p:nvPr/>
        </p:nvSpPr>
        <p:spPr>
          <a:xfrm>
            <a:off x="8988552" y="5193792"/>
            <a:ext cx="402336" cy="402336"/>
          </a:xfrm>
          <a:prstGeom prst="rect">
            <a:avLst/>
          </a:prstGeom>
          <a:solidFill>
            <a:srgbClr val="B2D0EA"/>
          </a:solidFill>
          <a:ln w="9525">
            <a:solidFill>
              <a:srgbClr val="E2E8F2"/>
            </a:solidFill>
          </a:ln>
          <a:effectLst/>
        </p:spPr>
        <p:txBody>
          <a:bodyPr rtlCol="0" anchor="ctr"/>
          <a:lstStyle/>
          <a:p>
            <a:pPr algn="ctr"/>
          </a:p>
        </p:txBody>
      </p:sp>
      <p:sp>
        <p:nvSpPr>
          <p:cNvPr id="86" name="8 tokens"/>
          <p:cNvSpPr/>
          <p:nvPr/>
        </p:nvSpPr>
        <p:spPr>
          <a:xfrm>
            <a:off x="9738360" y="2377440"/>
            <a:ext cx="1783080" cy="868680"/>
          </a:xfrm>
          <a:prstGeom prst="roundRect">
            <a:avLst>
              <a:gd name="adj" fmla="val 12631"/>
            </a:avLst>
          </a:prstGeom>
          <a:solidFill>
            <a:srgbClr val="FFFFFF"/>
          </a:solidFill>
          <a:ln w="15875">
            <a:solidFill>
              <a:srgbClr val="B8C4D6"/>
            </a:solidFill>
          </a:ln>
          <a:effectLst/>
        </p:spPr>
        <p:txBody>
          <a:bodyPr rtlCol="0" anchor="ctr" wrap="square" lIns="73152" rIns="73152" tIns="43891" bIns="43891">
            <a:noAutofit/>
          </a:bodyPr>
          <a:lstStyle/>
          <a:p>
            <a:pPr algn="ctr"/>
            <a:r>
              <a:rPr sz="1600" b="1" i="0">
                <a:solidFill>
                  <a:srgbClr val="16202F"/>
                </a:solidFill>
                <a:latin typeface="Calibri"/>
              </a:rPr>
              <a:t>8 tokens</a:t>
            </a:r>
          </a:p>
          <a:p>
            <a:pPr algn="ctr"/>
            <a:r>
              <a:rPr sz="1300" b="0" i="0">
                <a:solidFill>
                  <a:srgbClr val="53617A"/>
                </a:solidFill>
                <a:latin typeface="Calibri"/>
              </a:rPr>
              <a:t>64 pairs</a:t>
            </a:r>
          </a:p>
        </p:txBody>
      </p:sp>
      <p:sp>
        <p:nvSpPr>
          <p:cNvPr id="87" name="16 tokens"/>
          <p:cNvSpPr/>
          <p:nvPr/>
        </p:nvSpPr>
        <p:spPr>
          <a:xfrm>
            <a:off x="9738360" y="3429000"/>
            <a:ext cx="1783080" cy="868680"/>
          </a:xfrm>
          <a:prstGeom prst="roundRect">
            <a:avLst>
              <a:gd name="adj" fmla="val 12631"/>
            </a:avLst>
          </a:prstGeom>
          <a:solidFill>
            <a:srgbClr val="EAF3FC"/>
          </a:solidFill>
          <a:ln w="15875">
            <a:solidFill>
              <a:srgbClr val="8DBBE6"/>
            </a:solidFill>
          </a:ln>
          <a:effectLst/>
        </p:spPr>
        <p:txBody>
          <a:bodyPr rtlCol="0" anchor="ctr" wrap="square" lIns="73152" rIns="73152" tIns="43891" bIns="43891">
            <a:noAutofit/>
          </a:bodyPr>
          <a:lstStyle/>
          <a:p>
            <a:pPr algn="ctr"/>
            <a:r>
              <a:rPr sz="1600" b="1" i="0">
                <a:solidFill>
                  <a:srgbClr val="16202F"/>
                </a:solidFill>
                <a:latin typeface="Calibri"/>
              </a:rPr>
              <a:t>16 tokens</a:t>
            </a:r>
          </a:p>
          <a:p>
            <a:pPr algn="ctr"/>
            <a:r>
              <a:rPr sz="1300" b="0" i="0">
                <a:solidFill>
                  <a:srgbClr val="53617A"/>
                </a:solidFill>
                <a:latin typeface="Calibri"/>
              </a:rPr>
              <a:t>256 pairs</a:t>
            </a:r>
          </a:p>
        </p:txBody>
      </p:sp>
      <p:sp>
        <p:nvSpPr>
          <p:cNvPr id="88" name="Cost grows"/>
          <p:cNvSpPr/>
          <p:nvPr/>
        </p:nvSpPr>
        <p:spPr>
          <a:xfrm>
            <a:off x="9738360" y="4480560"/>
            <a:ext cx="1783080" cy="868680"/>
          </a:xfrm>
          <a:prstGeom prst="roundRect">
            <a:avLst>
              <a:gd name="adj" fmla="val 12631"/>
            </a:avLst>
          </a:prstGeom>
          <a:solidFill>
            <a:srgbClr val="FFF4E4"/>
          </a:solidFill>
          <a:ln w="15875">
            <a:solidFill>
              <a:srgbClr val="E8A855"/>
            </a:solidFill>
          </a:ln>
          <a:effectLst/>
        </p:spPr>
        <p:txBody>
          <a:bodyPr rtlCol="0" anchor="ctr" wrap="square" lIns="73152" rIns="73152" tIns="43891" bIns="43891">
            <a:noAutofit/>
          </a:bodyPr>
          <a:lstStyle/>
          <a:p>
            <a:pPr algn="ctr"/>
            <a:r>
              <a:rPr sz="1600" b="1" i="0">
                <a:solidFill>
                  <a:srgbClr val="16202F"/>
                </a:solidFill>
                <a:latin typeface="Calibri"/>
              </a:rPr>
              <a:t>Cost grows</a:t>
            </a:r>
          </a:p>
          <a:p>
            <a:pPr algn="ctr"/>
            <a:r>
              <a:rPr sz="1300" b="0" i="0">
                <a:solidFill>
                  <a:srgbClr val="53617A"/>
                </a:solidFill>
                <a:latin typeface="Calibri"/>
              </a:rPr>
              <a:t>with length squared</a:t>
            </a:r>
          </a:p>
        </p:txBody>
      </p:sp>
      <p:sp>
        <p:nvSpPr>
          <p:cNvPr id="89" name="TextBox 88"/>
          <p:cNvSpPr txBox="1"/>
          <p:nvPr/>
        </p:nvSpPr>
        <p:spPr>
          <a:xfrm>
            <a:off x="5120640" y="5596128"/>
            <a:ext cx="4572000" cy="320040"/>
          </a:xfrm>
          <a:prstGeom prst="rect">
            <a:avLst/>
          </a:prstGeom>
          <a:noFill/>
        </p:spPr>
        <p:txBody>
          <a:bodyPr wrap="square" lIns="18288" rIns="18288" tIns="10973" bIns="10973" anchor="t">
            <a:noAutofit/>
          </a:bodyPr>
          <a:lstStyle/>
          <a:p>
            <a:pPr algn="ctr"/>
            <a:r>
              <a:rPr sz="1200" b="0" i="1">
                <a:solidFill>
                  <a:srgbClr val="53617A"/>
                </a:solidFill>
                <a:latin typeface="Calibri"/>
              </a:rPr>
              <a:t>Darker cell = stronger attention (illustrative)</a:t>
            </a:r>
          </a:p>
        </p:txBody>
      </p:sp>
      <p:sp>
        <p:nvSpPr>
          <p:cNvPr id="90" name="Freeform 89"/>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91"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92"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Long-context trade-offs: lost in the middle</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LONG CONTEXT</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Bigger window does not mean uniform recall</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Models favor the start and end</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Middle content can be effectively ignored</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Rounded Rectangle 5"/>
          <p:cNvSpPr/>
          <p:nvPr/>
        </p:nvSpPr>
        <p:spPr>
          <a:xfrm>
            <a:off x="7452360" y="3429000"/>
            <a:ext cx="1920240" cy="914400"/>
          </a:xfrm>
          <a:prstGeom prst="roundRect">
            <a:avLst>
              <a:gd name="adj" fmla="val 12000"/>
            </a:avLst>
          </a:prstGeom>
          <a:noFill/>
          <a:ln w="19050">
            <a:solidFill>
              <a:srgbClr val="C2620A"/>
            </a:solidFill>
            <a:prstDash val="dash"/>
          </a:ln>
          <a:effectLst/>
        </p:spPr>
        <p:txBody>
          <a:bodyPr rtlCol="0" anchor="ctr"/>
          <a:lstStyle/>
          <a:p>
            <a:pPr algn="ctr"/>
          </a:p>
        </p:txBody>
      </p:sp>
      <p:sp>
        <p:nvSpPr>
          <p:cNvPr id="7" name="Freeform 6"/>
          <p:cNvSpPr/>
          <p:nvPr/>
        </p:nvSpPr>
        <p:spPr>
          <a:xfrm>
            <a:off x="5532120" y="2514600"/>
            <a:ext cx="5760720" cy="1554480"/>
          </a:xfrm>
          <a:custGeom>
            <a:avLst/>
            <a:gdLst/>
            <a:ahLst/>
            <a:cxnLst/>
            <a:rect l="l" t="t" r="r" b="b"/>
            <a:pathLst>
              <a:path w="5760720" h="1554480">
                <a:moveTo>
                  <a:pt x="0" y="0"/>
                </a:moveTo>
                <a:lnTo>
                  <a:pt x="192024" y="143124"/>
                </a:lnTo>
                <a:lnTo>
                  <a:pt x="384048" y="282214"/>
                </a:lnTo>
                <a:lnTo>
                  <a:pt x="576072" y="417086"/>
                </a:lnTo>
                <a:lnTo>
                  <a:pt x="768096" y="547532"/>
                </a:lnTo>
                <a:lnTo>
                  <a:pt x="960120" y="673315"/>
                </a:lnTo>
                <a:lnTo>
                  <a:pt x="1152144" y="794159"/>
                </a:lnTo>
                <a:lnTo>
                  <a:pt x="1344168" y="909742"/>
                </a:lnTo>
                <a:lnTo>
                  <a:pt x="1536192" y="1019676"/>
                </a:lnTo>
                <a:lnTo>
                  <a:pt x="1728216" y="1123488"/>
                </a:lnTo>
                <a:lnTo>
                  <a:pt x="1920240" y="1220581"/>
                </a:lnTo>
                <a:lnTo>
                  <a:pt x="2112264" y="1310170"/>
                </a:lnTo>
                <a:lnTo>
                  <a:pt x="2304288" y="1391165"/>
                </a:lnTo>
                <a:lnTo>
                  <a:pt x="2496312" y="1461904"/>
                </a:lnTo>
                <a:lnTo>
                  <a:pt x="2688336" y="1519400"/>
                </a:lnTo>
                <a:lnTo>
                  <a:pt x="2880360" y="1554480"/>
                </a:lnTo>
                <a:lnTo>
                  <a:pt x="3072384" y="1519400"/>
                </a:lnTo>
                <a:lnTo>
                  <a:pt x="3264408" y="1461904"/>
                </a:lnTo>
                <a:lnTo>
                  <a:pt x="3456432" y="1391165"/>
                </a:lnTo>
                <a:lnTo>
                  <a:pt x="3648456" y="1310170"/>
                </a:lnTo>
                <a:lnTo>
                  <a:pt x="3840480" y="1220581"/>
                </a:lnTo>
                <a:lnTo>
                  <a:pt x="4032504" y="1123488"/>
                </a:lnTo>
                <a:lnTo>
                  <a:pt x="4224528" y="1019676"/>
                </a:lnTo>
                <a:lnTo>
                  <a:pt x="4416552" y="909742"/>
                </a:lnTo>
                <a:lnTo>
                  <a:pt x="4608576" y="794159"/>
                </a:lnTo>
                <a:lnTo>
                  <a:pt x="4800600" y="673315"/>
                </a:lnTo>
                <a:lnTo>
                  <a:pt x="4992624" y="547532"/>
                </a:lnTo>
                <a:lnTo>
                  <a:pt x="5184648" y="417086"/>
                </a:lnTo>
                <a:lnTo>
                  <a:pt x="5376672" y="282214"/>
                </a:lnTo>
                <a:lnTo>
                  <a:pt x="5568696" y="143124"/>
                </a:lnTo>
                <a:lnTo>
                  <a:pt x="5760720" y="0"/>
                </a:lnTo>
              </a:path>
            </a:pathLst>
          </a:custGeom>
          <a:noFill/>
          <a:ln w="38100">
            <a:solidFill>
              <a:srgbClr val="0F6CBD"/>
            </a:solidFill>
          </a:ln>
          <a:effectLst/>
        </p:spPr>
        <p:txBody>
          <a:bodyPr rtlCol="0" anchor="ctr"/>
          <a:lstStyle/>
          <a:p>
            <a:pPr algn="ctr"/>
          </a:p>
        </p:txBody>
      </p:sp>
      <p:sp>
        <p:nvSpPr>
          <p:cNvPr id="8" name="TextBox 7"/>
          <p:cNvSpPr txBox="1"/>
          <p:nvPr/>
        </p:nvSpPr>
        <p:spPr>
          <a:xfrm>
            <a:off x="5166360" y="1965960"/>
            <a:ext cx="3657600" cy="365760"/>
          </a:xfrm>
          <a:prstGeom prst="rect">
            <a:avLst/>
          </a:prstGeom>
          <a:noFill/>
        </p:spPr>
        <p:txBody>
          <a:bodyPr wrap="square" lIns="18288" rIns="18288" tIns="10973" bIns="10973" anchor="t">
            <a:noAutofit/>
          </a:bodyPr>
          <a:lstStyle/>
          <a:p>
            <a:pPr algn="l"/>
            <a:r>
              <a:rPr sz="1500" b="1" i="0">
                <a:solidFill>
                  <a:srgbClr val="0F6CBD"/>
                </a:solidFill>
                <a:latin typeface="Calibri"/>
              </a:rPr>
              <a:t>Retrieval accuracy by position</a:t>
            </a:r>
          </a:p>
        </p:txBody>
      </p:sp>
      <p:sp>
        <p:nvSpPr>
          <p:cNvPr id="9" name="TextBox 8"/>
          <p:cNvSpPr txBox="1"/>
          <p:nvPr/>
        </p:nvSpPr>
        <p:spPr>
          <a:xfrm>
            <a:off x="7315200" y="3017520"/>
            <a:ext cx="2194560" cy="365760"/>
          </a:xfrm>
          <a:prstGeom prst="rect">
            <a:avLst/>
          </a:prstGeom>
          <a:noFill/>
        </p:spPr>
        <p:txBody>
          <a:bodyPr wrap="square" lIns="18288" rIns="18288" tIns="10973" bIns="10973" anchor="t">
            <a:noAutofit/>
          </a:bodyPr>
          <a:lstStyle/>
          <a:p>
            <a:pPr algn="ctr"/>
            <a:r>
              <a:rPr sz="1300" b="0" i="1">
                <a:solidFill>
                  <a:srgbClr val="C2620A"/>
                </a:solidFill>
                <a:latin typeface="Calibri"/>
              </a:rPr>
              <a:t>middle is recalled less</a:t>
            </a:r>
          </a:p>
        </p:txBody>
      </p:sp>
      <p:sp>
        <p:nvSpPr>
          <p:cNvPr id="10" name="Start"/>
          <p:cNvSpPr/>
          <p:nvPr/>
        </p:nvSpPr>
        <p:spPr>
          <a:xfrm>
            <a:off x="5532120" y="4572000"/>
            <a:ext cx="1737360" cy="566928"/>
          </a:xfrm>
          <a:prstGeom prst="rect">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Start</a:t>
            </a:r>
          </a:p>
        </p:txBody>
      </p:sp>
      <p:sp>
        <p:nvSpPr>
          <p:cNvPr id="11" name="Middle"/>
          <p:cNvSpPr/>
          <p:nvPr/>
        </p:nvSpPr>
        <p:spPr>
          <a:xfrm>
            <a:off x="7269480" y="4572000"/>
            <a:ext cx="2286000" cy="566928"/>
          </a:xfrm>
          <a:prstGeom prst="rect">
            <a:avLst/>
          </a:prstGeom>
          <a:solidFill>
            <a:srgbClr val="FFFFFF"/>
          </a:solidFill>
          <a:ln w="15875">
            <a:solidFill>
              <a:srgbClr val="B8C4D6"/>
            </a:solidFill>
          </a:ln>
          <a:effectLst/>
        </p:spPr>
        <p:txBody>
          <a:bodyPr rtlCol="0" anchor="ctr" wrap="square" lIns="73152" rIns="73152" tIns="43891" bIns="43891">
            <a:noAutofit/>
          </a:bodyPr>
          <a:lstStyle/>
          <a:p>
            <a:pPr algn="ctr"/>
            <a:r>
              <a:rPr sz="1500" b="1" i="0">
                <a:solidFill>
                  <a:srgbClr val="16202F"/>
                </a:solidFill>
                <a:latin typeface="Calibri"/>
              </a:rPr>
              <a:t>Middle</a:t>
            </a:r>
          </a:p>
        </p:txBody>
      </p:sp>
      <p:sp>
        <p:nvSpPr>
          <p:cNvPr id="12" name="End"/>
          <p:cNvSpPr/>
          <p:nvPr/>
        </p:nvSpPr>
        <p:spPr>
          <a:xfrm>
            <a:off x="9555480" y="4572000"/>
            <a:ext cx="1737360" cy="566928"/>
          </a:xfrm>
          <a:prstGeom prst="rect">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End</a:t>
            </a:r>
          </a:p>
        </p:txBody>
      </p:sp>
      <p:sp>
        <p:nvSpPr>
          <p:cNvPr id="13" name="TextBox 12"/>
          <p:cNvSpPr txBox="1"/>
          <p:nvPr/>
        </p:nvSpPr>
        <p:spPr>
          <a:xfrm>
            <a:off x="5532120" y="5175504"/>
            <a:ext cx="5760720" cy="320040"/>
          </a:xfrm>
          <a:prstGeom prst="rect">
            <a:avLst/>
          </a:prstGeom>
          <a:noFill/>
        </p:spPr>
        <p:txBody>
          <a:bodyPr wrap="square" lIns="18288" rIns="18288" tIns="10973" bIns="10973" anchor="t">
            <a:noAutofit/>
          </a:bodyPr>
          <a:lstStyle/>
          <a:p>
            <a:pPr algn="ctr"/>
            <a:r>
              <a:rPr sz="1300" b="0" i="0">
                <a:solidFill>
                  <a:srgbClr val="53617A"/>
                </a:solidFill>
                <a:latin typeface="Calibri"/>
              </a:rPr>
              <a:t>Long input / context window</a:t>
            </a:r>
          </a:p>
        </p:txBody>
      </p:sp>
      <p:sp>
        <p:nvSpPr>
          <p:cNvPr id="14" name="TextBox 13"/>
          <p:cNvSpPr txBox="1"/>
          <p:nvPr/>
        </p:nvSpPr>
        <p:spPr>
          <a:xfrm>
            <a:off x="5166360" y="5532120"/>
            <a:ext cx="6400800" cy="320040"/>
          </a:xfrm>
          <a:prstGeom prst="rect">
            <a:avLst/>
          </a:prstGeom>
          <a:noFill/>
        </p:spPr>
        <p:txBody>
          <a:bodyPr wrap="square" lIns="18288" rIns="18288" tIns="10973" bIns="10973" anchor="t">
            <a:noAutofit/>
          </a:bodyPr>
          <a:lstStyle/>
          <a:p>
            <a:pPr algn="ctr"/>
            <a:r>
              <a:rPr sz="1200" b="0" i="1">
                <a:solidFill>
                  <a:srgbClr val="53617A"/>
                </a:solidFill>
                <a:latin typeface="Calibri"/>
              </a:rPr>
              <a:t>Illustrative shape, after Liu et al. (2023)</a:t>
            </a:r>
          </a:p>
        </p:txBody>
      </p:sp>
      <p:sp>
        <p:nvSpPr>
          <p:cNvPr id="15" name="Freeform 14"/>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6"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17"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Reasoning models and test-time compute</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REASONING</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More inference-time computation, not bigger weights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Internal multi-step deliberation before output</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Effort is tunable per request</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card"/>
          <p:cNvSpPr/>
          <p:nvPr/>
        </p:nvSpPr>
        <p:spPr>
          <a:xfrm>
            <a:off x="5440680" y="4251960"/>
            <a:ext cx="868680" cy="822960"/>
          </a:xfrm>
          <a:prstGeom prst="rect">
            <a:avLst/>
          </a:prstGeom>
          <a:solidFill>
            <a:srgbClr val="EAF3FC"/>
          </a:solidFill>
          <a:ln w="15875">
            <a:solidFill>
              <a:srgbClr val="8DBBE6"/>
            </a:solidFill>
          </a:ln>
          <a:effectLst/>
        </p:spPr>
        <p:txBody>
          <a:bodyPr rtlCol="0" anchor="ctr" wrap="square" lIns="73152" rIns="73152" tIns="43891" bIns="43891">
            <a:noAutofit/>
          </a:bodyPr>
          <a:lstStyle/>
          <a:p>
            <a:pPr algn="ctr"/>
          </a:p>
        </p:txBody>
      </p:sp>
      <p:sp>
        <p:nvSpPr>
          <p:cNvPr id="7" name="Oval 6"/>
          <p:cNvSpPr/>
          <p:nvPr/>
        </p:nvSpPr>
        <p:spPr>
          <a:xfrm>
            <a:off x="5719572" y="3831336"/>
            <a:ext cx="310896" cy="310896"/>
          </a:xfrm>
          <a:prstGeom prst="ellipse">
            <a:avLst/>
          </a:prstGeom>
          <a:solidFill>
            <a:srgbClr val="FFFFFF"/>
          </a:solidFill>
          <a:ln w="19050">
            <a:solidFill>
              <a:srgbClr val="0F6CBD"/>
            </a:solidFill>
          </a:ln>
          <a:effectLst/>
        </p:spPr>
        <p:txBody>
          <a:bodyPr rtlCol="0" anchor="ctr"/>
          <a:lstStyle/>
          <a:p>
            <a:pPr algn="ctr"/>
          </a:p>
        </p:txBody>
      </p:sp>
      <p:sp>
        <p:nvSpPr>
          <p:cNvPr id="8" name="Freeform 7"/>
          <p:cNvSpPr/>
          <p:nvPr/>
        </p:nvSpPr>
        <p:spPr>
          <a:xfrm>
            <a:off x="5875020" y="3887297"/>
            <a:ext cx="74615" cy="130577"/>
          </a:xfrm>
          <a:custGeom>
            <a:avLst/>
            <a:gdLst/>
            <a:ahLst/>
            <a:cxnLst/>
            <a:rect l="l" t="t" r="r" b="b"/>
            <a:pathLst>
              <a:path w="74615" h="130577">
                <a:moveTo>
                  <a:pt x="0" y="0"/>
                </a:moveTo>
                <a:lnTo>
                  <a:pt x="0" y="99487"/>
                </a:lnTo>
                <a:lnTo>
                  <a:pt x="74615" y="130577"/>
                </a:lnTo>
              </a:path>
            </a:pathLst>
          </a:custGeom>
          <a:noFill/>
          <a:ln w="19050">
            <a:solidFill>
              <a:srgbClr val="0F6CBD"/>
            </a:solidFill>
          </a:ln>
          <a:effectLst/>
        </p:spPr>
        <p:txBody>
          <a:bodyPr rtlCol="0" anchor="ctr"/>
          <a:lstStyle/>
          <a:p>
            <a:pPr algn="ctr"/>
          </a:p>
        </p:txBody>
      </p:sp>
      <p:sp>
        <p:nvSpPr>
          <p:cNvPr id="9" name="TextBox 8"/>
          <p:cNvSpPr txBox="1"/>
          <p:nvPr/>
        </p:nvSpPr>
        <p:spPr>
          <a:xfrm>
            <a:off x="5212080" y="5148072"/>
            <a:ext cx="1325880" cy="320040"/>
          </a:xfrm>
          <a:prstGeom prst="rect">
            <a:avLst/>
          </a:prstGeom>
          <a:noFill/>
        </p:spPr>
        <p:txBody>
          <a:bodyPr wrap="square" lIns="18288" rIns="18288" tIns="10973" bIns="10973" anchor="t">
            <a:noAutofit/>
          </a:bodyPr>
          <a:lstStyle/>
          <a:p>
            <a:pPr algn="ctr"/>
            <a:r>
              <a:rPr sz="1300" b="0" i="0">
                <a:solidFill>
                  <a:srgbClr val="16202F"/>
                </a:solidFill>
                <a:latin typeface="Calibri"/>
              </a:rPr>
              <a:t>low effort</a:t>
            </a:r>
          </a:p>
        </p:txBody>
      </p:sp>
      <p:sp>
        <p:nvSpPr>
          <p:cNvPr id="10" name="card"/>
          <p:cNvSpPr/>
          <p:nvPr/>
        </p:nvSpPr>
        <p:spPr>
          <a:xfrm>
            <a:off x="6675120" y="3474720"/>
            <a:ext cx="868680" cy="1600200"/>
          </a:xfrm>
          <a:prstGeom prst="rect">
            <a:avLst/>
          </a:prstGeom>
          <a:solidFill>
            <a:srgbClr val="EAF3FC"/>
          </a:solidFill>
          <a:ln w="15875">
            <a:solidFill>
              <a:srgbClr val="8DBBE6"/>
            </a:solidFill>
          </a:ln>
          <a:effectLst/>
        </p:spPr>
        <p:txBody>
          <a:bodyPr rtlCol="0" anchor="ctr" wrap="square" lIns="73152" rIns="73152" tIns="43891" bIns="43891">
            <a:noAutofit/>
          </a:bodyPr>
          <a:lstStyle/>
          <a:p>
            <a:pPr algn="ctr"/>
          </a:p>
        </p:txBody>
      </p:sp>
      <p:sp>
        <p:nvSpPr>
          <p:cNvPr id="11" name="Oval 10"/>
          <p:cNvSpPr/>
          <p:nvPr/>
        </p:nvSpPr>
        <p:spPr>
          <a:xfrm>
            <a:off x="6908292" y="2962656"/>
            <a:ext cx="402336" cy="402336"/>
          </a:xfrm>
          <a:prstGeom prst="ellipse">
            <a:avLst/>
          </a:prstGeom>
          <a:solidFill>
            <a:srgbClr val="FFFFFF"/>
          </a:solidFill>
          <a:ln w="19050">
            <a:solidFill>
              <a:srgbClr val="0F6CBD"/>
            </a:solidFill>
          </a:ln>
          <a:effectLst/>
        </p:spPr>
        <p:txBody>
          <a:bodyPr rtlCol="0" anchor="ctr"/>
          <a:lstStyle/>
          <a:p>
            <a:pPr algn="ctr"/>
          </a:p>
        </p:txBody>
      </p:sp>
      <p:sp>
        <p:nvSpPr>
          <p:cNvPr id="12" name="Freeform 11"/>
          <p:cNvSpPr/>
          <p:nvPr/>
        </p:nvSpPr>
        <p:spPr>
          <a:xfrm>
            <a:off x="7109460" y="3035076"/>
            <a:ext cx="96561" cy="168982"/>
          </a:xfrm>
          <a:custGeom>
            <a:avLst/>
            <a:gdLst/>
            <a:ahLst/>
            <a:cxnLst/>
            <a:rect l="l" t="t" r="r" b="b"/>
            <a:pathLst>
              <a:path w="96561" h="168982">
                <a:moveTo>
                  <a:pt x="0" y="0"/>
                </a:moveTo>
                <a:lnTo>
                  <a:pt x="0" y="128748"/>
                </a:lnTo>
                <a:lnTo>
                  <a:pt x="96561" y="168982"/>
                </a:lnTo>
              </a:path>
            </a:pathLst>
          </a:custGeom>
          <a:noFill/>
          <a:ln w="19050">
            <a:solidFill>
              <a:srgbClr val="0F6CBD"/>
            </a:solidFill>
          </a:ln>
          <a:effectLst/>
        </p:spPr>
        <p:txBody>
          <a:bodyPr rtlCol="0" anchor="ctr"/>
          <a:lstStyle/>
          <a:p>
            <a:pPr algn="ctr"/>
          </a:p>
        </p:txBody>
      </p:sp>
      <p:sp>
        <p:nvSpPr>
          <p:cNvPr id="13" name="TextBox 12"/>
          <p:cNvSpPr txBox="1"/>
          <p:nvPr/>
        </p:nvSpPr>
        <p:spPr>
          <a:xfrm>
            <a:off x="6446520" y="5148072"/>
            <a:ext cx="1325880" cy="320040"/>
          </a:xfrm>
          <a:prstGeom prst="rect">
            <a:avLst/>
          </a:prstGeom>
          <a:noFill/>
        </p:spPr>
        <p:txBody>
          <a:bodyPr wrap="square" lIns="18288" rIns="18288" tIns="10973" bIns="10973" anchor="t">
            <a:noAutofit/>
          </a:bodyPr>
          <a:lstStyle/>
          <a:p>
            <a:pPr algn="ctr"/>
            <a:r>
              <a:rPr sz="1300" b="0" i="0">
                <a:solidFill>
                  <a:srgbClr val="16202F"/>
                </a:solidFill>
                <a:latin typeface="Calibri"/>
              </a:rPr>
              <a:t>medium effort</a:t>
            </a:r>
          </a:p>
        </p:txBody>
      </p:sp>
      <p:sp>
        <p:nvSpPr>
          <p:cNvPr id="14" name="card"/>
          <p:cNvSpPr/>
          <p:nvPr/>
        </p:nvSpPr>
        <p:spPr>
          <a:xfrm>
            <a:off x="7909560" y="2697480"/>
            <a:ext cx="868680" cy="2377440"/>
          </a:xfrm>
          <a:prstGeom prst="rect">
            <a:avLst/>
          </a:prstGeom>
          <a:solidFill>
            <a:srgbClr val="0F6CBD"/>
          </a:solidFill>
          <a:ln w="15875">
            <a:solidFill>
              <a:srgbClr val="0F6CBD"/>
            </a:solidFill>
          </a:ln>
          <a:effectLst/>
        </p:spPr>
        <p:txBody>
          <a:bodyPr rtlCol="0" anchor="ctr" wrap="square" lIns="73152" rIns="73152" tIns="43891" bIns="43891">
            <a:noAutofit/>
          </a:bodyPr>
          <a:lstStyle/>
          <a:p>
            <a:pPr algn="ctr"/>
          </a:p>
        </p:txBody>
      </p:sp>
      <p:sp>
        <p:nvSpPr>
          <p:cNvPr id="15" name="Oval 14"/>
          <p:cNvSpPr/>
          <p:nvPr/>
        </p:nvSpPr>
        <p:spPr>
          <a:xfrm>
            <a:off x="8097012" y="2093976"/>
            <a:ext cx="493776" cy="493776"/>
          </a:xfrm>
          <a:prstGeom prst="ellipse">
            <a:avLst/>
          </a:prstGeom>
          <a:solidFill>
            <a:srgbClr val="FFFFFF"/>
          </a:solidFill>
          <a:ln w="19050">
            <a:solidFill>
              <a:srgbClr val="0F6CBD"/>
            </a:solidFill>
          </a:ln>
          <a:effectLst/>
        </p:spPr>
        <p:txBody>
          <a:bodyPr rtlCol="0" anchor="ctr"/>
          <a:lstStyle/>
          <a:p>
            <a:pPr algn="ctr"/>
          </a:p>
        </p:txBody>
      </p:sp>
      <p:sp>
        <p:nvSpPr>
          <p:cNvPr id="16" name="Freeform 15"/>
          <p:cNvSpPr/>
          <p:nvPr/>
        </p:nvSpPr>
        <p:spPr>
          <a:xfrm>
            <a:off x="8343900" y="2182856"/>
            <a:ext cx="118506" cy="207386"/>
          </a:xfrm>
          <a:custGeom>
            <a:avLst/>
            <a:gdLst/>
            <a:ahLst/>
            <a:cxnLst/>
            <a:rect l="l" t="t" r="r" b="b"/>
            <a:pathLst>
              <a:path w="118506" h="207386">
                <a:moveTo>
                  <a:pt x="0" y="0"/>
                </a:moveTo>
                <a:lnTo>
                  <a:pt x="0" y="158008"/>
                </a:lnTo>
                <a:lnTo>
                  <a:pt x="118506" y="207386"/>
                </a:lnTo>
              </a:path>
            </a:pathLst>
          </a:custGeom>
          <a:noFill/>
          <a:ln w="19050">
            <a:solidFill>
              <a:srgbClr val="0F6CBD"/>
            </a:solidFill>
          </a:ln>
          <a:effectLst/>
        </p:spPr>
        <p:txBody>
          <a:bodyPr rtlCol="0" anchor="ctr"/>
          <a:lstStyle/>
          <a:p>
            <a:pPr algn="ctr"/>
          </a:p>
        </p:txBody>
      </p:sp>
      <p:sp>
        <p:nvSpPr>
          <p:cNvPr id="17" name="TextBox 16"/>
          <p:cNvSpPr txBox="1"/>
          <p:nvPr/>
        </p:nvSpPr>
        <p:spPr>
          <a:xfrm>
            <a:off x="7680960" y="5148072"/>
            <a:ext cx="1325880" cy="320040"/>
          </a:xfrm>
          <a:prstGeom prst="rect">
            <a:avLst/>
          </a:prstGeom>
          <a:noFill/>
        </p:spPr>
        <p:txBody>
          <a:bodyPr wrap="square" lIns="18288" rIns="18288" tIns="10973" bIns="10973" anchor="t">
            <a:noAutofit/>
          </a:bodyPr>
          <a:lstStyle/>
          <a:p>
            <a:pPr algn="ctr"/>
            <a:r>
              <a:rPr sz="1300" b="0" i="0">
                <a:solidFill>
                  <a:srgbClr val="16202F"/>
                </a:solidFill>
                <a:latin typeface="Calibri"/>
              </a:rPr>
              <a:t>high effort</a:t>
            </a:r>
          </a:p>
        </p:txBody>
      </p:sp>
      <p:cxnSp>
        <p:nvCxnSpPr>
          <p:cNvPr id="18" name="Connector 17"/>
          <p:cNvCxnSpPr/>
          <p:nvPr/>
        </p:nvCxnSpPr>
        <p:spPr>
          <a:xfrm>
            <a:off x="9006840" y="3840480"/>
            <a:ext cx="502920" cy="0"/>
          </a:xfrm>
          <a:prstGeom prst="line">
            <a:avLst/>
          </a:prstGeom>
          <a:ln w="28575">
            <a:solidFill>
              <a:srgbClr val="0F6CBD"/>
            </a:solidFill>
            <a:tailEnd type="triangle" w="med" len="med"/>
          </a:ln>
        </p:spPr>
      </p:cxnSp>
      <p:sp>
        <p:nvSpPr>
          <p:cNvPr id="19" name="Answer quality"/>
          <p:cNvSpPr/>
          <p:nvPr/>
        </p:nvSpPr>
        <p:spPr>
          <a:xfrm>
            <a:off x="9555480" y="3337560"/>
            <a:ext cx="1920240" cy="1005840"/>
          </a:xfrm>
          <a:prstGeom prst="roundRect">
            <a:avLst>
              <a:gd name="adj" fmla="val 10909"/>
            </a:avLst>
          </a:prstGeom>
          <a:solidFill>
            <a:srgbClr val="0F6CBD"/>
          </a:solidFill>
          <a:ln w="15875">
            <a:solidFill>
              <a:srgbClr val="0F6CBD"/>
            </a:solidFill>
          </a:ln>
          <a:effectLst/>
        </p:spPr>
        <p:txBody>
          <a:bodyPr rtlCol="0" anchor="ctr" wrap="square" lIns="73152" rIns="73152" tIns="43891" bIns="43891">
            <a:noAutofit/>
          </a:bodyPr>
          <a:lstStyle/>
          <a:p>
            <a:pPr algn="ctr"/>
            <a:r>
              <a:rPr sz="1700" b="1" i="0">
                <a:solidFill>
                  <a:srgbClr val="FFFFFF"/>
                </a:solidFill>
                <a:latin typeface="Calibri"/>
              </a:rPr>
              <a:t>Answer</a:t>
            </a:r>
          </a:p>
          <a:p>
            <a:pPr algn="ctr"/>
            <a:r>
              <a:rPr sz="1700" b="1" i="0">
                <a:solidFill>
                  <a:srgbClr val="FFFFFF"/>
                </a:solidFill>
                <a:latin typeface="Calibri"/>
              </a:rPr>
              <a:t>quality</a:t>
            </a:r>
          </a:p>
        </p:txBody>
      </p:sp>
      <p:sp>
        <p:nvSpPr>
          <p:cNvPr id="20" name="TextBox 19"/>
          <p:cNvSpPr txBox="1"/>
          <p:nvPr/>
        </p:nvSpPr>
        <p:spPr>
          <a:xfrm>
            <a:off x="9418320" y="4434840"/>
            <a:ext cx="2194560" cy="731520"/>
          </a:xfrm>
          <a:prstGeom prst="rect">
            <a:avLst/>
          </a:prstGeom>
          <a:noFill/>
        </p:spPr>
        <p:txBody>
          <a:bodyPr wrap="square" lIns="18288" rIns="18288" tIns="10973" bIns="10973" anchor="t">
            <a:noAutofit/>
          </a:bodyPr>
          <a:lstStyle/>
          <a:p>
            <a:pPr algn="ctr"/>
            <a:r>
              <a:rPr sz="1300" b="0" i="1">
                <a:solidFill>
                  <a:srgbClr val="53617A"/>
                </a:solidFill>
                <a:latin typeface="Calibri"/>
              </a:rPr>
              <a:t>more tokens, more</a:t>
            </a:r>
          </a:p>
          <a:p>
            <a:pPr algn="ctr"/>
            <a:r>
              <a:rPr sz="1300" b="0" i="1">
                <a:solidFill>
                  <a:srgbClr val="53617A"/>
                </a:solidFill>
                <a:latin typeface="Calibri"/>
              </a:rPr>
              <a:t>latency, more cost</a:t>
            </a:r>
          </a:p>
        </p:txBody>
      </p:sp>
      <p:sp>
        <p:nvSpPr>
          <p:cNvPr id="21" name="Freeform 20"/>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2"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23"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2700" b="1" i="0">
                <a:solidFill>
                  <a:srgbClr val="16202F"/>
                </a:solidFill>
                <a:latin typeface="Calibri"/>
              </a:rPr>
              <a:t>Open-weight models in practice: quantization and local runtimes</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LOCAL INFERENCE</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Quantization shrinks parameter precision</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Trades some accuracy for size and speed</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Different runtimes, different goals</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32-bit cube"/>
          <p:cNvSpPr/>
          <p:nvPr/>
        </p:nvSpPr>
        <p:spPr>
          <a:xfrm>
            <a:off x="5394960" y="2606040"/>
            <a:ext cx="1325880" cy="1325880"/>
          </a:xfrm>
          <a:prstGeom prst="cube">
            <a:avLst/>
          </a:prstGeom>
          <a:solidFill>
            <a:srgbClr val="EAF3FC"/>
          </a:solidFill>
          <a:ln w="19050">
            <a:solidFill>
              <a:srgbClr val="0F6CBD"/>
            </a:solidFill>
          </a:ln>
          <a:effectLst/>
        </p:spPr>
        <p:txBody>
          <a:bodyPr rtlCol="0" anchor="ctr"/>
          <a:lstStyle/>
          <a:p>
            <a:pPr algn="ctr"/>
          </a:p>
        </p:txBody>
      </p:sp>
      <p:sp>
        <p:nvSpPr>
          <p:cNvPr id="7" name="TextBox 6"/>
          <p:cNvSpPr txBox="1"/>
          <p:nvPr/>
        </p:nvSpPr>
        <p:spPr>
          <a:xfrm>
            <a:off x="5212080" y="3977640"/>
            <a:ext cx="1691640" cy="320040"/>
          </a:xfrm>
          <a:prstGeom prst="rect">
            <a:avLst/>
          </a:prstGeom>
          <a:noFill/>
        </p:spPr>
        <p:txBody>
          <a:bodyPr wrap="square" lIns="18288" rIns="18288" tIns="10973" bIns="10973" anchor="t">
            <a:noAutofit/>
          </a:bodyPr>
          <a:lstStyle/>
          <a:p>
            <a:pPr algn="ctr"/>
            <a:r>
              <a:rPr sz="1400" b="1" i="0">
                <a:solidFill>
                  <a:srgbClr val="16202F"/>
                </a:solidFill>
                <a:latin typeface="Calibri"/>
              </a:rPr>
              <a:t>32-bit</a:t>
            </a:r>
          </a:p>
        </p:txBody>
      </p:sp>
      <p:sp>
        <p:nvSpPr>
          <p:cNvPr id="8" name="16-bit cube"/>
          <p:cNvSpPr/>
          <p:nvPr/>
        </p:nvSpPr>
        <p:spPr>
          <a:xfrm>
            <a:off x="7132320" y="2880360"/>
            <a:ext cx="1051560" cy="1051560"/>
          </a:xfrm>
          <a:prstGeom prst="cube">
            <a:avLst/>
          </a:prstGeom>
          <a:solidFill>
            <a:srgbClr val="EAF3FC"/>
          </a:solidFill>
          <a:ln w="19050">
            <a:solidFill>
              <a:srgbClr val="0F6CBD"/>
            </a:solidFill>
          </a:ln>
          <a:effectLst/>
        </p:spPr>
        <p:txBody>
          <a:bodyPr rtlCol="0" anchor="ctr"/>
          <a:lstStyle/>
          <a:p>
            <a:pPr algn="ctr"/>
          </a:p>
        </p:txBody>
      </p:sp>
      <p:sp>
        <p:nvSpPr>
          <p:cNvPr id="9" name="TextBox 8"/>
          <p:cNvSpPr txBox="1"/>
          <p:nvPr/>
        </p:nvSpPr>
        <p:spPr>
          <a:xfrm>
            <a:off x="6949440" y="3977640"/>
            <a:ext cx="1417320" cy="320040"/>
          </a:xfrm>
          <a:prstGeom prst="rect">
            <a:avLst/>
          </a:prstGeom>
          <a:noFill/>
        </p:spPr>
        <p:txBody>
          <a:bodyPr wrap="square" lIns="18288" rIns="18288" tIns="10973" bIns="10973" anchor="t">
            <a:noAutofit/>
          </a:bodyPr>
          <a:lstStyle/>
          <a:p>
            <a:pPr algn="ctr"/>
            <a:r>
              <a:rPr sz="1400" b="1" i="0">
                <a:solidFill>
                  <a:srgbClr val="16202F"/>
                </a:solidFill>
                <a:latin typeface="Calibri"/>
              </a:rPr>
              <a:t>16-bit</a:t>
            </a:r>
          </a:p>
        </p:txBody>
      </p:sp>
      <p:sp>
        <p:nvSpPr>
          <p:cNvPr id="10" name="8-bit cube"/>
          <p:cNvSpPr/>
          <p:nvPr/>
        </p:nvSpPr>
        <p:spPr>
          <a:xfrm>
            <a:off x="8595360" y="3108960"/>
            <a:ext cx="822960" cy="822960"/>
          </a:xfrm>
          <a:prstGeom prst="cube">
            <a:avLst/>
          </a:prstGeom>
          <a:solidFill>
            <a:srgbClr val="EAF3FC"/>
          </a:solidFill>
          <a:ln w="19050">
            <a:solidFill>
              <a:srgbClr val="0F6CBD"/>
            </a:solidFill>
          </a:ln>
          <a:effectLst/>
        </p:spPr>
        <p:txBody>
          <a:bodyPr rtlCol="0" anchor="ctr"/>
          <a:lstStyle/>
          <a:p>
            <a:pPr algn="ctr"/>
          </a:p>
        </p:txBody>
      </p:sp>
      <p:sp>
        <p:nvSpPr>
          <p:cNvPr id="11" name="TextBox 10"/>
          <p:cNvSpPr txBox="1"/>
          <p:nvPr/>
        </p:nvSpPr>
        <p:spPr>
          <a:xfrm>
            <a:off x="8412480" y="3977640"/>
            <a:ext cx="1188720" cy="320040"/>
          </a:xfrm>
          <a:prstGeom prst="rect">
            <a:avLst/>
          </a:prstGeom>
          <a:noFill/>
        </p:spPr>
        <p:txBody>
          <a:bodyPr wrap="square" lIns="18288" rIns="18288" tIns="10973" bIns="10973" anchor="t">
            <a:noAutofit/>
          </a:bodyPr>
          <a:lstStyle/>
          <a:p>
            <a:pPr algn="ctr"/>
            <a:r>
              <a:rPr sz="1400" b="1" i="0">
                <a:solidFill>
                  <a:srgbClr val="16202F"/>
                </a:solidFill>
                <a:latin typeface="Calibri"/>
              </a:rPr>
              <a:t>8-bit</a:t>
            </a:r>
          </a:p>
        </p:txBody>
      </p:sp>
      <p:sp>
        <p:nvSpPr>
          <p:cNvPr id="12" name="4-bit cube"/>
          <p:cNvSpPr/>
          <p:nvPr/>
        </p:nvSpPr>
        <p:spPr>
          <a:xfrm>
            <a:off x="9829800" y="3291840"/>
            <a:ext cx="640080" cy="640080"/>
          </a:xfrm>
          <a:prstGeom prst="cube">
            <a:avLst/>
          </a:prstGeom>
          <a:solidFill>
            <a:srgbClr val="EAF3FC"/>
          </a:solidFill>
          <a:ln w="19050">
            <a:solidFill>
              <a:srgbClr val="0F6CBD"/>
            </a:solidFill>
          </a:ln>
          <a:effectLst/>
        </p:spPr>
        <p:txBody>
          <a:bodyPr rtlCol="0" anchor="ctr"/>
          <a:lstStyle/>
          <a:p>
            <a:pPr algn="ctr"/>
          </a:p>
        </p:txBody>
      </p:sp>
      <p:sp>
        <p:nvSpPr>
          <p:cNvPr id="13" name="TextBox 12"/>
          <p:cNvSpPr txBox="1"/>
          <p:nvPr/>
        </p:nvSpPr>
        <p:spPr>
          <a:xfrm>
            <a:off x="9646920" y="3977640"/>
            <a:ext cx="1005840" cy="320040"/>
          </a:xfrm>
          <a:prstGeom prst="rect">
            <a:avLst/>
          </a:prstGeom>
          <a:noFill/>
        </p:spPr>
        <p:txBody>
          <a:bodyPr wrap="square" lIns="18288" rIns="18288" tIns="10973" bIns="10973" anchor="t">
            <a:noAutofit/>
          </a:bodyPr>
          <a:lstStyle/>
          <a:p>
            <a:pPr algn="ctr"/>
            <a:r>
              <a:rPr sz="1400" b="1" i="0">
                <a:solidFill>
                  <a:srgbClr val="16202F"/>
                </a:solidFill>
                <a:latin typeface="Calibri"/>
              </a:rPr>
              <a:t>4-bit</a:t>
            </a:r>
          </a:p>
        </p:txBody>
      </p:sp>
      <p:cxnSp>
        <p:nvCxnSpPr>
          <p:cNvPr id="14" name="Connector 13"/>
          <p:cNvCxnSpPr/>
          <p:nvPr/>
        </p:nvCxnSpPr>
        <p:spPr>
          <a:xfrm>
            <a:off x="5394960" y="4480560"/>
            <a:ext cx="5760720" cy="0"/>
          </a:xfrm>
          <a:prstGeom prst="line">
            <a:avLst/>
          </a:prstGeom>
          <a:ln w="28575">
            <a:solidFill>
              <a:srgbClr val="C2620A"/>
            </a:solidFill>
            <a:tailEnd type="triangle" w="med" len="med"/>
          </a:ln>
        </p:spPr>
      </p:cxnSp>
      <p:sp>
        <p:nvSpPr>
          <p:cNvPr id="15" name="TextBox 14"/>
          <p:cNvSpPr txBox="1"/>
          <p:nvPr/>
        </p:nvSpPr>
        <p:spPr>
          <a:xfrm>
            <a:off x="5394960" y="4526280"/>
            <a:ext cx="5760720" cy="320040"/>
          </a:xfrm>
          <a:prstGeom prst="rect">
            <a:avLst/>
          </a:prstGeom>
          <a:noFill/>
        </p:spPr>
        <p:txBody>
          <a:bodyPr wrap="square" lIns="18288" rIns="18288" tIns="10973" bIns="10973" anchor="t">
            <a:noAutofit/>
          </a:bodyPr>
          <a:lstStyle/>
          <a:p>
            <a:pPr algn="ctr"/>
            <a:r>
              <a:rPr sz="1300" b="0" i="1">
                <a:solidFill>
                  <a:srgbClr val="C2620A"/>
                </a:solidFill>
                <a:latin typeface="Calibri"/>
              </a:rPr>
              <a:t>smaller, faster, slightly less precise</a:t>
            </a:r>
          </a:p>
        </p:txBody>
      </p:sp>
      <p:sp>
        <p:nvSpPr>
          <p:cNvPr id="16" name="llama.cpp · Ollama"/>
          <p:cNvSpPr/>
          <p:nvPr/>
        </p:nvSpPr>
        <p:spPr>
          <a:xfrm>
            <a:off x="5212080" y="4983480"/>
            <a:ext cx="1993392" cy="822960"/>
          </a:xfrm>
          <a:prstGeom prst="roundRect">
            <a:avLst>
              <a:gd name="adj" fmla="val 13333"/>
            </a:avLst>
          </a:prstGeom>
          <a:solidFill>
            <a:srgbClr val="FFFFFF"/>
          </a:solidFill>
          <a:ln w="15875">
            <a:solidFill>
              <a:srgbClr val="B8C4D6"/>
            </a:solidFill>
          </a:ln>
          <a:effectLst/>
        </p:spPr>
        <p:txBody>
          <a:bodyPr rtlCol="0" anchor="ctr" wrap="square" lIns="36576" rIns="36576" tIns="21946" bIns="21946">
            <a:noAutofit/>
          </a:bodyPr>
          <a:lstStyle/>
          <a:p>
            <a:pPr algn="ctr"/>
            <a:r>
              <a:rPr sz="1400" b="1" i="0">
                <a:solidFill>
                  <a:srgbClr val="16202F"/>
                </a:solidFill>
                <a:latin typeface="Calibri"/>
              </a:rPr>
              <a:t>llama.cpp · Ollama</a:t>
            </a:r>
          </a:p>
          <a:p>
            <a:pPr algn="ctr"/>
            <a:r>
              <a:rPr sz="1200" b="0" i="0">
                <a:solidFill>
                  <a:srgbClr val="53617A"/>
                </a:solidFill>
                <a:latin typeface="Calibri"/>
              </a:rPr>
              <a:t>local, single user</a:t>
            </a:r>
          </a:p>
        </p:txBody>
      </p:sp>
      <p:sp>
        <p:nvSpPr>
          <p:cNvPr id="17" name="vLLM"/>
          <p:cNvSpPr/>
          <p:nvPr/>
        </p:nvSpPr>
        <p:spPr>
          <a:xfrm>
            <a:off x="7333488" y="4983480"/>
            <a:ext cx="1993392" cy="822960"/>
          </a:xfrm>
          <a:prstGeom prst="roundRect">
            <a:avLst>
              <a:gd name="adj" fmla="val 13333"/>
            </a:avLst>
          </a:prstGeom>
          <a:solidFill>
            <a:srgbClr val="FFFFFF"/>
          </a:solidFill>
          <a:ln w="15875">
            <a:solidFill>
              <a:srgbClr val="B8C4D6"/>
            </a:solidFill>
          </a:ln>
          <a:effectLst/>
        </p:spPr>
        <p:txBody>
          <a:bodyPr rtlCol="0" anchor="ctr" wrap="square" lIns="36576" rIns="36576" tIns="21946" bIns="21946">
            <a:noAutofit/>
          </a:bodyPr>
          <a:lstStyle/>
          <a:p>
            <a:pPr algn="ctr"/>
            <a:r>
              <a:rPr sz="1400" b="1" i="0">
                <a:solidFill>
                  <a:srgbClr val="16202F"/>
                </a:solidFill>
                <a:latin typeface="Calibri"/>
              </a:rPr>
              <a:t>vLLM</a:t>
            </a:r>
          </a:p>
          <a:p>
            <a:pPr algn="ctr"/>
            <a:r>
              <a:rPr sz="1200" b="0" i="0">
                <a:solidFill>
                  <a:srgbClr val="53617A"/>
                </a:solidFill>
                <a:latin typeface="Calibri"/>
              </a:rPr>
              <a:t>high-throughput serving</a:t>
            </a:r>
          </a:p>
        </p:txBody>
      </p:sp>
      <p:sp>
        <p:nvSpPr>
          <p:cNvPr id="18" name="ONNX Runtime"/>
          <p:cNvSpPr/>
          <p:nvPr/>
        </p:nvSpPr>
        <p:spPr>
          <a:xfrm>
            <a:off x="9454896" y="4983480"/>
            <a:ext cx="1993392" cy="822960"/>
          </a:xfrm>
          <a:prstGeom prst="roundRect">
            <a:avLst>
              <a:gd name="adj" fmla="val 13333"/>
            </a:avLst>
          </a:prstGeom>
          <a:solidFill>
            <a:srgbClr val="FFFFFF"/>
          </a:solidFill>
          <a:ln w="15875">
            <a:solidFill>
              <a:srgbClr val="B8C4D6"/>
            </a:solidFill>
          </a:ln>
          <a:effectLst/>
        </p:spPr>
        <p:txBody>
          <a:bodyPr rtlCol="0" anchor="ctr" wrap="square" lIns="36576" rIns="36576" tIns="21946" bIns="21946">
            <a:noAutofit/>
          </a:bodyPr>
          <a:lstStyle/>
          <a:p>
            <a:pPr algn="ctr"/>
            <a:r>
              <a:rPr sz="1400" b="1" i="0">
                <a:solidFill>
                  <a:srgbClr val="16202F"/>
                </a:solidFill>
                <a:latin typeface="Calibri"/>
              </a:rPr>
              <a:t>ONNX Runtime</a:t>
            </a:r>
          </a:p>
          <a:p>
            <a:pPr algn="ctr"/>
            <a:r>
              <a:rPr sz="1200" b="0" i="0">
                <a:solidFill>
                  <a:srgbClr val="53617A"/>
                </a:solidFill>
                <a:latin typeface="Calibri"/>
              </a:rPr>
              <a:t>portable across hardware</a:t>
            </a:r>
          </a:p>
        </p:txBody>
      </p:sp>
      <p:sp>
        <p:nvSpPr>
          <p:cNvPr id="19" name="Freeform 18"/>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0"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21"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Open-weight vs. open source: licences that matter</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LICENSING</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Open-weight: downloadable weights, terms vary</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Open Source AI: data, code, and weights open</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OSI's definition sets the formal bar</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Always read the actual licence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tier 3"/>
          <p:cNvSpPr/>
          <p:nvPr/>
        </p:nvSpPr>
        <p:spPr>
          <a:xfrm>
            <a:off x="6286500" y="2103120"/>
            <a:ext cx="1325880" cy="1325880"/>
          </a:xfrm>
          <a:custGeom>
            <a:avLst/>
            <a:gdLst/>
            <a:ahLst/>
            <a:cxnLst/>
            <a:rect l="l" t="t" r="r" b="b"/>
            <a:pathLst>
              <a:path w="1325880" h="1325880">
                <a:moveTo>
                  <a:pt x="662940" y="0"/>
                </a:moveTo>
                <a:lnTo>
                  <a:pt x="1325880" y="1325880"/>
                </a:lnTo>
                <a:lnTo>
                  <a:pt x="0" y="1325880"/>
                </a:lnTo>
                <a:close/>
              </a:path>
            </a:pathLst>
          </a:custGeom>
          <a:solidFill>
            <a:srgbClr val="FFF4E4"/>
          </a:solidFill>
          <a:ln w="19050">
            <a:solidFill>
              <a:srgbClr val="E8A855"/>
            </a:solidFill>
          </a:ln>
          <a:effectLst/>
        </p:spPr>
        <p:txBody>
          <a:bodyPr rtlCol="0" anchor="ctr"/>
          <a:lstStyle/>
          <a:p>
            <a:pPr algn="ctr"/>
          </a:p>
        </p:txBody>
      </p:sp>
      <p:sp>
        <p:nvSpPr>
          <p:cNvPr id="7" name="TextBox 6"/>
          <p:cNvSpPr txBox="1"/>
          <p:nvPr/>
        </p:nvSpPr>
        <p:spPr>
          <a:xfrm>
            <a:off x="6583680" y="2766060"/>
            <a:ext cx="731520" cy="457200"/>
          </a:xfrm>
          <a:prstGeom prst="rect">
            <a:avLst/>
          </a:prstGeom>
          <a:noFill/>
        </p:spPr>
        <p:txBody>
          <a:bodyPr wrap="square" lIns="18288" rIns="18288" tIns="10973" bIns="10973" anchor="ctr">
            <a:noAutofit/>
          </a:bodyPr>
          <a:lstStyle/>
          <a:p>
            <a:pPr algn="ctr"/>
            <a:r>
              <a:rPr sz="1800" b="1" i="0">
                <a:solidFill>
                  <a:srgbClr val="C2620A"/>
                </a:solidFill>
                <a:latin typeface="Calibri"/>
              </a:rPr>
              <a:t>3</a:t>
            </a:r>
          </a:p>
        </p:txBody>
      </p:sp>
      <p:cxnSp>
        <p:nvCxnSpPr>
          <p:cNvPr id="8" name="Connector 7"/>
          <p:cNvCxnSpPr/>
          <p:nvPr/>
        </p:nvCxnSpPr>
        <p:spPr>
          <a:xfrm>
            <a:off x="7486650" y="2994660"/>
            <a:ext cx="1520190" cy="0"/>
          </a:xfrm>
          <a:prstGeom prst="line">
            <a:avLst/>
          </a:prstGeom>
          <a:ln w="15875">
            <a:solidFill>
              <a:srgbClr val="B8C4D6"/>
            </a:solidFill>
          </a:ln>
        </p:spPr>
      </p:cxnSp>
      <p:sp>
        <p:nvSpPr>
          <p:cNvPr id="9" name="TextBox 8"/>
          <p:cNvSpPr txBox="1"/>
          <p:nvPr/>
        </p:nvSpPr>
        <p:spPr>
          <a:xfrm>
            <a:off x="9098280" y="2583180"/>
            <a:ext cx="2423160" cy="365760"/>
          </a:xfrm>
          <a:prstGeom prst="rect">
            <a:avLst/>
          </a:prstGeom>
          <a:noFill/>
        </p:spPr>
        <p:txBody>
          <a:bodyPr wrap="square" lIns="18288" rIns="18288" tIns="10973" bIns="10973" anchor="t">
            <a:noAutofit/>
          </a:bodyPr>
          <a:lstStyle/>
          <a:p>
            <a:pPr algn="l"/>
            <a:r>
              <a:rPr sz="1600" b="1" i="0">
                <a:solidFill>
                  <a:srgbClr val="C2620A"/>
                </a:solidFill>
                <a:latin typeface="Calibri"/>
              </a:rPr>
              <a:t>Open Source AI</a:t>
            </a:r>
          </a:p>
        </p:txBody>
      </p:sp>
      <p:sp>
        <p:nvSpPr>
          <p:cNvPr id="10" name="TextBox 9"/>
          <p:cNvSpPr txBox="1"/>
          <p:nvPr/>
        </p:nvSpPr>
        <p:spPr>
          <a:xfrm>
            <a:off x="9098280" y="2930652"/>
            <a:ext cx="2423160" cy="640080"/>
          </a:xfrm>
          <a:prstGeom prst="rect">
            <a:avLst/>
          </a:prstGeom>
          <a:noFill/>
        </p:spPr>
        <p:txBody>
          <a:bodyPr wrap="square" lIns="18288" rIns="18288" tIns="10973" bIns="10973" anchor="t">
            <a:noAutofit/>
          </a:bodyPr>
          <a:lstStyle/>
          <a:p>
            <a:pPr algn="l"/>
            <a:r>
              <a:rPr sz="1300" b="0" i="0">
                <a:solidFill>
                  <a:srgbClr val="53617A"/>
                </a:solidFill>
                <a:latin typeface="Calibri"/>
              </a:rPr>
              <a:t>+ full data information</a:t>
            </a:r>
          </a:p>
          <a:p>
            <a:pPr algn="l"/>
            <a:r>
              <a:rPr sz="1300" b="0" i="0">
                <a:solidFill>
                  <a:srgbClr val="53617A"/>
                </a:solidFill>
                <a:latin typeface="Calibri"/>
              </a:rPr>
              <a:t>(OSI definition)</a:t>
            </a:r>
          </a:p>
        </p:txBody>
      </p:sp>
      <p:sp>
        <p:nvSpPr>
          <p:cNvPr id="11" name="tier 2"/>
          <p:cNvSpPr/>
          <p:nvPr/>
        </p:nvSpPr>
        <p:spPr>
          <a:xfrm>
            <a:off x="5692140" y="3520440"/>
            <a:ext cx="2514600" cy="1097280"/>
          </a:xfrm>
          <a:custGeom>
            <a:avLst/>
            <a:gdLst/>
            <a:ahLst/>
            <a:cxnLst/>
            <a:rect l="l" t="t" r="r" b="b"/>
            <a:pathLst>
              <a:path w="2514600" h="1097280">
                <a:moveTo>
                  <a:pt x="548640" y="0"/>
                </a:moveTo>
                <a:lnTo>
                  <a:pt x="1965960" y="0"/>
                </a:lnTo>
                <a:lnTo>
                  <a:pt x="2514600" y="1097280"/>
                </a:lnTo>
                <a:lnTo>
                  <a:pt x="0" y="1097280"/>
                </a:lnTo>
                <a:close/>
              </a:path>
            </a:pathLst>
          </a:custGeom>
          <a:solidFill>
            <a:srgbClr val="EAF3FC"/>
          </a:solidFill>
          <a:ln w="19050">
            <a:solidFill>
              <a:srgbClr val="8DBBE6"/>
            </a:solidFill>
          </a:ln>
          <a:effectLst/>
        </p:spPr>
        <p:txBody>
          <a:bodyPr rtlCol="0" anchor="ctr"/>
          <a:lstStyle/>
          <a:p>
            <a:pPr algn="ctr"/>
          </a:p>
        </p:txBody>
      </p:sp>
      <p:sp>
        <p:nvSpPr>
          <p:cNvPr id="12" name="TextBox 11"/>
          <p:cNvSpPr txBox="1"/>
          <p:nvPr/>
        </p:nvSpPr>
        <p:spPr>
          <a:xfrm>
            <a:off x="6583680" y="3840480"/>
            <a:ext cx="731520" cy="457200"/>
          </a:xfrm>
          <a:prstGeom prst="rect">
            <a:avLst/>
          </a:prstGeom>
          <a:noFill/>
        </p:spPr>
        <p:txBody>
          <a:bodyPr wrap="square" lIns="18288" rIns="18288" tIns="10973" bIns="10973" anchor="ctr">
            <a:noAutofit/>
          </a:bodyPr>
          <a:lstStyle/>
          <a:p>
            <a:pPr algn="ctr"/>
            <a:r>
              <a:rPr sz="1800" b="1" i="0">
                <a:solidFill>
                  <a:srgbClr val="0F6CBD"/>
                </a:solidFill>
                <a:latin typeface="Calibri"/>
              </a:rPr>
              <a:t>2</a:t>
            </a:r>
          </a:p>
        </p:txBody>
      </p:sp>
      <p:cxnSp>
        <p:nvCxnSpPr>
          <p:cNvPr id="13" name="Connector 12"/>
          <p:cNvCxnSpPr/>
          <p:nvPr/>
        </p:nvCxnSpPr>
        <p:spPr>
          <a:xfrm>
            <a:off x="8023860" y="4069080"/>
            <a:ext cx="982980" cy="0"/>
          </a:xfrm>
          <a:prstGeom prst="line">
            <a:avLst/>
          </a:prstGeom>
          <a:ln w="15875">
            <a:solidFill>
              <a:srgbClr val="B8C4D6"/>
            </a:solidFill>
          </a:ln>
        </p:spPr>
      </p:cxnSp>
      <p:sp>
        <p:nvSpPr>
          <p:cNvPr id="14" name="TextBox 13"/>
          <p:cNvSpPr txBox="1"/>
          <p:nvPr/>
        </p:nvSpPr>
        <p:spPr>
          <a:xfrm>
            <a:off x="9098280" y="3657600"/>
            <a:ext cx="2423160" cy="365760"/>
          </a:xfrm>
          <a:prstGeom prst="rect">
            <a:avLst/>
          </a:prstGeom>
          <a:noFill/>
        </p:spPr>
        <p:txBody>
          <a:bodyPr wrap="square" lIns="18288" rIns="18288" tIns="10973" bIns="10973" anchor="t">
            <a:noAutofit/>
          </a:bodyPr>
          <a:lstStyle/>
          <a:p>
            <a:pPr algn="l"/>
            <a:r>
              <a:rPr sz="1600" b="1" i="0">
                <a:solidFill>
                  <a:srgbClr val="16202F"/>
                </a:solidFill>
                <a:latin typeface="Calibri"/>
              </a:rPr>
              <a:t>+ Code</a:t>
            </a:r>
          </a:p>
        </p:txBody>
      </p:sp>
      <p:sp>
        <p:nvSpPr>
          <p:cNvPr id="15" name="TextBox 14"/>
          <p:cNvSpPr txBox="1"/>
          <p:nvPr/>
        </p:nvSpPr>
        <p:spPr>
          <a:xfrm>
            <a:off x="9098280" y="4005072"/>
            <a:ext cx="2423160" cy="640080"/>
          </a:xfrm>
          <a:prstGeom prst="rect">
            <a:avLst/>
          </a:prstGeom>
          <a:noFill/>
        </p:spPr>
        <p:txBody>
          <a:bodyPr wrap="square" lIns="18288" rIns="18288" tIns="10973" bIns="10973" anchor="t">
            <a:noAutofit/>
          </a:bodyPr>
          <a:lstStyle/>
          <a:p>
            <a:pPr algn="l"/>
            <a:r>
              <a:rPr sz="1300" b="0" i="0">
                <a:solidFill>
                  <a:srgbClr val="53617A"/>
                </a:solidFill>
                <a:latin typeface="Calibri"/>
              </a:rPr>
              <a:t>training and inference</a:t>
            </a:r>
          </a:p>
          <a:p>
            <a:pPr algn="l"/>
            <a:r>
              <a:rPr sz="1300" b="0" i="0">
                <a:solidFill>
                  <a:srgbClr val="53617A"/>
                </a:solidFill>
                <a:latin typeface="Calibri"/>
              </a:rPr>
              <a:t>code available</a:t>
            </a:r>
          </a:p>
        </p:txBody>
      </p:sp>
      <p:sp>
        <p:nvSpPr>
          <p:cNvPr id="16" name="tier 1"/>
          <p:cNvSpPr/>
          <p:nvPr/>
        </p:nvSpPr>
        <p:spPr>
          <a:xfrm>
            <a:off x="5120640" y="4709160"/>
            <a:ext cx="3657600" cy="1051560"/>
          </a:xfrm>
          <a:custGeom>
            <a:avLst/>
            <a:gdLst/>
            <a:ahLst/>
            <a:cxnLst/>
            <a:rect l="l" t="t" r="r" b="b"/>
            <a:pathLst>
              <a:path w="3657600" h="1051560">
                <a:moveTo>
                  <a:pt x="525780" y="0"/>
                </a:moveTo>
                <a:lnTo>
                  <a:pt x="3131820" y="0"/>
                </a:lnTo>
                <a:lnTo>
                  <a:pt x="3657600" y="1051560"/>
                </a:lnTo>
                <a:lnTo>
                  <a:pt x="0" y="1051560"/>
                </a:lnTo>
                <a:close/>
              </a:path>
            </a:pathLst>
          </a:custGeom>
          <a:solidFill>
            <a:srgbClr val="F7F9FC"/>
          </a:solidFill>
          <a:ln w="19050">
            <a:solidFill>
              <a:srgbClr val="B8C4D6"/>
            </a:solidFill>
          </a:ln>
          <a:effectLst/>
        </p:spPr>
        <p:txBody>
          <a:bodyPr rtlCol="0" anchor="ctr"/>
          <a:lstStyle/>
          <a:p>
            <a:pPr algn="ctr"/>
          </a:p>
        </p:txBody>
      </p:sp>
      <p:sp>
        <p:nvSpPr>
          <p:cNvPr id="17" name="TextBox 16"/>
          <p:cNvSpPr txBox="1"/>
          <p:nvPr/>
        </p:nvSpPr>
        <p:spPr>
          <a:xfrm>
            <a:off x="6583680" y="5006340"/>
            <a:ext cx="731520" cy="457200"/>
          </a:xfrm>
          <a:prstGeom prst="rect">
            <a:avLst/>
          </a:prstGeom>
          <a:noFill/>
        </p:spPr>
        <p:txBody>
          <a:bodyPr wrap="square" lIns="18288" rIns="18288" tIns="10973" bIns="10973" anchor="ctr">
            <a:noAutofit/>
          </a:bodyPr>
          <a:lstStyle/>
          <a:p>
            <a:pPr algn="ctr"/>
            <a:r>
              <a:rPr sz="1800" b="1" i="0">
                <a:solidFill>
                  <a:srgbClr val="0F6CBD"/>
                </a:solidFill>
                <a:latin typeface="Calibri"/>
              </a:rPr>
              <a:t>1</a:t>
            </a:r>
          </a:p>
        </p:txBody>
      </p:sp>
      <p:cxnSp>
        <p:nvCxnSpPr>
          <p:cNvPr id="18" name="Connector 17"/>
          <p:cNvCxnSpPr/>
          <p:nvPr/>
        </p:nvCxnSpPr>
        <p:spPr>
          <a:xfrm>
            <a:off x="8606790" y="5234940"/>
            <a:ext cx="400050" cy="0"/>
          </a:xfrm>
          <a:prstGeom prst="line">
            <a:avLst/>
          </a:prstGeom>
          <a:ln w="15875">
            <a:solidFill>
              <a:srgbClr val="B8C4D6"/>
            </a:solidFill>
          </a:ln>
        </p:spPr>
      </p:cxnSp>
      <p:sp>
        <p:nvSpPr>
          <p:cNvPr id="19" name="TextBox 18"/>
          <p:cNvSpPr txBox="1"/>
          <p:nvPr/>
        </p:nvSpPr>
        <p:spPr>
          <a:xfrm>
            <a:off x="9098280" y="4823460"/>
            <a:ext cx="2423160" cy="365760"/>
          </a:xfrm>
          <a:prstGeom prst="rect">
            <a:avLst/>
          </a:prstGeom>
          <a:noFill/>
        </p:spPr>
        <p:txBody>
          <a:bodyPr wrap="square" lIns="18288" rIns="18288" tIns="10973" bIns="10973" anchor="t">
            <a:noAutofit/>
          </a:bodyPr>
          <a:lstStyle/>
          <a:p>
            <a:pPr algn="l"/>
            <a:r>
              <a:rPr sz="1600" b="1" i="0">
                <a:solidFill>
                  <a:srgbClr val="16202F"/>
                </a:solidFill>
                <a:latin typeface="Calibri"/>
              </a:rPr>
              <a:t>Weights</a:t>
            </a:r>
          </a:p>
        </p:txBody>
      </p:sp>
      <p:sp>
        <p:nvSpPr>
          <p:cNvPr id="20" name="TextBox 19"/>
          <p:cNvSpPr txBox="1"/>
          <p:nvPr/>
        </p:nvSpPr>
        <p:spPr>
          <a:xfrm>
            <a:off x="9098280" y="5170932"/>
            <a:ext cx="2423160" cy="640080"/>
          </a:xfrm>
          <a:prstGeom prst="rect">
            <a:avLst/>
          </a:prstGeom>
          <a:noFill/>
        </p:spPr>
        <p:txBody>
          <a:bodyPr wrap="square" lIns="18288" rIns="18288" tIns="10973" bIns="10973" anchor="t">
            <a:noAutofit/>
          </a:bodyPr>
          <a:lstStyle/>
          <a:p>
            <a:pPr algn="l"/>
            <a:r>
              <a:rPr sz="1300" b="0" i="0">
                <a:solidFill>
                  <a:srgbClr val="53617A"/>
                </a:solidFill>
                <a:latin typeface="Calibri"/>
              </a:rPr>
              <a:t>downloadable files</a:t>
            </a:r>
          </a:p>
          <a:p>
            <a:pPr algn="l"/>
            <a:r>
              <a:rPr sz="1300" b="0" i="0">
                <a:solidFill>
                  <a:srgbClr val="53617A"/>
                </a:solidFill>
                <a:latin typeface="Calibri"/>
              </a:rPr>
              <a:t>(open-weight)</a:t>
            </a:r>
          </a:p>
        </p:txBody>
      </p:sp>
      <p:sp>
        <p:nvSpPr>
          <p:cNvPr id="21" name="Freeform 20"/>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2"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23"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2700" b="1" i="0">
                <a:solidFill>
                  <a:srgbClr val="16202F"/>
                </a:solidFill>
                <a:latin typeface="Calibri"/>
              </a:rPr>
              <a:t>Harness design patterns: planner/executor and sub-agents</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HARNESS PATTERNS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Planner decomposes, executor performs steps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Sub-agents isolate context per sub-task</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Reduces single-agent context overload</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Planner"/>
          <p:cNvSpPr/>
          <p:nvPr/>
        </p:nvSpPr>
        <p:spPr>
          <a:xfrm>
            <a:off x="7315200" y="1965960"/>
            <a:ext cx="1965960" cy="731520"/>
          </a:xfrm>
          <a:prstGeom prst="roundRect">
            <a:avLst>
              <a:gd name="adj" fmla="val 15000"/>
            </a:avLst>
          </a:prstGeom>
          <a:solidFill>
            <a:srgbClr val="0F6CBD"/>
          </a:solidFill>
          <a:ln w="15875">
            <a:solidFill>
              <a:srgbClr val="0F6CBD"/>
            </a:solidFill>
          </a:ln>
          <a:effectLst/>
        </p:spPr>
        <p:txBody>
          <a:bodyPr rtlCol="0" anchor="ctr" wrap="square" lIns="73152" rIns="73152" tIns="43891" bIns="43891">
            <a:noAutofit/>
          </a:bodyPr>
          <a:lstStyle/>
          <a:p>
            <a:pPr algn="ctr"/>
            <a:r>
              <a:rPr sz="1600" b="1" i="0">
                <a:solidFill>
                  <a:srgbClr val="FFFFFF"/>
                </a:solidFill>
                <a:latin typeface="Calibri"/>
              </a:rPr>
              <a:t>Planner</a:t>
            </a:r>
          </a:p>
          <a:p>
            <a:pPr algn="ctr"/>
            <a:r>
              <a:rPr sz="1200" b="0" i="0">
                <a:solidFill>
                  <a:srgbClr val="FFFFFF"/>
                </a:solidFill>
                <a:latin typeface="Calibri"/>
              </a:rPr>
              <a:t>decomposes the goal</a:t>
            </a:r>
          </a:p>
        </p:txBody>
      </p:sp>
      <p:sp>
        <p:nvSpPr>
          <p:cNvPr id="7" name="Rounded Rectangle 6"/>
          <p:cNvSpPr/>
          <p:nvPr/>
        </p:nvSpPr>
        <p:spPr>
          <a:xfrm>
            <a:off x="5212080" y="3063240"/>
            <a:ext cx="1965960" cy="1261872"/>
          </a:xfrm>
          <a:prstGeom prst="roundRect">
            <a:avLst>
              <a:gd name="adj" fmla="val 8695"/>
            </a:avLst>
          </a:prstGeom>
          <a:noFill/>
          <a:ln w="15875">
            <a:solidFill>
              <a:srgbClr val="53617A"/>
            </a:solidFill>
            <a:prstDash val="dash"/>
          </a:ln>
          <a:effectLst/>
        </p:spPr>
        <p:txBody>
          <a:bodyPr rtlCol="0" anchor="ctr"/>
          <a:lstStyle/>
          <a:p>
            <a:pPr algn="ctr"/>
          </a:p>
        </p:txBody>
      </p:sp>
      <p:sp>
        <p:nvSpPr>
          <p:cNvPr id="8" name="TextBox 7"/>
          <p:cNvSpPr txBox="1"/>
          <p:nvPr/>
        </p:nvSpPr>
        <p:spPr>
          <a:xfrm>
            <a:off x="5212080" y="3090672"/>
            <a:ext cx="1965960" cy="274320"/>
          </a:xfrm>
          <a:prstGeom prst="rect">
            <a:avLst/>
          </a:prstGeom>
          <a:noFill/>
        </p:spPr>
        <p:txBody>
          <a:bodyPr wrap="square" lIns="18288" rIns="18288" tIns="10973" bIns="10973" anchor="t">
            <a:noAutofit/>
          </a:bodyPr>
          <a:lstStyle/>
          <a:p>
            <a:pPr algn="ctr"/>
            <a:r>
              <a:rPr sz="1100" b="0" i="1">
                <a:solidFill>
                  <a:srgbClr val="53617A"/>
                </a:solidFill>
                <a:latin typeface="Calibri"/>
              </a:rPr>
              <a:t>isolated context</a:t>
            </a:r>
          </a:p>
        </p:txBody>
      </p:sp>
      <p:sp>
        <p:nvSpPr>
          <p:cNvPr id="9" name="Sub-agent A"/>
          <p:cNvSpPr/>
          <p:nvPr/>
        </p:nvSpPr>
        <p:spPr>
          <a:xfrm>
            <a:off x="5349240" y="3383280"/>
            <a:ext cx="1691640" cy="804672"/>
          </a:xfrm>
          <a:prstGeom prst="roundRect">
            <a:avLst>
              <a:gd name="adj" fmla="val 13636"/>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Sub-agent A</a:t>
            </a:r>
          </a:p>
          <a:p>
            <a:pPr algn="ctr"/>
            <a:r>
              <a:rPr sz="1200" b="0" i="0">
                <a:solidFill>
                  <a:srgbClr val="53617A"/>
                </a:solidFill>
                <a:latin typeface="Calibri"/>
              </a:rPr>
              <a:t>retrieval</a:t>
            </a:r>
          </a:p>
        </p:txBody>
      </p:sp>
      <p:cxnSp>
        <p:nvCxnSpPr>
          <p:cNvPr id="10" name="Connector 9"/>
          <p:cNvCxnSpPr/>
          <p:nvPr/>
        </p:nvCxnSpPr>
        <p:spPr>
          <a:xfrm flipH="1">
            <a:off x="6195060" y="2724912"/>
            <a:ext cx="2103120" cy="301752"/>
          </a:xfrm>
          <a:prstGeom prst="line">
            <a:avLst/>
          </a:prstGeom>
          <a:ln w="19050">
            <a:solidFill>
              <a:srgbClr val="0F6CBD"/>
            </a:solidFill>
            <a:tailEnd type="triangle" w="med" len="med"/>
          </a:ln>
        </p:spPr>
      </p:cxnSp>
      <p:cxnSp>
        <p:nvCxnSpPr>
          <p:cNvPr id="11" name="Connector 10"/>
          <p:cNvCxnSpPr/>
          <p:nvPr/>
        </p:nvCxnSpPr>
        <p:spPr>
          <a:xfrm>
            <a:off x="6195060" y="4361688"/>
            <a:ext cx="2103120" cy="438912"/>
          </a:xfrm>
          <a:prstGeom prst="line">
            <a:avLst/>
          </a:prstGeom>
          <a:ln w="19050">
            <a:solidFill>
              <a:srgbClr val="C2620A"/>
            </a:solidFill>
            <a:tailEnd type="triangle" w="med" len="med"/>
          </a:ln>
        </p:spPr>
      </p:cxnSp>
      <p:sp>
        <p:nvSpPr>
          <p:cNvPr id="12" name="Rounded Rectangle 11"/>
          <p:cNvSpPr/>
          <p:nvPr/>
        </p:nvSpPr>
        <p:spPr>
          <a:xfrm>
            <a:off x="7342632" y="3063240"/>
            <a:ext cx="1965960" cy="1261872"/>
          </a:xfrm>
          <a:prstGeom prst="roundRect">
            <a:avLst>
              <a:gd name="adj" fmla="val 8695"/>
            </a:avLst>
          </a:prstGeom>
          <a:noFill/>
          <a:ln w="15875">
            <a:solidFill>
              <a:srgbClr val="53617A"/>
            </a:solidFill>
            <a:prstDash val="dash"/>
          </a:ln>
          <a:effectLst/>
        </p:spPr>
        <p:txBody>
          <a:bodyPr rtlCol="0" anchor="ctr"/>
          <a:lstStyle/>
          <a:p>
            <a:pPr algn="ctr"/>
          </a:p>
        </p:txBody>
      </p:sp>
      <p:sp>
        <p:nvSpPr>
          <p:cNvPr id="13" name="TextBox 12"/>
          <p:cNvSpPr txBox="1"/>
          <p:nvPr/>
        </p:nvSpPr>
        <p:spPr>
          <a:xfrm>
            <a:off x="7342632" y="3090672"/>
            <a:ext cx="1965960" cy="274320"/>
          </a:xfrm>
          <a:prstGeom prst="rect">
            <a:avLst/>
          </a:prstGeom>
          <a:noFill/>
        </p:spPr>
        <p:txBody>
          <a:bodyPr wrap="square" lIns="18288" rIns="18288" tIns="10973" bIns="10973" anchor="t">
            <a:noAutofit/>
          </a:bodyPr>
          <a:lstStyle/>
          <a:p>
            <a:pPr algn="ctr"/>
            <a:r>
              <a:rPr sz="1100" b="0" i="1">
                <a:solidFill>
                  <a:srgbClr val="53617A"/>
                </a:solidFill>
                <a:latin typeface="Calibri"/>
              </a:rPr>
              <a:t>isolated context</a:t>
            </a:r>
          </a:p>
        </p:txBody>
      </p:sp>
      <p:sp>
        <p:nvSpPr>
          <p:cNvPr id="14" name="Sub-agent B"/>
          <p:cNvSpPr/>
          <p:nvPr/>
        </p:nvSpPr>
        <p:spPr>
          <a:xfrm>
            <a:off x="7479792" y="3383280"/>
            <a:ext cx="1691640" cy="804672"/>
          </a:xfrm>
          <a:prstGeom prst="roundRect">
            <a:avLst>
              <a:gd name="adj" fmla="val 13636"/>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Sub-agent B</a:t>
            </a:r>
          </a:p>
          <a:p>
            <a:pPr algn="ctr"/>
            <a:r>
              <a:rPr sz="1200" b="0" i="0">
                <a:solidFill>
                  <a:srgbClr val="53617A"/>
                </a:solidFill>
                <a:latin typeface="Calibri"/>
              </a:rPr>
              <a:t>code execution</a:t>
            </a:r>
          </a:p>
        </p:txBody>
      </p:sp>
      <p:cxnSp>
        <p:nvCxnSpPr>
          <p:cNvPr id="15" name="Connector 14"/>
          <p:cNvCxnSpPr/>
          <p:nvPr/>
        </p:nvCxnSpPr>
        <p:spPr>
          <a:xfrm>
            <a:off x="8298180" y="2724912"/>
            <a:ext cx="27432" cy="301752"/>
          </a:xfrm>
          <a:prstGeom prst="line">
            <a:avLst/>
          </a:prstGeom>
          <a:ln w="19050">
            <a:solidFill>
              <a:srgbClr val="0F6CBD"/>
            </a:solidFill>
            <a:tailEnd type="triangle" w="med" len="med"/>
          </a:ln>
        </p:spPr>
      </p:cxnSp>
      <p:cxnSp>
        <p:nvCxnSpPr>
          <p:cNvPr id="16" name="Connector 15"/>
          <p:cNvCxnSpPr/>
          <p:nvPr/>
        </p:nvCxnSpPr>
        <p:spPr>
          <a:xfrm flipH="1">
            <a:off x="8298180" y="4361688"/>
            <a:ext cx="27432" cy="438912"/>
          </a:xfrm>
          <a:prstGeom prst="line">
            <a:avLst/>
          </a:prstGeom>
          <a:ln w="19050">
            <a:solidFill>
              <a:srgbClr val="C2620A"/>
            </a:solidFill>
            <a:tailEnd type="triangle" w="med" len="med"/>
          </a:ln>
        </p:spPr>
      </p:cxnSp>
      <p:sp>
        <p:nvSpPr>
          <p:cNvPr id="17" name="Rounded Rectangle 16"/>
          <p:cNvSpPr/>
          <p:nvPr/>
        </p:nvSpPr>
        <p:spPr>
          <a:xfrm>
            <a:off x="9473184" y="3063240"/>
            <a:ext cx="1965960" cy="1261872"/>
          </a:xfrm>
          <a:prstGeom prst="roundRect">
            <a:avLst>
              <a:gd name="adj" fmla="val 8695"/>
            </a:avLst>
          </a:prstGeom>
          <a:noFill/>
          <a:ln w="15875">
            <a:solidFill>
              <a:srgbClr val="53617A"/>
            </a:solidFill>
            <a:prstDash val="dash"/>
          </a:ln>
          <a:effectLst/>
        </p:spPr>
        <p:txBody>
          <a:bodyPr rtlCol="0" anchor="ctr"/>
          <a:lstStyle/>
          <a:p>
            <a:pPr algn="ctr"/>
          </a:p>
        </p:txBody>
      </p:sp>
      <p:sp>
        <p:nvSpPr>
          <p:cNvPr id="18" name="TextBox 17"/>
          <p:cNvSpPr txBox="1"/>
          <p:nvPr/>
        </p:nvSpPr>
        <p:spPr>
          <a:xfrm>
            <a:off x="9473184" y="3090672"/>
            <a:ext cx="1965960" cy="274320"/>
          </a:xfrm>
          <a:prstGeom prst="rect">
            <a:avLst/>
          </a:prstGeom>
          <a:noFill/>
        </p:spPr>
        <p:txBody>
          <a:bodyPr wrap="square" lIns="18288" rIns="18288" tIns="10973" bIns="10973" anchor="t">
            <a:noAutofit/>
          </a:bodyPr>
          <a:lstStyle/>
          <a:p>
            <a:pPr algn="ctr"/>
            <a:r>
              <a:rPr sz="1100" b="0" i="1">
                <a:solidFill>
                  <a:srgbClr val="53617A"/>
                </a:solidFill>
                <a:latin typeface="Calibri"/>
              </a:rPr>
              <a:t>isolated context</a:t>
            </a:r>
          </a:p>
        </p:txBody>
      </p:sp>
      <p:sp>
        <p:nvSpPr>
          <p:cNvPr id="19" name="Sub-agent C"/>
          <p:cNvSpPr/>
          <p:nvPr/>
        </p:nvSpPr>
        <p:spPr>
          <a:xfrm>
            <a:off x="9610344" y="3383280"/>
            <a:ext cx="1691640" cy="804672"/>
          </a:xfrm>
          <a:prstGeom prst="roundRect">
            <a:avLst>
              <a:gd name="adj" fmla="val 13636"/>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Sub-agent C</a:t>
            </a:r>
          </a:p>
          <a:p>
            <a:pPr algn="ctr"/>
            <a:r>
              <a:rPr sz="1200" b="0" i="0">
                <a:solidFill>
                  <a:srgbClr val="53617A"/>
                </a:solidFill>
                <a:latin typeface="Calibri"/>
              </a:rPr>
              <a:t>drafting</a:t>
            </a:r>
          </a:p>
        </p:txBody>
      </p:sp>
      <p:cxnSp>
        <p:nvCxnSpPr>
          <p:cNvPr id="20" name="Connector 19"/>
          <p:cNvCxnSpPr/>
          <p:nvPr/>
        </p:nvCxnSpPr>
        <p:spPr>
          <a:xfrm>
            <a:off x="8298180" y="2724912"/>
            <a:ext cx="2157984" cy="301752"/>
          </a:xfrm>
          <a:prstGeom prst="line">
            <a:avLst/>
          </a:prstGeom>
          <a:ln w="19050">
            <a:solidFill>
              <a:srgbClr val="0F6CBD"/>
            </a:solidFill>
            <a:tailEnd type="triangle" w="med" len="med"/>
          </a:ln>
        </p:spPr>
      </p:cxnSp>
      <p:cxnSp>
        <p:nvCxnSpPr>
          <p:cNvPr id="21" name="Connector 20"/>
          <p:cNvCxnSpPr/>
          <p:nvPr/>
        </p:nvCxnSpPr>
        <p:spPr>
          <a:xfrm flipH="1">
            <a:off x="8298180" y="4361688"/>
            <a:ext cx="2157984" cy="438912"/>
          </a:xfrm>
          <a:prstGeom prst="line">
            <a:avLst/>
          </a:prstGeom>
          <a:ln w="19050">
            <a:solidFill>
              <a:srgbClr val="C2620A"/>
            </a:solidFill>
            <a:tailEnd type="triangle" w="med" len="med"/>
          </a:ln>
        </p:spPr>
      </p:cxnSp>
      <p:sp>
        <p:nvSpPr>
          <p:cNvPr id="22" name="Executor / aggregator"/>
          <p:cNvSpPr/>
          <p:nvPr/>
        </p:nvSpPr>
        <p:spPr>
          <a:xfrm>
            <a:off x="7086600" y="4846320"/>
            <a:ext cx="2423160" cy="777240"/>
          </a:xfrm>
          <a:prstGeom prst="roundRect">
            <a:avLst>
              <a:gd name="adj" fmla="val 14117"/>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Executor / aggregator</a:t>
            </a:r>
          </a:p>
          <a:p>
            <a:pPr algn="ctr"/>
            <a:r>
              <a:rPr sz="1200" b="0" i="0">
                <a:solidFill>
                  <a:srgbClr val="53617A"/>
                </a:solidFill>
                <a:latin typeface="Calibri"/>
              </a:rPr>
              <a:t>concise summaries back</a:t>
            </a:r>
          </a:p>
        </p:txBody>
      </p:sp>
      <p:sp>
        <p:nvSpPr>
          <p:cNvPr id="23" name="Freeform 22"/>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4"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25"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Context compaction and evals as regression tests</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RELIABILITY</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Compaction: summarize instead of truncate</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Regression evals catch silent quality drops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Treat prompts and tools like code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TextBox 5"/>
          <p:cNvSpPr txBox="1"/>
          <p:nvPr/>
        </p:nvSpPr>
        <p:spPr>
          <a:xfrm>
            <a:off x="5166360" y="2011680"/>
            <a:ext cx="1005840" cy="457200"/>
          </a:xfrm>
          <a:prstGeom prst="rect">
            <a:avLst/>
          </a:prstGeom>
          <a:noFill/>
        </p:spPr>
        <p:txBody>
          <a:bodyPr wrap="square" lIns="18288" rIns="18288" tIns="10973" bIns="10973" anchor="ctr">
            <a:noAutofit/>
          </a:bodyPr>
          <a:lstStyle/>
          <a:p>
            <a:pPr algn="l"/>
            <a:r>
              <a:rPr sz="1400" b="1" i="0">
                <a:solidFill>
                  <a:srgbClr val="53617A"/>
                </a:solidFill>
                <a:latin typeface="Calibri"/>
              </a:rPr>
              <a:t>Before</a:t>
            </a:r>
          </a:p>
        </p:txBody>
      </p:sp>
      <p:sp>
        <p:nvSpPr>
          <p:cNvPr id="7" name="T1"/>
          <p:cNvSpPr/>
          <p:nvPr/>
        </p:nvSpPr>
        <p:spPr>
          <a:xfrm>
            <a:off x="6126480" y="2011680"/>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T1</a:t>
            </a:r>
          </a:p>
        </p:txBody>
      </p:sp>
      <p:sp>
        <p:nvSpPr>
          <p:cNvPr id="8" name="T2"/>
          <p:cNvSpPr/>
          <p:nvPr/>
        </p:nvSpPr>
        <p:spPr>
          <a:xfrm>
            <a:off x="6793992" y="2011680"/>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T2</a:t>
            </a:r>
          </a:p>
        </p:txBody>
      </p:sp>
      <p:sp>
        <p:nvSpPr>
          <p:cNvPr id="9" name="T3"/>
          <p:cNvSpPr/>
          <p:nvPr/>
        </p:nvSpPr>
        <p:spPr>
          <a:xfrm>
            <a:off x="7461504" y="2011680"/>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T3</a:t>
            </a:r>
          </a:p>
        </p:txBody>
      </p:sp>
      <p:sp>
        <p:nvSpPr>
          <p:cNvPr id="10" name="T4"/>
          <p:cNvSpPr/>
          <p:nvPr/>
        </p:nvSpPr>
        <p:spPr>
          <a:xfrm>
            <a:off x="8129016" y="2011680"/>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T4</a:t>
            </a:r>
          </a:p>
        </p:txBody>
      </p:sp>
      <p:sp>
        <p:nvSpPr>
          <p:cNvPr id="11" name="T5"/>
          <p:cNvSpPr/>
          <p:nvPr/>
        </p:nvSpPr>
        <p:spPr>
          <a:xfrm>
            <a:off x="8796528" y="2011680"/>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T5</a:t>
            </a:r>
          </a:p>
        </p:txBody>
      </p:sp>
      <p:sp>
        <p:nvSpPr>
          <p:cNvPr id="12" name="T6"/>
          <p:cNvSpPr/>
          <p:nvPr/>
        </p:nvSpPr>
        <p:spPr>
          <a:xfrm>
            <a:off x="9464040" y="2011680"/>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T6</a:t>
            </a:r>
          </a:p>
        </p:txBody>
      </p:sp>
      <p:sp>
        <p:nvSpPr>
          <p:cNvPr id="13" name="T7"/>
          <p:cNvSpPr/>
          <p:nvPr/>
        </p:nvSpPr>
        <p:spPr>
          <a:xfrm>
            <a:off x="10131552" y="2011680"/>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T7</a:t>
            </a:r>
          </a:p>
        </p:txBody>
      </p:sp>
      <p:sp>
        <p:nvSpPr>
          <p:cNvPr id="14" name="T8"/>
          <p:cNvSpPr/>
          <p:nvPr/>
        </p:nvSpPr>
        <p:spPr>
          <a:xfrm>
            <a:off x="10799064" y="2011680"/>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T8</a:t>
            </a:r>
          </a:p>
        </p:txBody>
      </p:sp>
      <p:sp>
        <p:nvSpPr>
          <p:cNvPr id="15" name="compaction gear"/>
          <p:cNvSpPr/>
          <p:nvPr/>
        </p:nvSpPr>
        <p:spPr>
          <a:xfrm>
            <a:off x="7269480" y="2606040"/>
            <a:ext cx="548640" cy="548640"/>
          </a:xfrm>
          <a:prstGeom prst="gear6">
            <a:avLst/>
          </a:prstGeom>
          <a:solidFill>
            <a:srgbClr val="C2620A"/>
          </a:solidFill>
          <a:ln w="15875">
            <a:solidFill>
              <a:srgbClr val="B8C4D6"/>
            </a:solidFill>
          </a:ln>
          <a:effectLst/>
        </p:spPr>
        <p:txBody>
          <a:bodyPr rtlCol="0" anchor="ctr"/>
          <a:lstStyle/>
          <a:p>
            <a:pPr algn="ctr"/>
          </a:p>
        </p:txBody>
      </p:sp>
      <p:cxnSp>
        <p:nvCxnSpPr>
          <p:cNvPr id="16" name="Connector 15"/>
          <p:cNvCxnSpPr/>
          <p:nvPr/>
        </p:nvCxnSpPr>
        <p:spPr>
          <a:xfrm>
            <a:off x="7543800" y="3182112"/>
            <a:ext cx="0" cy="292608"/>
          </a:xfrm>
          <a:prstGeom prst="line">
            <a:avLst/>
          </a:prstGeom>
          <a:ln w="25400">
            <a:solidFill>
              <a:srgbClr val="C2620A"/>
            </a:solidFill>
            <a:tailEnd type="triangle" w="med" len="med"/>
          </a:ln>
        </p:spPr>
      </p:cxnSp>
      <p:sp>
        <p:nvSpPr>
          <p:cNvPr id="17" name="TextBox 16"/>
          <p:cNvSpPr txBox="1"/>
          <p:nvPr/>
        </p:nvSpPr>
        <p:spPr>
          <a:xfrm>
            <a:off x="7909560" y="2670048"/>
            <a:ext cx="3566160" cy="411480"/>
          </a:xfrm>
          <a:prstGeom prst="rect">
            <a:avLst/>
          </a:prstGeom>
          <a:noFill/>
        </p:spPr>
        <p:txBody>
          <a:bodyPr wrap="square" lIns="18288" rIns="18288" tIns="10973" bIns="10973" anchor="t">
            <a:noAutofit/>
          </a:bodyPr>
          <a:lstStyle/>
          <a:p>
            <a:pPr algn="l"/>
            <a:r>
              <a:rPr sz="1300" b="0" i="1">
                <a:solidFill>
                  <a:srgbClr val="C2620A"/>
                </a:solidFill>
                <a:latin typeface="Calibri"/>
              </a:rPr>
              <a:t>summarize older turns, keep decisions</a:t>
            </a:r>
          </a:p>
        </p:txBody>
      </p:sp>
      <p:sp>
        <p:nvSpPr>
          <p:cNvPr id="18" name="TextBox 17"/>
          <p:cNvSpPr txBox="1"/>
          <p:nvPr/>
        </p:nvSpPr>
        <p:spPr>
          <a:xfrm>
            <a:off x="5166360" y="3547872"/>
            <a:ext cx="1005840" cy="457200"/>
          </a:xfrm>
          <a:prstGeom prst="rect">
            <a:avLst/>
          </a:prstGeom>
          <a:noFill/>
        </p:spPr>
        <p:txBody>
          <a:bodyPr wrap="square" lIns="18288" rIns="18288" tIns="10973" bIns="10973" anchor="ctr">
            <a:noAutofit/>
          </a:bodyPr>
          <a:lstStyle/>
          <a:p>
            <a:pPr algn="l"/>
            <a:r>
              <a:rPr sz="1400" b="1" i="0">
                <a:solidFill>
                  <a:srgbClr val="53617A"/>
                </a:solidFill>
                <a:latin typeface="Calibri"/>
              </a:rPr>
              <a:t>After</a:t>
            </a:r>
          </a:p>
        </p:txBody>
      </p:sp>
      <p:sp>
        <p:nvSpPr>
          <p:cNvPr id="19" name="Summary of T1 – T5"/>
          <p:cNvSpPr/>
          <p:nvPr/>
        </p:nvSpPr>
        <p:spPr>
          <a:xfrm>
            <a:off x="6126480" y="3611880"/>
            <a:ext cx="2606040" cy="347472"/>
          </a:xfrm>
          <a:prstGeom prst="roundRect">
            <a:avLst>
              <a:gd name="adj" fmla="val 31578"/>
            </a:avLst>
          </a:prstGeom>
          <a:solidFill>
            <a:srgbClr val="FFF4E4"/>
          </a:solidFill>
          <a:ln w="15875">
            <a:solidFill>
              <a:srgbClr val="E8A855"/>
            </a:solidFill>
          </a:ln>
          <a:effectLst/>
        </p:spPr>
        <p:txBody>
          <a:bodyPr rtlCol="0" anchor="ctr" wrap="square" lIns="18288" rIns="18288" tIns="10973" bIns="10973">
            <a:noAutofit/>
          </a:bodyPr>
          <a:lstStyle/>
          <a:p>
            <a:pPr algn="ctr"/>
            <a:r>
              <a:rPr sz="1300" b="1" i="0">
                <a:solidFill>
                  <a:srgbClr val="16202F"/>
                </a:solidFill>
                <a:latin typeface="Calibri"/>
              </a:rPr>
              <a:t>Summary of T1 – T5</a:t>
            </a:r>
          </a:p>
        </p:txBody>
      </p:sp>
      <p:sp>
        <p:nvSpPr>
          <p:cNvPr id="20" name="T6"/>
          <p:cNvSpPr/>
          <p:nvPr/>
        </p:nvSpPr>
        <p:spPr>
          <a:xfrm>
            <a:off x="9464040" y="3547872"/>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T6</a:t>
            </a:r>
          </a:p>
        </p:txBody>
      </p:sp>
      <p:sp>
        <p:nvSpPr>
          <p:cNvPr id="21" name="T7"/>
          <p:cNvSpPr/>
          <p:nvPr/>
        </p:nvSpPr>
        <p:spPr>
          <a:xfrm>
            <a:off x="10131552" y="3547872"/>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T7</a:t>
            </a:r>
          </a:p>
        </p:txBody>
      </p:sp>
      <p:sp>
        <p:nvSpPr>
          <p:cNvPr id="22" name="T8"/>
          <p:cNvSpPr/>
          <p:nvPr/>
        </p:nvSpPr>
        <p:spPr>
          <a:xfrm>
            <a:off x="10799064" y="3547872"/>
            <a:ext cx="576072" cy="457200"/>
          </a:xfrm>
          <a:prstGeom prst="roundRect">
            <a:avLst>
              <a:gd name="adj" fmla="val 24000"/>
            </a:avLst>
          </a:prstGeom>
          <a:solidFill>
            <a:srgbClr val="FFFFFF"/>
          </a:solidFill>
          <a:ln w="15875">
            <a:solidFill>
              <a:srgbClr val="B8C4D6"/>
            </a:solidFill>
          </a:ln>
          <a:effectLst/>
        </p:spPr>
        <p:txBody>
          <a:bodyPr rtlCol="0" anchor="ctr" wrap="square" lIns="0" rIns="0" tIns="0" bIns="0">
            <a:noAutofit/>
          </a:bodyPr>
          <a:lstStyle/>
          <a:p>
            <a:pPr algn="ctr"/>
            <a:r>
              <a:rPr sz="1300" b="0" i="0">
                <a:solidFill>
                  <a:srgbClr val="16202F"/>
                </a:solidFill>
                <a:latin typeface="Calibri"/>
              </a:rPr>
              <a:t>T8</a:t>
            </a:r>
          </a:p>
        </p:txBody>
      </p:sp>
      <p:sp>
        <p:nvSpPr>
          <p:cNvPr id="23" name="Rounded Rectangle 22"/>
          <p:cNvSpPr/>
          <p:nvPr/>
        </p:nvSpPr>
        <p:spPr>
          <a:xfrm>
            <a:off x="5166360" y="4343400"/>
            <a:ext cx="6355080" cy="1554480"/>
          </a:xfrm>
          <a:prstGeom prst="roundRect">
            <a:avLst>
              <a:gd name="adj" fmla="val 8235"/>
            </a:avLst>
          </a:prstGeom>
          <a:solidFill>
            <a:srgbClr val="EAF3FC"/>
          </a:solidFill>
          <a:ln w="15875">
            <a:solidFill>
              <a:srgbClr val="8DBBE6"/>
            </a:solidFill>
          </a:ln>
          <a:effectLst/>
        </p:spPr>
        <p:txBody>
          <a:bodyPr rtlCol="0" anchor="ctr"/>
          <a:lstStyle/>
          <a:p>
            <a:pPr algn="ctr"/>
          </a:p>
        </p:txBody>
      </p:sp>
      <p:sp>
        <p:nvSpPr>
          <p:cNvPr id="24" name="TextBox 23"/>
          <p:cNvSpPr txBox="1"/>
          <p:nvPr/>
        </p:nvSpPr>
        <p:spPr>
          <a:xfrm>
            <a:off x="5349240" y="4407408"/>
            <a:ext cx="6035040" cy="365760"/>
          </a:xfrm>
          <a:prstGeom prst="rect">
            <a:avLst/>
          </a:prstGeom>
          <a:noFill/>
        </p:spPr>
        <p:txBody>
          <a:bodyPr wrap="square" lIns="18288" rIns="18288" tIns="10973" bIns="10973" anchor="t">
            <a:noAutofit/>
          </a:bodyPr>
          <a:lstStyle/>
          <a:p>
            <a:pPr algn="l"/>
            <a:r>
              <a:rPr sz="1500" b="1" i="0">
                <a:solidFill>
                  <a:srgbClr val="0F6CBD"/>
                </a:solidFill>
                <a:latin typeface="Calibri"/>
              </a:rPr>
              <a:t>Regression evals: treat prompts and tools like code</a:t>
            </a:r>
          </a:p>
        </p:txBody>
      </p:sp>
      <p:sp>
        <p:nvSpPr>
          <p:cNvPr id="25" name="Prompt or model change"/>
          <p:cNvSpPr/>
          <p:nvPr/>
        </p:nvSpPr>
        <p:spPr>
          <a:xfrm>
            <a:off x="5349240" y="4892040"/>
            <a:ext cx="1752600" cy="731520"/>
          </a:xfrm>
          <a:prstGeom prst="roundRect">
            <a:avLst>
              <a:gd name="adj" fmla="val 15000"/>
            </a:avLst>
          </a:prstGeom>
          <a:solidFill>
            <a:srgbClr val="FFFFFF"/>
          </a:solidFill>
          <a:ln w="15875">
            <a:solidFill>
              <a:srgbClr val="B8C4D6"/>
            </a:solidFill>
          </a:ln>
          <a:effectLst/>
        </p:spPr>
        <p:txBody>
          <a:bodyPr rtlCol="0" anchor="ctr" wrap="square" lIns="73152" rIns="73152" tIns="43891" bIns="43891">
            <a:noAutofit/>
          </a:bodyPr>
          <a:lstStyle/>
          <a:p>
            <a:pPr algn="ctr"/>
            <a:r>
              <a:rPr sz="1400" b="1" i="0">
                <a:solidFill>
                  <a:srgbClr val="16202F"/>
                </a:solidFill>
                <a:latin typeface="Calibri"/>
              </a:rPr>
              <a:t>Prompt or model change</a:t>
            </a:r>
          </a:p>
        </p:txBody>
      </p:sp>
      <p:sp>
        <p:nvSpPr>
          <p:cNvPr id="26" name="Score fixed cases"/>
          <p:cNvSpPr/>
          <p:nvPr/>
        </p:nvSpPr>
        <p:spPr>
          <a:xfrm>
            <a:off x="7467600" y="4892040"/>
            <a:ext cx="1752600" cy="731520"/>
          </a:xfrm>
          <a:prstGeom prst="roundRect">
            <a:avLst>
              <a:gd name="adj" fmla="val 15000"/>
            </a:avLst>
          </a:prstGeom>
          <a:solidFill>
            <a:srgbClr val="FFFFFF"/>
          </a:solidFill>
          <a:ln w="15875">
            <a:solidFill>
              <a:srgbClr val="B8C4D6"/>
            </a:solidFill>
          </a:ln>
          <a:effectLst/>
        </p:spPr>
        <p:txBody>
          <a:bodyPr rtlCol="0" anchor="ctr" wrap="square" lIns="73152" rIns="73152" tIns="43891" bIns="43891">
            <a:noAutofit/>
          </a:bodyPr>
          <a:lstStyle/>
          <a:p>
            <a:pPr algn="ctr"/>
            <a:r>
              <a:rPr sz="1400" b="1" i="0">
                <a:solidFill>
                  <a:srgbClr val="16202F"/>
                </a:solidFill>
                <a:latin typeface="Calibri"/>
              </a:rPr>
              <a:t>Score fixed cases</a:t>
            </a:r>
          </a:p>
        </p:txBody>
      </p:sp>
      <p:sp>
        <p:nvSpPr>
          <p:cNvPr id="27" name="Ship or block"/>
          <p:cNvSpPr/>
          <p:nvPr/>
        </p:nvSpPr>
        <p:spPr>
          <a:xfrm>
            <a:off x="9585960" y="4892040"/>
            <a:ext cx="1752600" cy="731520"/>
          </a:xfrm>
          <a:prstGeom prst="roundRect">
            <a:avLst>
              <a:gd name="adj" fmla="val 15000"/>
            </a:avLst>
          </a:prstGeom>
          <a:solidFill>
            <a:srgbClr val="0F6CBD"/>
          </a:solidFill>
          <a:ln w="15875">
            <a:solidFill>
              <a:srgbClr val="0F6CBD"/>
            </a:solidFill>
          </a:ln>
          <a:effectLst/>
        </p:spPr>
        <p:txBody>
          <a:bodyPr rtlCol="0" anchor="ctr" wrap="square" lIns="73152" rIns="73152" tIns="43891" bIns="43891">
            <a:noAutofit/>
          </a:bodyPr>
          <a:lstStyle/>
          <a:p>
            <a:pPr algn="ctr"/>
            <a:r>
              <a:rPr sz="1400" b="1" i="0">
                <a:solidFill>
                  <a:srgbClr val="FFFFFF"/>
                </a:solidFill>
                <a:latin typeface="Calibri"/>
              </a:rPr>
              <a:t>Ship or block</a:t>
            </a:r>
          </a:p>
        </p:txBody>
      </p:sp>
      <p:cxnSp>
        <p:nvCxnSpPr>
          <p:cNvPr id="28" name="Connector 27"/>
          <p:cNvCxnSpPr/>
          <p:nvPr/>
        </p:nvCxnSpPr>
        <p:spPr>
          <a:xfrm>
            <a:off x="7138416" y="5257800"/>
            <a:ext cx="292608" cy="0"/>
          </a:xfrm>
          <a:prstGeom prst="line">
            <a:avLst/>
          </a:prstGeom>
          <a:ln w="22225">
            <a:solidFill>
              <a:srgbClr val="0F6CBD"/>
            </a:solidFill>
            <a:tailEnd type="triangle" w="med" len="med"/>
          </a:ln>
        </p:spPr>
      </p:cxnSp>
      <p:cxnSp>
        <p:nvCxnSpPr>
          <p:cNvPr id="29" name="Connector 28"/>
          <p:cNvCxnSpPr/>
          <p:nvPr/>
        </p:nvCxnSpPr>
        <p:spPr>
          <a:xfrm>
            <a:off x="9256776" y="5257800"/>
            <a:ext cx="292608" cy="0"/>
          </a:xfrm>
          <a:prstGeom prst="line">
            <a:avLst/>
          </a:prstGeom>
          <a:ln w="22225">
            <a:solidFill>
              <a:srgbClr val="0F6CBD"/>
            </a:solidFill>
            <a:tailEnd type="triangle" w="med" len="med"/>
          </a:ln>
        </p:spPr>
      </p:cxnSp>
      <p:sp>
        <p:nvSpPr>
          <p:cNvPr id="30" name="Freeform 29"/>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31"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32"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MCP security: auth, least privilege, consent</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MCP SECURITY</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OAuth 2.1 authorizes remote servers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Scope tokens to least privilege</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Require explicit user consent for actions</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padlock shackle"/>
          <p:cNvSpPr/>
          <p:nvPr/>
        </p:nvSpPr>
        <p:spPr>
          <a:xfrm>
            <a:off x="7818120" y="2880360"/>
            <a:ext cx="960120" cy="1234440"/>
          </a:xfrm>
          <a:prstGeom prst="roundRect">
            <a:avLst>
              <a:gd name="adj" fmla="val 47619"/>
            </a:avLst>
          </a:prstGeom>
          <a:solidFill>
            <a:srgbClr val="FFFFFF"/>
          </a:solidFill>
          <a:ln w="76200">
            <a:solidFill>
              <a:srgbClr val="16202F"/>
            </a:solidFill>
          </a:ln>
          <a:effectLst/>
        </p:spPr>
        <p:txBody>
          <a:bodyPr rtlCol="0" anchor="ctr"/>
          <a:lstStyle/>
          <a:p>
            <a:pPr algn="ctr"/>
          </a:p>
        </p:txBody>
      </p:sp>
      <p:sp>
        <p:nvSpPr>
          <p:cNvPr id="7" name="padlock body"/>
          <p:cNvSpPr/>
          <p:nvPr/>
        </p:nvSpPr>
        <p:spPr>
          <a:xfrm>
            <a:off x="7589520" y="3520440"/>
            <a:ext cx="1417320" cy="1188720"/>
          </a:xfrm>
          <a:prstGeom prst="roundRect">
            <a:avLst>
              <a:gd name="adj" fmla="val 10769"/>
            </a:avLst>
          </a:prstGeom>
          <a:solidFill>
            <a:srgbClr val="0F6CBD"/>
          </a:solidFill>
          <a:ln w="15875">
            <a:solidFill>
              <a:srgbClr val="B8C4D6"/>
            </a:solidFill>
          </a:ln>
          <a:effectLst/>
        </p:spPr>
        <p:txBody>
          <a:bodyPr rtlCol="0" anchor="ctr"/>
          <a:lstStyle/>
          <a:p>
            <a:pPr algn="ctr"/>
          </a:p>
        </p:txBody>
      </p:sp>
      <p:sp>
        <p:nvSpPr>
          <p:cNvPr id="8" name="Oval 7"/>
          <p:cNvSpPr/>
          <p:nvPr/>
        </p:nvSpPr>
        <p:spPr>
          <a:xfrm>
            <a:off x="8183880" y="3886200"/>
            <a:ext cx="228600" cy="228600"/>
          </a:xfrm>
          <a:prstGeom prst="ellipse">
            <a:avLst/>
          </a:prstGeom>
          <a:solidFill>
            <a:srgbClr val="FFFFFF"/>
          </a:solidFill>
          <a:ln w="15875">
            <a:solidFill>
              <a:srgbClr val="B8C4D6"/>
            </a:solidFill>
          </a:ln>
          <a:effectLst/>
        </p:spPr>
        <p:txBody>
          <a:bodyPr rtlCol="0" anchor="ctr"/>
          <a:lstStyle/>
          <a:p>
            <a:pPr algn="ctr"/>
          </a:p>
        </p:txBody>
      </p:sp>
      <p:sp>
        <p:nvSpPr>
          <p:cNvPr id="9" name="Rectangle 8"/>
          <p:cNvSpPr/>
          <p:nvPr/>
        </p:nvSpPr>
        <p:spPr>
          <a:xfrm>
            <a:off x="8261604" y="4041648"/>
            <a:ext cx="73152" cy="301752"/>
          </a:xfrm>
          <a:prstGeom prst="rect">
            <a:avLst/>
          </a:prstGeom>
          <a:solidFill>
            <a:srgbClr val="FFFFFF"/>
          </a:solidFill>
          <a:ln w="15875">
            <a:solidFill>
              <a:srgbClr val="B8C4D6"/>
            </a:solidFill>
          </a:ln>
          <a:effectLst/>
        </p:spPr>
        <p:txBody>
          <a:bodyPr rtlCol="0" anchor="ctr"/>
          <a:lstStyle/>
          <a:p>
            <a:pPr algn="ctr"/>
          </a:p>
        </p:txBody>
      </p:sp>
      <p:sp>
        <p:nvSpPr>
          <p:cNvPr id="10" name="OAuth 2.1 for remote servers"/>
          <p:cNvSpPr/>
          <p:nvPr/>
        </p:nvSpPr>
        <p:spPr>
          <a:xfrm>
            <a:off x="7086600" y="2011680"/>
            <a:ext cx="2423160" cy="384048"/>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300" b="1" i="0">
                <a:solidFill>
                  <a:srgbClr val="16202F"/>
                </a:solidFill>
                <a:latin typeface="Calibri"/>
              </a:rPr>
              <a:t>OAuth 2.1 for remote servers</a:t>
            </a:r>
          </a:p>
        </p:txBody>
      </p:sp>
      <p:cxnSp>
        <p:nvCxnSpPr>
          <p:cNvPr id="11" name="Connector 10"/>
          <p:cNvCxnSpPr/>
          <p:nvPr/>
        </p:nvCxnSpPr>
        <p:spPr>
          <a:xfrm>
            <a:off x="8298180" y="2423160"/>
            <a:ext cx="0" cy="393192"/>
          </a:xfrm>
          <a:prstGeom prst="line">
            <a:avLst/>
          </a:prstGeom>
          <a:ln w="25400">
            <a:solidFill>
              <a:srgbClr val="C2620A"/>
            </a:solidFill>
            <a:tailEnd type="triangle" w="med" len="med"/>
          </a:ln>
        </p:spPr>
      </p:cxnSp>
      <p:sp>
        <p:nvSpPr>
          <p:cNvPr id="12" name="Token scope"/>
          <p:cNvSpPr/>
          <p:nvPr/>
        </p:nvSpPr>
        <p:spPr>
          <a:xfrm>
            <a:off x="5212080" y="3383280"/>
            <a:ext cx="1783080" cy="914400"/>
          </a:xfrm>
          <a:prstGeom prst="roundRect">
            <a:avLst>
              <a:gd name="adj" fmla="val 1200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Token scope</a:t>
            </a:r>
          </a:p>
          <a:p>
            <a:pPr algn="ctr"/>
            <a:r>
              <a:rPr sz="1200" b="0" i="0">
                <a:solidFill>
                  <a:srgbClr val="53617A"/>
                </a:solidFill>
                <a:latin typeface="Calibri"/>
              </a:rPr>
              <a:t>least privilege</a:t>
            </a:r>
          </a:p>
        </p:txBody>
      </p:sp>
      <p:sp>
        <p:nvSpPr>
          <p:cNvPr id="13" name="User consent"/>
          <p:cNvSpPr/>
          <p:nvPr/>
        </p:nvSpPr>
        <p:spPr>
          <a:xfrm>
            <a:off x="9601200" y="3383280"/>
            <a:ext cx="1874520" cy="914400"/>
          </a:xfrm>
          <a:prstGeom prst="roundRect">
            <a:avLst>
              <a:gd name="adj" fmla="val 1200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User consent</a:t>
            </a:r>
          </a:p>
          <a:p>
            <a:pPr algn="ctr"/>
            <a:r>
              <a:rPr sz="1200" b="0" i="0">
                <a:solidFill>
                  <a:srgbClr val="53617A"/>
                </a:solidFill>
                <a:latin typeface="Calibri"/>
              </a:rPr>
              <a:t>explicit, visible</a:t>
            </a:r>
          </a:p>
        </p:txBody>
      </p:sp>
      <p:sp>
        <p:nvSpPr>
          <p:cNvPr id="14" name="Per-server isolation"/>
          <p:cNvSpPr/>
          <p:nvPr/>
        </p:nvSpPr>
        <p:spPr>
          <a:xfrm>
            <a:off x="7269480" y="5074920"/>
            <a:ext cx="2057400" cy="777240"/>
          </a:xfrm>
          <a:prstGeom prst="roundRect">
            <a:avLst>
              <a:gd name="adj" fmla="val 14117"/>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Per-server isolation</a:t>
            </a:r>
          </a:p>
          <a:p>
            <a:pPr algn="ctr"/>
            <a:r>
              <a:rPr sz="1200" b="0" i="0">
                <a:solidFill>
                  <a:srgbClr val="53617A"/>
                </a:solidFill>
                <a:latin typeface="Calibri"/>
              </a:rPr>
              <a:t>separate credentials</a:t>
            </a:r>
          </a:p>
        </p:txBody>
      </p:sp>
      <p:cxnSp>
        <p:nvCxnSpPr>
          <p:cNvPr id="15" name="Connector 14"/>
          <p:cNvCxnSpPr/>
          <p:nvPr/>
        </p:nvCxnSpPr>
        <p:spPr>
          <a:xfrm>
            <a:off x="7031736" y="3840480"/>
            <a:ext cx="521208" cy="182880"/>
          </a:xfrm>
          <a:prstGeom prst="line">
            <a:avLst/>
          </a:prstGeom>
          <a:ln w="25400">
            <a:solidFill>
              <a:srgbClr val="0F6CBD"/>
            </a:solidFill>
            <a:tailEnd type="triangle" w="med" len="med"/>
          </a:ln>
        </p:spPr>
      </p:cxnSp>
      <p:cxnSp>
        <p:nvCxnSpPr>
          <p:cNvPr id="16" name="Connector 15"/>
          <p:cNvCxnSpPr/>
          <p:nvPr/>
        </p:nvCxnSpPr>
        <p:spPr>
          <a:xfrm flipH="1">
            <a:off x="9043416" y="3840480"/>
            <a:ext cx="521208" cy="182880"/>
          </a:xfrm>
          <a:prstGeom prst="line">
            <a:avLst/>
          </a:prstGeom>
          <a:ln w="25400">
            <a:solidFill>
              <a:srgbClr val="0F6CBD"/>
            </a:solidFill>
            <a:tailEnd type="triangle" w="med" len="med"/>
          </a:ln>
        </p:spPr>
      </p:cxnSp>
      <p:cxnSp>
        <p:nvCxnSpPr>
          <p:cNvPr id="17" name="Connector 16"/>
          <p:cNvCxnSpPr/>
          <p:nvPr/>
        </p:nvCxnSpPr>
        <p:spPr>
          <a:xfrm flipV="1">
            <a:off x="8298180" y="4745736"/>
            <a:ext cx="0" cy="301752"/>
          </a:xfrm>
          <a:prstGeom prst="line">
            <a:avLst/>
          </a:prstGeom>
          <a:ln w="25400">
            <a:solidFill>
              <a:srgbClr val="0F6CBD"/>
            </a:solidFill>
            <a:tailEnd type="triangle" w="med" len="med"/>
          </a:ln>
        </p:spPr>
      </p:cxnSp>
      <p:sp>
        <p:nvSpPr>
          <p:cNvPr id="18" name="Freeform 17"/>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9"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20"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Tool poisoning and prompt injection</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SECURITY</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Malicious tool descriptions can mislead a model</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Indirect injection hides instructions in content</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Mitigate with validation, filtering, least privilege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document"/>
          <p:cNvSpPr/>
          <p:nvPr/>
        </p:nvSpPr>
        <p:spPr>
          <a:xfrm>
            <a:off x="5257800" y="2148840"/>
            <a:ext cx="2103120" cy="2743200"/>
          </a:xfrm>
          <a:prstGeom prst="foldedCorner">
            <a:avLst/>
          </a:prstGeom>
          <a:solidFill>
            <a:srgbClr val="FFFFFF"/>
          </a:solidFill>
          <a:ln w="15875">
            <a:solidFill>
              <a:srgbClr val="B8C4D6"/>
            </a:solidFill>
          </a:ln>
          <a:effectLst/>
        </p:spPr>
        <p:txBody>
          <a:bodyPr rtlCol="0" anchor="ctr"/>
          <a:lstStyle/>
          <a:p>
            <a:pPr algn="ctr"/>
          </a:p>
        </p:txBody>
      </p:sp>
      <p:sp>
        <p:nvSpPr>
          <p:cNvPr id="7" name="Rectangle 6"/>
          <p:cNvSpPr/>
          <p:nvPr/>
        </p:nvSpPr>
        <p:spPr>
          <a:xfrm>
            <a:off x="5468112" y="2423160"/>
            <a:ext cx="1645920" cy="73152"/>
          </a:xfrm>
          <a:prstGeom prst="rect">
            <a:avLst/>
          </a:prstGeom>
          <a:solidFill>
            <a:srgbClr val="E2E8F2"/>
          </a:solidFill>
          <a:ln w="15875">
            <a:solidFill>
              <a:srgbClr val="B8C4D6"/>
            </a:solidFill>
          </a:ln>
          <a:effectLst/>
        </p:spPr>
        <p:txBody>
          <a:bodyPr rtlCol="0" anchor="ctr"/>
          <a:lstStyle/>
          <a:p>
            <a:pPr algn="ctr"/>
          </a:p>
        </p:txBody>
      </p:sp>
      <p:sp>
        <p:nvSpPr>
          <p:cNvPr id="8" name="Rectangle 7"/>
          <p:cNvSpPr/>
          <p:nvPr/>
        </p:nvSpPr>
        <p:spPr>
          <a:xfrm>
            <a:off x="5468112" y="2715768"/>
            <a:ext cx="1645920" cy="73152"/>
          </a:xfrm>
          <a:prstGeom prst="rect">
            <a:avLst/>
          </a:prstGeom>
          <a:solidFill>
            <a:srgbClr val="E2E8F2"/>
          </a:solidFill>
          <a:ln w="15875">
            <a:solidFill>
              <a:srgbClr val="B8C4D6"/>
            </a:solidFill>
          </a:ln>
          <a:effectLst/>
        </p:spPr>
        <p:txBody>
          <a:bodyPr rtlCol="0" anchor="ctr"/>
          <a:lstStyle/>
          <a:p>
            <a:pPr algn="ctr"/>
          </a:p>
        </p:txBody>
      </p:sp>
      <p:sp>
        <p:nvSpPr>
          <p:cNvPr id="9" name="Rectangle 8"/>
          <p:cNvSpPr/>
          <p:nvPr/>
        </p:nvSpPr>
        <p:spPr>
          <a:xfrm>
            <a:off x="5468112" y="3008376"/>
            <a:ext cx="1280160" cy="73152"/>
          </a:xfrm>
          <a:prstGeom prst="rect">
            <a:avLst/>
          </a:prstGeom>
          <a:solidFill>
            <a:srgbClr val="E2E8F2"/>
          </a:solidFill>
          <a:ln w="15875">
            <a:solidFill>
              <a:srgbClr val="B8C4D6"/>
            </a:solidFill>
          </a:ln>
          <a:effectLst/>
        </p:spPr>
        <p:txBody>
          <a:bodyPr rtlCol="0" anchor="ctr"/>
          <a:lstStyle/>
          <a:p>
            <a:pPr algn="ctr"/>
          </a:p>
        </p:txBody>
      </p:sp>
      <p:sp>
        <p:nvSpPr>
          <p:cNvPr id="10" name="Rectangle 9"/>
          <p:cNvSpPr/>
          <p:nvPr/>
        </p:nvSpPr>
        <p:spPr>
          <a:xfrm>
            <a:off x="5468112" y="3886200"/>
            <a:ext cx="1280160" cy="73152"/>
          </a:xfrm>
          <a:prstGeom prst="rect">
            <a:avLst/>
          </a:prstGeom>
          <a:solidFill>
            <a:srgbClr val="E2E8F2"/>
          </a:solidFill>
          <a:ln w="15875">
            <a:solidFill>
              <a:srgbClr val="B8C4D6"/>
            </a:solidFill>
          </a:ln>
          <a:effectLst/>
        </p:spPr>
        <p:txBody>
          <a:bodyPr rtlCol="0" anchor="ctr"/>
          <a:lstStyle/>
          <a:p>
            <a:pPr algn="ctr"/>
          </a:p>
        </p:txBody>
      </p:sp>
      <p:sp>
        <p:nvSpPr>
          <p:cNvPr id="11" name="Rectangle 10"/>
          <p:cNvSpPr/>
          <p:nvPr/>
        </p:nvSpPr>
        <p:spPr>
          <a:xfrm>
            <a:off x="5468112" y="4178808"/>
            <a:ext cx="1645920" cy="73152"/>
          </a:xfrm>
          <a:prstGeom prst="rect">
            <a:avLst/>
          </a:prstGeom>
          <a:solidFill>
            <a:srgbClr val="E2E8F2"/>
          </a:solidFill>
          <a:ln w="15875">
            <a:solidFill>
              <a:srgbClr val="B8C4D6"/>
            </a:solidFill>
          </a:ln>
          <a:effectLst/>
        </p:spPr>
        <p:txBody>
          <a:bodyPr rtlCol="0" anchor="ctr"/>
          <a:lstStyle/>
          <a:p>
            <a:pPr algn="ctr"/>
          </a:p>
        </p:txBody>
      </p:sp>
      <p:sp>
        <p:nvSpPr>
          <p:cNvPr id="12" name="hidden instruction"/>
          <p:cNvSpPr/>
          <p:nvPr/>
        </p:nvSpPr>
        <p:spPr>
          <a:xfrm>
            <a:off x="5413248" y="3291840"/>
            <a:ext cx="1783080" cy="502920"/>
          </a:xfrm>
          <a:prstGeom prst="roundRect">
            <a:avLst>
              <a:gd name="adj" fmla="val 21818"/>
            </a:avLst>
          </a:prstGeom>
          <a:solidFill>
            <a:srgbClr val="FFF4E4"/>
          </a:solidFill>
          <a:ln w="15875">
            <a:solidFill>
              <a:srgbClr val="E8A855"/>
            </a:solidFill>
          </a:ln>
          <a:effectLst/>
        </p:spPr>
        <p:txBody>
          <a:bodyPr rtlCol="0" anchor="ctr" wrap="square" lIns="27432" rIns="27432" tIns="16459" bIns="16459">
            <a:noAutofit/>
          </a:bodyPr>
          <a:lstStyle/>
          <a:p>
            <a:pPr algn="ctr"/>
            <a:r>
              <a:rPr sz="1300" b="1" i="0">
                <a:solidFill>
                  <a:srgbClr val="16202F"/>
                </a:solidFill>
                <a:latin typeface="Calibri"/>
              </a:rPr>
              <a:t>hidden instruction</a:t>
            </a:r>
          </a:p>
        </p:txBody>
      </p:sp>
      <p:sp>
        <p:nvSpPr>
          <p:cNvPr id="13" name="also: poisoned tool descriptions"/>
          <p:cNvSpPr/>
          <p:nvPr/>
        </p:nvSpPr>
        <p:spPr>
          <a:xfrm>
            <a:off x="5120640" y="5029200"/>
            <a:ext cx="2377440" cy="384048"/>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200" b="0" i="0">
                <a:solidFill>
                  <a:srgbClr val="16202F"/>
                </a:solidFill>
                <a:latin typeface="Calibri"/>
              </a:rPr>
              <a:t>also: poisoned tool descriptions</a:t>
            </a:r>
          </a:p>
        </p:txBody>
      </p:sp>
      <p:cxnSp>
        <p:nvCxnSpPr>
          <p:cNvPr id="14" name="Connector 13"/>
          <p:cNvCxnSpPr/>
          <p:nvPr/>
        </p:nvCxnSpPr>
        <p:spPr>
          <a:xfrm>
            <a:off x="7406640" y="3520440"/>
            <a:ext cx="365760" cy="0"/>
          </a:xfrm>
          <a:prstGeom prst="line">
            <a:avLst/>
          </a:prstGeom>
          <a:ln w="28575">
            <a:solidFill>
              <a:srgbClr val="C2620A"/>
            </a:solidFill>
            <a:tailEnd type="triangle" w="med" len="med"/>
          </a:ln>
        </p:spPr>
      </p:cxnSp>
      <p:sp>
        <p:nvSpPr>
          <p:cNvPr id="15" name="shield"/>
          <p:cNvSpPr/>
          <p:nvPr/>
        </p:nvSpPr>
        <p:spPr>
          <a:xfrm>
            <a:off x="7818120" y="2697480"/>
            <a:ext cx="1280160" cy="1600200"/>
          </a:xfrm>
          <a:custGeom>
            <a:avLst/>
            <a:gdLst/>
            <a:ahLst/>
            <a:cxnLst/>
            <a:rect l="l" t="t" r="r" b="b"/>
            <a:pathLst>
              <a:path w="1280160" h="1600200">
                <a:moveTo>
                  <a:pt x="0" y="208026"/>
                </a:moveTo>
                <a:lnTo>
                  <a:pt x="640080" y="0"/>
                </a:lnTo>
                <a:lnTo>
                  <a:pt x="1280160" y="208026"/>
                </a:lnTo>
                <a:lnTo>
                  <a:pt x="1280160" y="800100"/>
                </a:lnTo>
                <a:lnTo>
                  <a:pt x="1152144" y="1152144"/>
                </a:lnTo>
                <a:lnTo>
                  <a:pt x="921715" y="1408176"/>
                </a:lnTo>
                <a:lnTo>
                  <a:pt x="640080" y="1600200"/>
                </a:lnTo>
                <a:lnTo>
                  <a:pt x="358445" y="1408176"/>
                </a:lnTo>
                <a:lnTo>
                  <a:pt x="128016" y="1152144"/>
                </a:lnTo>
                <a:lnTo>
                  <a:pt x="0" y="800100"/>
                </a:lnTo>
                <a:close/>
              </a:path>
            </a:pathLst>
          </a:custGeom>
          <a:solidFill>
            <a:srgbClr val="EAF3FC"/>
          </a:solidFill>
          <a:ln w="25400">
            <a:solidFill>
              <a:srgbClr val="0F6CBD"/>
            </a:solidFill>
          </a:ln>
          <a:effectLst/>
        </p:spPr>
        <p:txBody>
          <a:bodyPr rtlCol="0" anchor="ctr"/>
          <a:lstStyle/>
          <a:p>
            <a:pPr algn="ctr"/>
          </a:p>
        </p:txBody>
      </p:sp>
      <p:sp>
        <p:nvSpPr>
          <p:cNvPr id="16" name="TextBox 15"/>
          <p:cNvSpPr txBox="1"/>
          <p:nvPr/>
        </p:nvSpPr>
        <p:spPr>
          <a:xfrm>
            <a:off x="7452360" y="4389120"/>
            <a:ext cx="2011680" cy="548640"/>
          </a:xfrm>
          <a:prstGeom prst="rect">
            <a:avLst/>
          </a:prstGeom>
          <a:noFill/>
        </p:spPr>
        <p:txBody>
          <a:bodyPr wrap="square" lIns="18288" rIns="18288" tIns="10973" bIns="10973" anchor="t">
            <a:noAutofit/>
          </a:bodyPr>
          <a:lstStyle/>
          <a:p>
            <a:pPr algn="ctr"/>
            <a:r>
              <a:rPr sz="1300" b="1" i="0">
                <a:solidFill>
                  <a:srgbClr val="0F6CBD"/>
                </a:solidFill>
                <a:latin typeface="Calibri"/>
              </a:rPr>
              <a:t>input / output</a:t>
            </a:r>
          </a:p>
          <a:p>
            <a:pPr algn="ctr"/>
            <a:r>
              <a:rPr sz="1300" b="1" i="0">
                <a:solidFill>
                  <a:srgbClr val="0F6CBD"/>
                </a:solidFill>
                <a:latin typeface="Calibri"/>
              </a:rPr>
              <a:t>filtering</a:t>
            </a:r>
          </a:p>
        </p:txBody>
      </p:sp>
      <p:cxnSp>
        <p:nvCxnSpPr>
          <p:cNvPr id="17" name="Connector 16"/>
          <p:cNvCxnSpPr/>
          <p:nvPr/>
        </p:nvCxnSpPr>
        <p:spPr>
          <a:xfrm>
            <a:off x="9144000" y="3520440"/>
            <a:ext cx="777240" cy="0"/>
          </a:xfrm>
          <a:prstGeom prst="line">
            <a:avLst/>
          </a:prstGeom>
          <a:ln w="28575">
            <a:solidFill>
              <a:srgbClr val="0F6CBD"/>
            </a:solidFill>
            <a:prstDash val="dash"/>
            <a:tailEnd type="triangle" w="med" len="med"/>
          </a:ln>
        </p:spPr>
      </p:cxnSp>
      <p:sp>
        <p:nvSpPr>
          <p:cNvPr id="18" name="Agent"/>
          <p:cNvSpPr/>
          <p:nvPr/>
        </p:nvSpPr>
        <p:spPr>
          <a:xfrm>
            <a:off x="9966960" y="3063240"/>
            <a:ext cx="1508760" cy="914400"/>
          </a:xfrm>
          <a:prstGeom prst="roundRect">
            <a:avLst>
              <a:gd name="adj" fmla="val 12000"/>
            </a:avLst>
          </a:prstGeom>
          <a:solidFill>
            <a:srgbClr val="0F6CBD"/>
          </a:solidFill>
          <a:ln w="15875">
            <a:solidFill>
              <a:srgbClr val="0F6CBD"/>
            </a:solidFill>
          </a:ln>
          <a:effectLst/>
        </p:spPr>
        <p:txBody>
          <a:bodyPr rtlCol="0" anchor="ctr" wrap="square" lIns="73152" rIns="73152" tIns="43891" bIns="43891">
            <a:noAutofit/>
          </a:bodyPr>
          <a:lstStyle/>
          <a:p>
            <a:pPr algn="ctr"/>
            <a:r>
              <a:rPr sz="1700" b="1" i="0">
                <a:solidFill>
                  <a:srgbClr val="FFFFFF"/>
                </a:solidFill>
                <a:latin typeface="Calibri"/>
              </a:rPr>
              <a:t>Agent</a:t>
            </a:r>
          </a:p>
        </p:txBody>
      </p:sp>
      <p:sp>
        <p:nvSpPr>
          <p:cNvPr id="19" name="TextBox 18"/>
          <p:cNvSpPr txBox="1"/>
          <p:nvPr/>
        </p:nvSpPr>
        <p:spPr>
          <a:xfrm>
            <a:off x="9646920" y="4069080"/>
            <a:ext cx="2011680" cy="731520"/>
          </a:xfrm>
          <a:prstGeom prst="rect">
            <a:avLst/>
          </a:prstGeom>
          <a:noFill/>
        </p:spPr>
        <p:txBody>
          <a:bodyPr wrap="square" lIns="18288" rIns="18288" tIns="10973" bIns="10973" anchor="t">
            <a:noAutofit/>
          </a:bodyPr>
          <a:lstStyle/>
          <a:p>
            <a:pPr algn="ctr"/>
            <a:r>
              <a:rPr sz="1200" b="0" i="1">
                <a:solidFill>
                  <a:srgbClr val="53617A"/>
                </a:solidFill>
                <a:latin typeface="Calibri"/>
              </a:rPr>
              <a:t>least privilege limits</a:t>
            </a:r>
          </a:p>
          <a:p>
            <a:pPr algn="ctr"/>
            <a:r>
              <a:rPr sz="1200" b="0" i="1">
                <a:solidFill>
                  <a:srgbClr val="53617A"/>
                </a:solidFill>
                <a:latin typeface="Calibri"/>
              </a:rPr>
              <a:t>the blast radius</a:t>
            </a:r>
          </a:p>
        </p:txBody>
      </p:sp>
      <p:sp>
        <p:nvSpPr>
          <p:cNvPr id="20" name="Freeform 19"/>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1"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22"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2700" b="1" i="0">
                <a:solidFill>
                  <a:srgbClr val="16202F"/>
                </a:solidFill>
                <a:latin typeface="Calibri"/>
              </a:rPr>
              <a:t>Streaming speech latency: barge-in and turn detection</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REALTIME SPEECH</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Voice activity detection flags speech boundaries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Barge-in lets users interrupt the agent</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Auto-truncation keeps transcripts honest</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TextBox 5"/>
          <p:cNvSpPr txBox="1"/>
          <p:nvPr/>
        </p:nvSpPr>
        <p:spPr>
          <a:xfrm>
            <a:off x="5166360" y="2194560"/>
            <a:ext cx="1005840" cy="548640"/>
          </a:xfrm>
          <a:prstGeom prst="rect">
            <a:avLst/>
          </a:prstGeom>
          <a:noFill/>
        </p:spPr>
        <p:txBody>
          <a:bodyPr wrap="square" lIns="18288" rIns="18288" tIns="10973" bIns="10973" anchor="ctr">
            <a:noAutofit/>
          </a:bodyPr>
          <a:lstStyle/>
          <a:p>
            <a:pPr algn="l"/>
            <a:r>
              <a:rPr sz="1500" b="1" i="0">
                <a:solidFill>
                  <a:srgbClr val="16202F"/>
                </a:solidFill>
                <a:latin typeface="Calibri"/>
              </a:rPr>
              <a:t>User</a:t>
            </a:r>
          </a:p>
        </p:txBody>
      </p:sp>
      <p:sp>
        <p:nvSpPr>
          <p:cNvPr id="7" name="TextBox 6"/>
          <p:cNvSpPr txBox="1"/>
          <p:nvPr/>
        </p:nvSpPr>
        <p:spPr>
          <a:xfrm>
            <a:off x="5166360" y="3383280"/>
            <a:ext cx="1005840" cy="548640"/>
          </a:xfrm>
          <a:prstGeom prst="rect">
            <a:avLst/>
          </a:prstGeom>
          <a:noFill/>
        </p:spPr>
        <p:txBody>
          <a:bodyPr wrap="square" lIns="18288" rIns="18288" tIns="10973" bIns="10973" anchor="ctr">
            <a:noAutofit/>
          </a:bodyPr>
          <a:lstStyle/>
          <a:p>
            <a:pPr algn="l"/>
            <a:r>
              <a:rPr sz="1500" b="1" i="0">
                <a:solidFill>
                  <a:srgbClr val="16202F"/>
                </a:solidFill>
                <a:latin typeface="Calibri"/>
              </a:rPr>
              <a:t>Agent</a:t>
            </a:r>
          </a:p>
        </p:txBody>
      </p:sp>
      <p:sp>
        <p:nvSpPr>
          <p:cNvPr id="8" name="Rounded Rectangle 7"/>
          <p:cNvSpPr/>
          <p:nvPr/>
        </p:nvSpPr>
        <p:spPr>
          <a:xfrm>
            <a:off x="6172200" y="3602736"/>
            <a:ext cx="73152" cy="109728"/>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9" name="Rounded Rectangle 8"/>
          <p:cNvSpPr/>
          <p:nvPr/>
        </p:nvSpPr>
        <p:spPr>
          <a:xfrm>
            <a:off x="6304788" y="3462498"/>
            <a:ext cx="73152" cy="390205"/>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10" name="Rounded Rectangle 9"/>
          <p:cNvSpPr/>
          <p:nvPr/>
        </p:nvSpPr>
        <p:spPr>
          <a:xfrm>
            <a:off x="6437376" y="3464641"/>
            <a:ext cx="73152" cy="385918"/>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11" name="Rounded Rectangle 10"/>
          <p:cNvSpPr/>
          <p:nvPr/>
        </p:nvSpPr>
        <p:spPr>
          <a:xfrm>
            <a:off x="6569964" y="3566244"/>
            <a:ext cx="73152" cy="182712"/>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12" name="Rounded Rectangle 11"/>
          <p:cNvSpPr/>
          <p:nvPr/>
        </p:nvSpPr>
        <p:spPr>
          <a:xfrm>
            <a:off x="6702552" y="3595031"/>
            <a:ext cx="73152" cy="125138"/>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13" name="Rounded Rectangle 12"/>
          <p:cNvSpPr/>
          <p:nvPr/>
        </p:nvSpPr>
        <p:spPr>
          <a:xfrm>
            <a:off x="6835140" y="3551005"/>
            <a:ext cx="73152" cy="213190"/>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14" name="Rounded Rectangle 13"/>
          <p:cNvSpPr/>
          <p:nvPr/>
        </p:nvSpPr>
        <p:spPr>
          <a:xfrm>
            <a:off x="6967728" y="3513027"/>
            <a:ext cx="73152" cy="289146"/>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15" name="Rounded Rectangle 14"/>
          <p:cNvSpPr/>
          <p:nvPr/>
        </p:nvSpPr>
        <p:spPr>
          <a:xfrm>
            <a:off x="7100316" y="3599986"/>
            <a:ext cx="73152" cy="115228"/>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16" name="Rounded Rectangle 15"/>
          <p:cNvSpPr/>
          <p:nvPr/>
        </p:nvSpPr>
        <p:spPr>
          <a:xfrm>
            <a:off x="7232904" y="3452839"/>
            <a:ext cx="73152" cy="409523"/>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17" name="Rounded Rectangle 16"/>
          <p:cNvSpPr/>
          <p:nvPr/>
        </p:nvSpPr>
        <p:spPr>
          <a:xfrm>
            <a:off x="7365492" y="3419790"/>
            <a:ext cx="73152" cy="475621"/>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18" name="Rounded Rectangle 17"/>
          <p:cNvSpPr/>
          <p:nvPr/>
        </p:nvSpPr>
        <p:spPr>
          <a:xfrm>
            <a:off x="7498080" y="3535620"/>
            <a:ext cx="73152" cy="243960"/>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19" name="Rounded Rectangle 18"/>
          <p:cNvSpPr/>
          <p:nvPr/>
        </p:nvSpPr>
        <p:spPr>
          <a:xfrm>
            <a:off x="7630668" y="3550099"/>
            <a:ext cx="73152" cy="215001"/>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20" name="Rounded Rectangle 19"/>
          <p:cNvSpPr/>
          <p:nvPr/>
        </p:nvSpPr>
        <p:spPr>
          <a:xfrm>
            <a:off x="7763256" y="3552060"/>
            <a:ext cx="73152" cy="211080"/>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21" name="Rounded Rectangle 20"/>
          <p:cNvSpPr/>
          <p:nvPr/>
        </p:nvSpPr>
        <p:spPr>
          <a:xfrm>
            <a:off x="7895844" y="3588476"/>
            <a:ext cx="73152" cy="138247"/>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22" name="Rounded Rectangle 21"/>
          <p:cNvSpPr/>
          <p:nvPr/>
        </p:nvSpPr>
        <p:spPr>
          <a:xfrm>
            <a:off x="8028432" y="3599826"/>
            <a:ext cx="73152" cy="115549"/>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23" name="Rounded Rectangle 22"/>
          <p:cNvSpPr/>
          <p:nvPr/>
        </p:nvSpPr>
        <p:spPr>
          <a:xfrm>
            <a:off x="8161020" y="3488050"/>
            <a:ext cx="73152" cy="339100"/>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24" name="Rounded Rectangle 23"/>
          <p:cNvSpPr/>
          <p:nvPr/>
        </p:nvSpPr>
        <p:spPr>
          <a:xfrm>
            <a:off x="8293608" y="3429402"/>
            <a:ext cx="73152" cy="456396"/>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25" name="Rounded Rectangle 24"/>
          <p:cNvSpPr/>
          <p:nvPr/>
        </p:nvSpPr>
        <p:spPr>
          <a:xfrm>
            <a:off x="8426196" y="3526554"/>
            <a:ext cx="73152" cy="262092"/>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26" name="Rounded Rectangle 25"/>
          <p:cNvSpPr/>
          <p:nvPr/>
        </p:nvSpPr>
        <p:spPr>
          <a:xfrm>
            <a:off x="8558784" y="3518384"/>
            <a:ext cx="73152" cy="278432"/>
          </a:xfrm>
          <a:prstGeom prst="roundRect">
            <a:avLst>
              <a:gd name="adj" fmla="val 50000"/>
            </a:avLst>
          </a:prstGeom>
          <a:solidFill>
            <a:srgbClr val="0F6CBD"/>
          </a:solidFill>
          <a:ln w="15875">
            <a:solidFill>
              <a:srgbClr val="B8C4D6"/>
            </a:solidFill>
          </a:ln>
          <a:effectLst/>
        </p:spPr>
        <p:txBody>
          <a:bodyPr rtlCol="0" anchor="ctr"/>
          <a:lstStyle/>
          <a:p>
            <a:pPr algn="ctr"/>
          </a:p>
        </p:txBody>
      </p:sp>
      <p:sp>
        <p:nvSpPr>
          <p:cNvPr id="27" name="Rounded Rectangle 26"/>
          <p:cNvSpPr/>
          <p:nvPr/>
        </p:nvSpPr>
        <p:spPr>
          <a:xfrm>
            <a:off x="8823960" y="2350774"/>
            <a:ext cx="73152" cy="236212"/>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28" name="Rounded Rectangle 27"/>
          <p:cNvSpPr/>
          <p:nvPr/>
        </p:nvSpPr>
        <p:spPr>
          <a:xfrm>
            <a:off x="8956548" y="2413204"/>
            <a:ext cx="73152" cy="111352"/>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29" name="Rounded Rectangle 28"/>
          <p:cNvSpPr/>
          <p:nvPr/>
        </p:nvSpPr>
        <p:spPr>
          <a:xfrm>
            <a:off x="9089136" y="2369934"/>
            <a:ext cx="73152" cy="197892"/>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30" name="Rounded Rectangle 29"/>
          <p:cNvSpPr/>
          <p:nvPr/>
        </p:nvSpPr>
        <p:spPr>
          <a:xfrm>
            <a:off x="9221724" y="2301438"/>
            <a:ext cx="73152" cy="334884"/>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31" name="Rounded Rectangle 30"/>
          <p:cNvSpPr/>
          <p:nvPr/>
        </p:nvSpPr>
        <p:spPr>
          <a:xfrm>
            <a:off x="9354312" y="2351404"/>
            <a:ext cx="73152" cy="234951"/>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32" name="Rounded Rectangle 31"/>
          <p:cNvSpPr/>
          <p:nvPr/>
        </p:nvSpPr>
        <p:spPr>
          <a:xfrm>
            <a:off x="9486900" y="2321892"/>
            <a:ext cx="73152" cy="293976"/>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33" name="Rounded Rectangle 32"/>
          <p:cNvSpPr/>
          <p:nvPr/>
        </p:nvSpPr>
        <p:spPr>
          <a:xfrm>
            <a:off x="9619488" y="2228104"/>
            <a:ext cx="73152" cy="481551"/>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34" name="Rounded Rectangle 33"/>
          <p:cNvSpPr/>
          <p:nvPr/>
        </p:nvSpPr>
        <p:spPr>
          <a:xfrm>
            <a:off x="9752076" y="2294055"/>
            <a:ext cx="73152" cy="349651"/>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35" name="Rounded Rectangle 34"/>
          <p:cNvSpPr/>
          <p:nvPr/>
        </p:nvSpPr>
        <p:spPr>
          <a:xfrm>
            <a:off x="9884664" y="2406355"/>
            <a:ext cx="73152" cy="125051"/>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36" name="Rounded Rectangle 35"/>
          <p:cNvSpPr/>
          <p:nvPr/>
        </p:nvSpPr>
        <p:spPr>
          <a:xfrm>
            <a:off x="10017252" y="2372521"/>
            <a:ext cx="73152" cy="192719"/>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37" name="Rounded Rectangle 36"/>
          <p:cNvSpPr/>
          <p:nvPr/>
        </p:nvSpPr>
        <p:spPr>
          <a:xfrm>
            <a:off x="10149840" y="2394873"/>
            <a:ext cx="73152" cy="148013"/>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38" name="Rounded Rectangle 37"/>
          <p:cNvSpPr/>
          <p:nvPr/>
        </p:nvSpPr>
        <p:spPr>
          <a:xfrm>
            <a:off x="10282428" y="2381940"/>
            <a:ext cx="73152" cy="173879"/>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39" name="Rounded Rectangle 38"/>
          <p:cNvSpPr/>
          <p:nvPr/>
        </p:nvSpPr>
        <p:spPr>
          <a:xfrm>
            <a:off x="10415016" y="2341982"/>
            <a:ext cx="73152" cy="253797"/>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40" name="Rounded Rectangle 39"/>
          <p:cNvSpPr/>
          <p:nvPr/>
        </p:nvSpPr>
        <p:spPr>
          <a:xfrm>
            <a:off x="10547604" y="2235949"/>
            <a:ext cx="73152" cy="465862"/>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41" name="Rounded Rectangle 40"/>
          <p:cNvSpPr/>
          <p:nvPr/>
        </p:nvSpPr>
        <p:spPr>
          <a:xfrm>
            <a:off x="10680192" y="2274166"/>
            <a:ext cx="73152" cy="389428"/>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42" name="Rounded Rectangle 41"/>
          <p:cNvSpPr/>
          <p:nvPr/>
        </p:nvSpPr>
        <p:spPr>
          <a:xfrm>
            <a:off x="10812780" y="2399063"/>
            <a:ext cx="73152" cy="139634"/>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43" name="Rounded Rectangle 42"/>
          <p:cNvSpPr/>
          <p:nvPr/>
        </p:nvSpPr>
        <p:spPr>
          <a:xfrm>
            <a:off x="10945368" y="2297408"/>
            <a:ext cx="73152" cy="342944"/>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44" name="Rounded Rectangle 43"/>
          <p:cNvSpPr/>
          <p:nvPr/>
        </p:nvSpPr>
        <p:spPr>
          <a:xfrm>
            <a:off x="11077956" y="2335024"/>
            <a:ext cx="73152" cy="267713"/>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45" name="Rounded Rectangle 44"/>
          <p:cNvSpPr/>
          <p:nvPr/>
        </p:nvSpPr>
        <p:spPr>
          <a:xfrm>
            <a:off x="11210544" y="2408836"/>
            <a:ext cx="73152" cy="120089"/>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46" name="Rounded Rectangle 45"/>
          <p:cNvSpPr/>
          <p:nvPr/>
        </p:nvSpPr>
        <p:spPr>
          <a:xfrm>
            <a:off x="11343132" y="2385399"/>
            <a:ext cx="73152" cy="166962"/>
          </a:xfrm>
          <a:prstGeom prst="roundRect">
            <a:avLst>
              <a:gd name="adj" fmla="val 50000"/>
            </a:avLst>
          </a:prstGeom>
          <a:solidFill>
            <a:srgbClr val="C2620A"/>
          </a:solidFill>
          <a:ln w="15875">
            <a:solidFill>
              <a:srgbClr val="B8C4D6"/>
            </a:solidFill>
          </a:ln>
          <a:effectLst/>
        </p:spPr>
        <p:txBody>
          <a:bodyPr rtlCol="0" anchor="ctr"/>
          <a:lstStyle/>
          <a:p>
            <a:pPr algn="ctr"/>
          </a:p>
        </p:txBody>
      </p:sp>
      <p:sp>
        <p:nvSpPr>
          <p:cNvPr id="47" name="Rounded Rectangle 46"/>
          <p:cNvSpPr/>
          <p:nvPr/>
        </p:nvSpPr>
        <p:spPr>
          <a:xfrm>
            <a:off x="8778240" y="3383280"/>
            <a:ext cx="2697480" cy="548640"/>
          </a:xfrm>
          <a:prstGeom prst="roundRect">
            <a:avLst>
              <a:gd name="adj" fmla="val 20000"/>
            </a:avLst>
          </a:prstGeom>
          <a:noFill/>
          <a:ln w="15875">
            <a:solidFill>
              <a:srgbClr val="8DBBE6"/>
            </a:solidFill>
            <a:prstDash val="dash"/>
          </a:ln>
          <a:effectLst/>
        </p:spPr>
        <p:txBody>
          <a:bodyPr rtlCol="0" anchor="ctr"/>
          <a:lstStyle/>
          <a:p>
            <a:pPr algn="ctr"/>
          </a:p>
        </p:txBody>
      </p:sp>
      <p:sp>
        <p:nvSpPr>
          <p:cNvPr id="48" name="TextBox 47"/>
          <p:cNvSpPr txBox="1"/>
          <p:nvPr/>
        </p:nvSpPr>
        <p:spPr>
          <a:xfrm>
            <a:off x="8823960" y="3474720"/>
            <a:ext cx="2560320" cy="365760"/>
          </a:xfrm>
          <a:prstGeom prst="rect">
            <a:avLst/>
          </a:prstGeom>
          <a:noFill/>
        </p:spPr>
        <p:txBody>
          <a:bodyPr wrap="square" lIns="18288" rIns="18288" tIns="10973" bIns="10973" anchor="t">
            <a:noAutofit/>
          </a:bodyPr>
          <a:lstStyle/>
          <a:p>
            <a:pPr algn="ctr"/>
            <a:r>
              <a:rPr sz="1300" b="0" i="1">
                <a:solidFill>
                  <a:srgbClr val="53617A"/>
                </a:solidFill>
                <a:latin typeface="Calibri"/>
              </a:rPr>
              <a:t>truncated response</a:t>
            </a:r>
          </a:p>
        </p:txBody>
      </p:sp>
      <p:sp>
        <p:nvSpPr>
          <p:cNvPr id="49" name="Freeform 48"/>
          <p:cNvSpPr/>
          <p:nvPr/>
        </p:nvSpPr>
        <p:spPr>
          <a:xfrm>
            <a:off x="8732520" y="1965960"/>
            <a:ext cx="0" cy="2240280"/>
          </a:xfrm>
          <a:custGeom>
            <a:avLst/>
            <a:gdLst/>
            <a:ahLst/>
            <a:cxnLst/>
            <a:rect l="l" t="t" r="r" b="b"/>
            <a:pathLst>
              <a:path w="0" h="2240280">
                <a:moveTo>
                  <a:pt x="0" y="0"/>
                </a:moveTo>
                <a:lnTo>
                  <a:pt x="0" y="2240280"/>
                </a:lnTo>
              </a:path>
            </a:pathLst>
          </a:custGeom>
          <a:noFill/>
          <a:ln w="22225">
            <a:solidFill>
              <a:srgbClr val="16202F"/>
            </a:solidFill>
            <a:prstDash val="dash"/>
          </a:ln>
          <a:effectLst/>
        </p:spPr>
        <p:txBody>
          <a:bodyPr rtlCol="0" anchor="ctr"/>
          <a:lstStyle/>
          <a:p>
            <a:pPr algn="ctr"/>
          </a:p>
        </p:txBody>
      </p:sp>
      <p:sp>
        <p:nvSpPr>
          <p:cNvPr id="50" name="TextBox 49"/>
          <p:cNvSpPr txBox="1"/>
          <p:nvPr/>
        </p:nvSpPr>
        <p:spPr>
          <a:xfrm>
            <a:off x="6995160" y="1874520"/>
            <a:ext cx="1645920" cy="548640"/>
          </a:xfrm>
          <a:prstGeom prst="rect">
            <a:avLst/>
          </a:prstGeom>
          <a:noFill/>
        </p:spPr>
        <p:txBody>
          <a:bodyPr wrap="square" lIns="18288" rIns="18288" tIns="10973" bIns="10973" anchor="t">
            <a:noAutofit/>
          </a:bodyPr>
          <a:lstStyle/>
          <a:p>
            <a:pPr algn="r"/>
            <a:r>
              <a:rPr sz="1200" b="0" i="1">
                <a:solidFill>
                  <a:srgbClr val="16202F"/>
                </a:solidFill>
                <a:latin typeface="Calibri"/>
              </a:rPr>
              <a:t>user starts</a:t>
            </a:r>
          </a:p>
          <a:p>
            <a:pPr algn="r"/>
            <a:r>
              <a:rPr sz="1200" b="0" i="1">
                <a:solidFill>
                  <a:srgbClr val="16202F"/>
                </a:solidFill>
                <a:latin typeface="Calibri"/>
              </a:rPr>
              <a:t>speaking</a:t>
            </a:r>
          </a:p>
        </p:txBody>
      </p:sp>
      <p:sp>
        <p:nvSpPr>
          <p:cNvPr id="51" name="voice activity detection"/>
          <p:cNvSpPr/>
          <p:nvPr/>
        </p:nvSpPr>
        <p:spPr>
          <a:xfrm>
            <a:off x="5897880" y="4297680"/>
            <a:ext cx="2148840" cy="365760"/>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200" b="1" i="0">
                <a:solidFill>
                  <a:srgbClr val="16202F"/>
                </a:solidFill>
                <a:latin typeface="Calibri"/>
              </a:rPr>
              <a:t>voice activity detection</a:t>
            </a:r>
          </a:p>
        </p:txBody>
      </p:sp>
      <p:sp>
        <p:nvSpPr>
          <p:cNvPr id="52" name="barge-in"/>
          <p:cNvSpPr/>
          <p:nvPr/>
        </p:nvSpPr>
        <p:spPr>
          <a:xfrm>
            <a:off x="8183880" y="4297680"/>
            <a:ext cx="1097280" cy="365760"/>
          </a:xfrm>
          <a:prstGeom prst="roundRect">
            <a:avLst>
              <a:gd name="adj" fmla="val 50000"/>
            </a:avLst>
          </a:prstGeom>
          <a:solidFill>
            <a:srgbClr val="C2620A"/>
          </a:solidFill>
          <a:ln w="15875">
            <a:solidFill>
              <a:srgbClr val="C2620A"/>
            </a:solidFill>
          </a:ln>
          <a:effectLst/>
        </p:spPr>
        <p:txBody>
          <a:bodyPr rtlCol="0" anchor="ctr" wrap="square" lIns="45720" rIns="45720" tIns="27432" bIns="27432">
            <a:noAutofit/>
          </a:bodyPr>
          <a:lstStyle/>
          <a:p>
            <a:pPr algn="ctr"/>
            <a:r>
              <a:rPr sz="1200" b="1" i="0">
                <a:solidFill>
                  <a:srgbClr val="FFFFFF"/>
                </a:solidFill>
                <a:latin typeface="Calibri"/>
              </a:rPr>
              <a:t>barge-in</a:t>
            </a:r>
          </a:p>
        </p:txBody>
      </p:sp>
      <p:sp>
        <p:nvSpPr>
          <p:cNvPr id="53" name="Auto-truncation: the transcript keeps only audio that played"/>
          <p:cNvSpPr/>
          <p:nvPr/>
        </p:nvSpPr>
        <p:spPr>
          <a:xfrm>
            <a:off x="5166360" y="5074920"/>
            <a:ext cx="6245352" cy="475488"/>
          </a:xfrm>
          <a:prstGeom prst="roundRect">
            <a:avLst>
              <a:gd name="adj" fmla="val 1923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Auto-truncation: the transcript keeps only audio that played</a:t>
            </a:r>
          </a:p>
        </p:txBody>
      </p:sp>
      <p:sp>
        <p:nvSpPr>
          <p:cNvPr id="54" name="Freeform 53"/>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55"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56"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Governance, responsible AI, and recap</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EXPERT · GOVERNANCE &amp; RECAP</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Risk frameworks: NIST AI RMF and similar</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Responsible AI principles guide real decisions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Technical depth still needs human oversight</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governance ring"/>
          <p:cNvSpPr/>
          <p:nvPr/>
        </p:nvSpPr>
        <p:spPr>
          <a:xfrm>
            <a:off x="6515100" y="2148840"/>
            <a:ext cx="3566160" cy="3566160"/>
          </a:xfrm>
          <a:prstGeom prst="ellipse">
            <a:avLst/>
          </a:prstGeom>
          <a:solidFill>
            <a:srgbClr val="FFFFFF"/>
          </a:solidFill>
          <a:ln w="127000">
            <a:solidFill>
              <a:srgbClr val="8DBBE6"/>
            </a:solidFill>
          </a:ln>
          <a:effectLst/>
        </p:spPr>
        <p:txBody>
          <a:bodyPr rtlCol="0" anchor="ctr"/>
          <a:lstStyle/>
          <a:p>
            <a:pPr algn="ctr"/>
          </a:p>
        </p:txBody>
      </p:sp>
      <p:sp>
        <p:nvSpPr>
          <p:cNvPr id="7" name="AI system"/>
          <p:cNvSpPr/>
          <p:nvPr/>
        </p:nvSpPr>
        <p:spPr>
          <a:xfrm>
            <a:off x="7520940" y="3154680"/>
            <a:ext cx="1554480" cy="1554480"/>
          </a:xfrm>
          <a:prstGeom prst="ellipse">
            <a:avLst/>
          </a:prstGeom>
          <a:solidFill>
            <a:srgbClr val="0F6CBD"/>
          </a:solidFill>
          <a:ln w="15875">
            <a:solidFill>
              <a:srgbClr val="0F6CBD"/>
            </a:solidFill>
          </a:ln>
          <a:effectLst/>
        </p:spPr>
        <p:txBody>
          <a:bodyPr rtlCol="0" anchor="ctr" wrap="square" lIns="73152" rIns="73152" tIns="43891" bIns="43891">
            <a:noAutofit/>
          </a:bodyPr>
          <a:lstStyle/>
          <a:p>
            <a:pPr algn="ctr"/>
            <a:r>
              <a:rPr sz="1700" b="1" i="0">
                <a:solidFill>
                  <a:srgbClr val="FFFFFF"/>
                </a:solidFill>
                <a:latin typeface="Calibri"/>
              </a:rPr>
              <a:t>AI system</a:t>
            </a:r>
          </a:p>
        </p:txBody>
      </p:sp>
      <p:sp>
        <p:nvSpPr>
          <p:cNvPr id="8" name="Govern"/>
          <p:cNvSpPr/>
          <p:nvPr/>
        </p:nvSpPr>
        <p:spPr>
          <a:xfrm>
            <a:off x="7635240" y="1920240"/>
            <a:ext cx="1325880" cy="457200"/>
          </a:xfrm>
          <a:prstGeom prst="roundRect">
            <a:avLst>
              <a:gd name="adj" fmla="val 50000"/>
            </a:avLst>
          </a:prstGeom>
          <a:solidFill>
            <a:srgbClr val="C2620A"/>
          </a:solidFill>
          <a:ln w="15875">
            <a:solidFill>
              <a:srgbClr val="C2620A"/>
            </a:solidFill>
          </a:ln>
          <a:effectLst/>
        </p:spPr>
        <p:txBody>
          <a:bodyPr rtlCol="0" anchor="ctr" wrap="square" lIns="45720" rIns="45720" tIns="27432" bIns="27432">
            <a:noAutofit/>
          </a:bodyPr>
          <a:lstStyle/>
          <a:p>
            <a:pPr algn="ctr"/>
            <a:r>
              <a:rPr sz="1500" b="1" i="0">
                <a:solidFill>
                  <a:srgbClr val="FFFFFF"/>
                </a:solidFill>
                <a:latin typeface="Calibri"/>
              </a:rPr>
              <a:t>Govern</a:t>
            </a:r>
          </a:p>
        </p:txBody>
      </p:sp>
      <p:sp>
        <p:nvSpPr>
          <p:cNvPr id="9" name="Map"/>
          <p:cNvSpPr/>
          <p:nvPr/>
        </p:nvSpPr>
        <p:spPr>
          <a:xfrm>
            <a:off x="9418320" y="3703320"/>
            <a:ext cx="1325880" cy="457200"/>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500" b="1" i="0">
                <a:solidFill>
                  <a:srgbClr val="16202F"/>
                </a:solidFill>
                <a:latin typeface="Calibri"/>
              </a:rPr>
              <a:t>Map</a:t>
            </a:r>
          </a:p>
        </p:txBody>
      </p:sp>
      <p:sp>
        <p:nvSpPr>
          <p:cNvPr id="10" name="Measure"/>
          <p:cNvSpPr/>
          <p:nvPr/>
        </p:nvSpPr>
        <p:spPr>
          <a:xfrm>
            <a:off x="7635240" y="5486400"/>
            <a:ext cx="1325880" cy="457200"/>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500" b="1" i="0">
                <a:solidFill>
                  <a:srgbClr val="16202F"/>
                </a:solidFill>
                <a:latin typeface="Calibri"/>
              </a:rPr>
              <a:t>Measure</a:t>
            </a:r>
          </a:p>
        </p:txBody>
      </p:sp>
      <p:sp>
        <p:nvSpPr>
          <p:cNvPr id="11" name="Manage"/>
          <p:cNvSpPr/>
          <p:nvPr/>
        </p:nvSpPr>
        <p:spPr>
          <a:xfrm>
            <a:off x="5852160" y="3703320"/>
            <a:ext cx="1325880" cy="457200"/>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500" b="1" i="0">
                <a:solidFill>
                  <a:srgbClr val="16202F"/>
                </a:solidFill>
                <a:latin typeface="Calibri"/>
              </a:rPr>
              <a:t>Manage</a:t>
            </a:r>
          </a:p>
        </p:txBody>
      </p:sp>
      <p:sp>
        <p:nvSpPr>
          <p:cNvPr id="12" name="TextBox 11"/>
          <p:cNvSpPr txBox="1"/>
          <p:nvPr/>
        </p:nvSpPr>
        <p:spPr>
          <a:xfrm>
            <a:off x="5120640" y="2011680"/>
            <a:ext cx="2194560" cy="457200"/>
          </a:xfrm>
          <a:prstGeom prst="rect">
            <a:avLst/>
          </a:prstGeom>
          <a:noFill/>
        </p:spPr>
        <p:txBody>
          <a:bodyPr wrap="square" lIns="18288" rIns="18288" tIns="10973" bIns="10973" anchor="t">
            <a:noAutofit/>
          </a:bodyPr>
          <a:lstStyle/>
          <a:p>
            <a:pPr algn="l"/>
            <a:r>
              <a:rPr sz="1300" b="1" i="0">
                <a:solidFill>
                  <a:srgbClr val="53617A"/>
                </a:solidFill>
                <a:latin typeface="Calibri"/>
              </a:rPr>
              <a:t>NIST AI RMF</a:t>
            </a:r>
          </a:p>
          <a:p>
            <a:pPr algn="l"/>
            <a:r>
              <a:rPr sz="1300" b="1" i="0">
                <a:solidFill>
                  <a:srgbClr val="53617A"/>
                </a:solidFill>
                <a:latin typeface="Calibri"/>
              </a:rPr>
              <a:t>functions</a:t>
            </a:r>
          </a:p>
        </p:txBody>
      </p:sp>
      <p:sp>
        <p:nvSpPr>
          <p:cNvPr id="13" name="Freeform 12"/>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4"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Oz Radio · AI enablement · Expert</a:t>
            </a:r>
          </a:p>
        </p:txBody>
      </p:sp>
      <p:sp>
        <p:nvSpPr>
          <p:cNvPr id="15"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enablement 3 — Expert: Under the Hood</dc:title>
  <dc:subject>Oz Radio AI enablement series</dc:subject>
  <dc:creator>Oz Radio</dc:creator>
  <cp:keywords>AI enablement; Oz Radio; Expert</cp:keywords>
  <dc:description>Generated by scripts/generate_ai_enablement_pptx.py</dc:description>
  <cp:lastModifiedBy>Oz Radio</cp:lastModifiedBy>
  <cp:revision>1</cp:revision>
  <dcterms:created xsi:type="dcterms:W3CDTF">2026-10-01T09:00:00Z</dcterms:created>
  <dcterms:modified xsi:type="dcterms:W3CDTF">2026-10-01T09:00:00Z</dcterms:modified>
  <cp:category/>
  <cp:lastPrinted>2026-10-01T09:00:00Z</cp:lastPrinted>
</cp:coreProperties>
</file>