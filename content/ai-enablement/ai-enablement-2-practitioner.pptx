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practitioner session. Where the first deck in this series introduced the vocabulary of artificial intelligence, this one is aimed at people who are actually going to build with it: choosing a model, engineering context, designing an agent harness, wiring up tools through the Model Context Protocol, adding a voice layer, and evaluating whether any of it is actually good enough to ship. I am going to assume you already know what a large language model and a token are, and we will move a little faster and more technically than the beginner session did. Treat this as a practical map of the decisions you will face turning a promising demo into something reliable enough for real users, with pointers to primary documentation so you can go deeper afterward.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selection is rarely a one-time decision; it is usually made per task, and sometimes per step inside one workflow. Frontier models, closed and hosted by a vendor, generally offer the strongest general-purpose capability, at the cost of higher latency and price per request. Small language models trade some of that capability for speed, lower cost, and the ability to run on modest hardware or even offline. Open-weight models, where the vendor publishes downloadable parameters, sit in between: you take on hosting responsibility, but gain the ability to fine-tune, inspect, and run the model within your own environment. Illustrative, generic examples as of 2026: a frontier-class model in the GPT-4.1 family, a small model in the Phi family, an open-weight model in the Llama or Mistral families. Licences differ across all three, so check usage terms before committing.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 engineering is the discipline of deciding exactly what goes into the context window on every call, since that window is a hard, finite budget shared by everything the model needs to see. A system prompt anchors persistent instructions and behavior. Retrieval, commonly implemented as retrieval-augmented generation, or RAG, searches an external knowledge base and injects only the most relevant passages instead of dumping entire documents into the prompt. Memory mechanisms selectively carry forward facts from earlier turns or sessions, so the model does not need the full transcript every time. Because tokens spent on any one of these come out of the same shared budget, practitioners have to actively trim, summarize, or rank what gets included, rather than assuming more context is always better.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agent harness is the surrounding code and infrastructure that turns a raw model into a dependable agent. At its core sits the agent loop: the model plans a next step, calls a tool, observes the result, and decides whether to continue or respond. Tool calling is the structured mechanism, typically a function definition the model fills in, that lets the model request an action in a format your code can safely execute. Guardrails constrain what the agent is allowed to do or say, catching unsafe or out-of-scope requests before or after model calls. Memory components decide what persists between turns. None of this is complete without evaluation and observability: tracing every step, scoring outputs against test cases, and watching production behavior so regressions are caught before users notice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Model Context Protocol, three roles matter. The host is the AI application itself, such as an editor or a custom agent runtime. For every server it wants to use, the host creates a dedicated client, which maintains one connection and handles the protocol details for that specific server. A server is a separate program that exposes context to clients through three primitives: tools, which are callable actions; resources, which are readable data such as file contents; and prompts, which are reusable interaction templates. This separation means a single host can simultaneously connect to a local file server, an internal database server, and a remote third-party server, each through its own isolated client connection, without those servers needing to know about each other.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Context Protocol defines two standard transports. Stdio runs the server as a local subprocess and exchanges messages over standard input and output, which is simple and fast but limited to one client on the same machine. Streamable HTTP is designed for remote, multi-client scenarios: the server exposes a single endpoint that accepts posted messages and can stream responses back, including through server-sent events for long-running operations. Because streamable HTTP servers are reachable over a network, the protocol recommends using OAuth, specifically a profile of OAuth 2.1, so clients obtain a proper access token before calling protected tools, rather than relying on a shared static secret. Stdio servers, by contrast, typically read credentials directly from their local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common architectures for building a voice agent. The chained approach runs speech-to-text, then a language model, then text-to-speech as three separate steps, which is flexible and easy to debug but adds latency at each handoff. The alternative is a speech-to-speech realtime model that handles recognition, reasoning, and voice generation inside one unified pipeline, cutting handoff latency but offering less visibility into each intermediate step. Your overall latency budget, how quickly a reply must start for the conversation to feel natural, often decides which approach fits. As one concrete, illustrative example, Azure AI Speech offers both chained services and a unified realtime option called Voice Live, which also supports avatar visuals within the same session.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trusting an agent with real users, you need a way to measure whether it is actually good, not just whether it runs. Offline evaluation uses a curated test set and rubrics, sometimes graded by another model, to score accuracy, relevance, or safety before anything ships. Online evaluation continues that scoring against live traffic after deployment, since real user behavior rarely matches your test cases exactly. Both should be tracked alongside latency and token cost, because a slightly less accurate but much cheaper and faster configuration is sometimes the better product decision overall. Observability tooling that traces every model call and tool invocation makes it possible to see exactly where quality, speed, or cost problems originate, rather than guessing from the final output alone.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 quality has an outsized effect on agent reliability, because the model chooses which tool to call largely based on its name and description. Favor narrow, single-purpose tools with clear names over one broad tool that tries to do everything, since an overloaded description makes correct selection harder for the model. Document expected inputs precisely, including types and examples, and return structured, predictable output rather than free-form text the model has to re-parse. Where possible, make tools idempotent, meaning calling them twice with the same input is safe, because agent loops sometimes retry a step after a timeout or an ambiguous result. These same tools can be exposed to multiple agents through the Model Context Protocol once defined this way, making good tool design reusable across projects, not just a one-off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Guardrails are the checks that sit between what an agent decides to do and what actually happens. At minimum, validate every tool input before execution and sanity-check outputs before passing them back to the model or the user. Apply least privilege: give each tool and each agent only the permissions its job actually requires, rather than broad standing access that an error or a manipulated prompt could misuse. Keep an audit log of every decision, tool call, and outcome, since that log is what lets you diagnose an incident after the fact rather than guessing. For actions with real consequences, such as sending money or deleting data, consider requiring explicit human confirmation before the agent proceeds, at least until production evidence justifies full trust.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connect every piece into one picture. A user speaks, and a speech stack, either a chained pipeline or a realtime speech-to-speech model, turns that into something the agent harness can process. The harness runs the agent loop, calling the model, invoking tools through the Model Context Protocol when needed, and applying guardrails along the way. The model's response flows back through the speech stack as synthesized voice, optionally paired with an avatar. Wrapped around this entire loop sits evaluation and observability, continuously scoring quality, latency, and cost so you can catch regressions early. Very few production systems need every piece on day one, but understanding where each one fits makes it easier to decide what to add next as requirements grow.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covered choosing between frontier, small, and open-weight models; engineering context deliberately rather than stuffing the window; building an agent harness with a proper loop, tool calling, memory, and guardrails; using the Model Context Protocol in practice across its roles and transports; picking a speech architecture that fits your latency budget; and evaluating quality, latency, and cost together rather than in isolation. A sensible path forward is to start small: one model, one or two well-designed tools, and a basic evaluation set, then expand the harness as real usage teaches you where it actually falls short. The next session goes one level deeper, into tokenization, attention, quantization, and the security details behind all of this.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1051560"/>
            <a:ext cx="5943600" cy="1417320"/>
          </a:xfrm>
        </p:spPr>
        <p:txBody>
          <a:bodyPr wrap="square" lIns="18288" rIns="18288" tIns="10973" bIns="10973" anchor="t">
            <a:noAutofit/>
          </a:bodyPr>
          <a:lstStyle/>
          <a:p>
            <a:pPr algn="l">
              <a:lnSpc>
                <a:spcPct val="95000"/>
              </a:lnSpc>
            </a:pPr>
            <a:r>
              <a:rPr sz="4600" b="1" i="0">
                <a:solidFill>
                  <a:srgbClr val="16202F"/>
                </a:solidFill>
                <a:latin typeface="Calibri"/>
              </a:rPr>
              <a:t>Building with AI</a:t>
            </a:r>
          </a:p>
        </p:txBody>
      </p:sp>
      <p:sp>
        <p:nvSpPr>
          <p:cNvPr id="3" name="eyebrow"/>
          <p:cNvSpPr txBox="1"/>
          <p:nvPr/>
        </p:nvSpPr>
        <p:spPr>
          <a:xfrm>
            <a:off x="502920" y="457200"/>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DECKFM · AI ENABLEMENT SERIES · PART 2 OF 3</a:t>
            </a:r>
          </a:p>
        </p:txBody>
      </p:sp>
      <p:sp>
        <p:nvSpPr>
          <p:cNvPr id="4" name="TextBox 3"/>
          <p:cNvSpPr txBox="1"/>
          <p:nvPr/>
        </p:nvSpPr>
        <p:spPr>
          <a:xfrm>
            <a:off x="502920" y="2487168"/>
            <a:ext cx="5943600" cy="457200"/>
          </a:xfrm>
          <a:prstGeom prst="rect">
            <a:avLst/>
          </a:prstGeom>
          <a:noFill/>
        </p:spPr>
        <p:txBody>
          <a:bodyPr wrap="square" lIns="18288" rIns="18288" tIns="10973" bIns="10973" anchor="t">
            <a:noAutofit/>
          </a:bodyPr>
          <a:lstStyle/>
          <a:p>
            <a:pPr algn="l"/>
            <a:r>
              <a:rPr sz="2000" b="0" i="0">
                <a:solidFill>
                  <a:srgbClr val="0F6CBD"/>
                </a:solidFill>
                <a:latin typeface="Calibri"/>
              </a:rPr>
              <a:t>From prototype to production</a:t>
            </a:r>
          </a:p>
        </p:txBody>
      </p:sp>
      <p:sp>
        <p:nvSpPr>
          <p:cNvPr id="5" name="Practitioner · builds with AI tools"/>
          <p:cNvSpPr/>
          <p:nvPr/>
        </p:nvSpPr>
        <p:spPr>
          <a:xfrm>
            <a:off x="502920" y="3063240"/>
            <a:ext cx="3657600" cy="402336"/>
          </a:xfrm>
          <a:prstGeom prst="roundRect">
            <a:avLst>
              <a:gd name="adj" fmla="val 50000"/>
            </a:avLst>
          </a:prstGeom>
          <a:solidFill>
            <a:srgbClr val="FFF4E4"/>
          </a:solidFill>
          <a:ln w="15875">
            <a:solidFill>
              <a:srgbClr val="E8A855"/>
            </a:solidFill>
          </a:ln>
          <a:effectLst/>
        </p:spPr>
        <p:txBody>
          <a:bodyPr rtlCol="0" anchor="ctr" wrap="square" lIns="45720" rIns="45720" tIns="27432" bIns="27432">
            <a:noAutofit/>
          </a:bodyPr>
          <a:lstStyle/>
          <a:p>
            <a:pPr algn="ctr"/>
            <a:r>
              <a:rPr sz="1400" b="1" i="0">
                <a:solidFill>
                  <a:srgbClr val="16202F"/>
                </a:solidFill>
                <a:latin typeface="Calibri"/>
              </a:rPr>
              <a:t>Practitioner · builds with AI tools</a:t>
            </a:r>
          </a:p>
        </p:txBody>
      </p:sp>
      <p:sp>
        <p:nvSpPr>
          <p:cNvPr id="6" name="bullets"/>
          <p:cNvSpPr txBox="1"/>
          <p:nvPr/>
        </p:nvSpPr>
        <p:spPr>
          <a:xfrm>
            <a:off x="502920" y="3749040"/>
            <a:ext cx="5760720" cy="2286000"/>
          </a:xfrm>
          <a:prstGeom prst="rect">
            <a:avLst/>
          </a:prstGeom>
          <a:noFill/>
        </p:spPr>
        <p:txBody>
          <a:bodyPr wrap="square" lIns="18288" rIns="18288" tIns="10973" bIns="10973" anchor="t">
            <a:noAutofit/>
          </a:bodyPr>
          <a:lstStyle/>
          <a:p>
            <a:pPr algn="l" marL="274320" indent="-274320">
              <a:lnSpc>
                <a:spcPct val="105000"/>
              </a:lnSpc>
              <a:spcAft>
                <a:spcPts val="1200"/>
              </a:spcAft>
              <a:buClr>
                <a:srgbClr val="0F6CBD"/>
              </a:buClr>
              <a:buSzPct val="100000"/>
              <a:buFont typeface="Arial"/>
              <a:buChar char="•"/>
            </a:pPr>
            <a:r>
              <a:rPr sz="2000" b="0" i="0">
                <a:solidFill>
                  <a:srgbClr val="16202F"/>
                </a:solidFill>
                <a:latin typeface="Calibri"/>
              </a:rPr>
              <a:t>For engineers and technical builders</a:t>
            </a:r>
          </a:p>
          <a:p>
            <a:pPr algn="l" marL="274320" indent="-274320">
              <a:lnSpc>
                <a:spcPct val="105000"/>
              </a:lnSpc>
              <a:spcAft>
                <a:spcPts val="1200"/>
              </a:spcAft>
              <a:buClr>
                <a:srgbClr val="0F6CBD"/>
              </a:buClr>
              <a:buSzPct val="100000"/>
              <a:buFont typeface="Arial"/>
              <a:buChar char="•"/>
            </a:pPr>
            <a:r>
              <a:rPr sz="2000" b="0" i="0">
                <a:solidFill>
                  <a:srgbClr val="16202F"/>
                </a:solidFill>
                <a:latin typeface="Calibri"/>
              </a:rPr>
              <a:t>From single calls to full agents</a:t>
            </a:r>
          </a:p>
          <a:p>
            <a:pPr algn="l" marL="274320" indent="-274320">
              <a:lnSpc>
                <a:spcPct val="105000"/>
              </a:lnSpc>
              <a:spcAft>
                <a:spcPts val="1200"/>
              </a:spcAft>
              <a:buClr>
                <a:srgbClr val="0F6CBD"/>
              </a:buClr>
              <a:buSzPct val="100000"/>
              <a:buFont typeface="Arial"/>
              <a:buChar char="•"/>
            </a:pPr>
            <a:r>
              <a:rPr sz="2000" b="0" i="0">
                <a:solidFill>
                  <a:srgbClr val="16202F"/>
                </a:solidFill>
                <a:latin typeface="Calibri"/>
              </a:rPr>
              <a:t>Assumes basic AI familiarity</a:t>
            </a:r>
          </a:p>
        </p:txBody>
      </p:sp>
      <p:sp>
        <p:nvSpPr>
          <p:cNvPr id="7" name="visual panel"/>
          <p:cNvSpPr/>
          <p:nvPr/>
        </p:nvSpPr>
        <p:spPr>
          <a:xfrm>
            <a:off x="6720840" y="1097280"/>
            <a:ext cx="4965192" cy="4937760"/>
          </a:xfrm>
          <a:prstGeom prst="roundRect">
            <a:avLst>
              <a:gd name="adj" fmla="val 3333"/>
            </a:avLst>
          </a:prstGeom>
          <a:solidFill>
            <a:srgbClr val="F7F9FC"/>
          </a:solidFill>
          <a:ln w="15875">
            <a:solidFill>
              <a:srgbClr val="E2E8F2"/>
            </a:solidFill>
          </a:ln>
          <a:effectLst/>
        </p:spPr>
        <p:txBody>
          <a:bodyPr rtlCol="0" anchor="ctr"/>
          <a:lstStyle/>
          <a:p>
            <a:pPr algn="ctr"/>
          </a:p>
        </p:txBody>
      </p:sp>
      <p:sp>
        <p:nvSpPr>
          <p:cNvPr id="8" name="Freeform 7"/>
          <p:cNvSpPr/>
          <p:nvPr/>
        </p:nvSpPr>
        <p:spPr>
          <a:xfrm>
            <a:off x="7132320" y="3246120"/>
            <a:ext cx="4114800" cy="0"/>
          </a:xfrm>
          <a:custGeom>
            <a:avLst/>
            <a:gdLst/>
            <a:ahLst/>
            <a:cxnLst/>
            <a:rect l="l" t="t" r="r" b="b"/>
            <a:pathLst>
              <a:path w="4114800" h="0">
                <a:moveTo>
                  <a:pt x="0" y="0"/>
                </a:moveTo>
                <a:lnTo>
                  <a:pt x="4114800" y="0"/>
                </a:lnTo>
              </a:path>
            </a:pathLst>
          </a:custGeom>
          <a:noFill/>
          <a:ln w="38100">
            <a:solidFill>
              <a:srgbClr val="B8C4D6"/>
            </a:solidFill>
          </a:ln>
          <a:effectLst/>
        </p:spPr>
        <p:txBody>
          <a:bodyPr rtlCol="0" anchor="ctr"/>
          <a:lstStyle/>
          <a:p>
            <a:pPr algn="ctr"/>
          </a:p>
        </p:txBody>
      </p:sp>
      <p:sp>
        <p:nvSpPr>
          <p:cNvPr id="9" name="1"/>
          <p:cNvSpPr/>
          <p:nvPr/>
        </p:nvSpPr>
        <p:spPr>
          <a:xfrm>
            <a:off x="7159752" y="2953512"/>
            <a:ext cx="585216" cy="585216"/>
          </a:xfrm>
          <a:prstGeom prst="ellipse">
            <a:avLst/>
          </a:prstGeom>
          <a:solidFill>
            <a:srgbClr val="FFFFFF"/>
          </a:solidFill>
          <a:ln w="15875">
            <a:solidFill>
              <a:srgbClr val="B8C4D6"/>
            </a:solidFill>
          </a:ln>
          <a:effectLst/>
        </p:spPr>
        <p:txBody>
          <a:bodyPr rtlCol="0" anchor="ctr" wrap="square" lIns="0" rIns="0" tIns="0" bIns="0">
            <a:noAutofit/>
          </a:bodyPr>
          <a:lstStyle/>
          <a:p>
            <a:pPr algn="ctr"/>
            <a:r>
              <a:rPr sz="1600" b="1" i="0">
                <a:solidFill>
                  <a:srgbClr val="16202F"/>
                </a:solidFill>
                <a:latin typeface="Calibri"/>
              </a:rPr>
              <a:t>1</a:t>
            </a:r>
          </a:p>
        </p:txBody>
      </p:sp>
      <p:sp>
        <p:nvSpPr>
          <p:cNvPr id="10" name="TextBox 9"/>
          <p:cNvSpPr txBox="1"/>
          <p:nvPr/>
        </p:nvSpPr>
        <p:spPr>
          <a:xfrm>
            <a:off x="6675120" y="3657600"/>
            <a:ext cx="1554480" cy="365760"/>
          </a:xfrm>
          <a:prstGeom prst="rect">
            <a:avLst/>
          </a:prstGeom>
          <a:noFill/>
        </p:spPr>
        <p:txBody>
          <a:bodyPr wrap="square" lIns="18288" rIns="18288" tIns="10973" bIns="10973" anchor="t">
            <a:noAutofit/>
          </a:bodyPr>
          <a:lstStyle/>
          <a:p>
            <a:pPr algn="ctr"/>
            <a:r>
              <a:rPr sz="1800" b="1" i="0">
                <a:solidFill>
                  <a:srgbClr val="16202F"/>
                </a:solidFill>
                <a:latin typeface="Calibri"/>
              </a:rPr>
              <a:t>Prompt</a:t>
            </a:r>
          </a:p>
        </p:txBody>
      </p:sp>
      <p:sp>
        <p:nvSpPr>
          <p:cNvPr id="11" name="TextBox 10"/>
          <p:cNvSpPr txBox="1"/>
          <p:nvPr/>
        </p:nvSpPr>
        <p:spPr>
          <a:xfrm>
            <a:off x="6675120" y="4023360"/>
            <a:ext cx="1554480" cy="320040"/>
          </a:xfrm>
          <a:prstGeom prst="rect">
            <a:avLst/>
          </a:prstGeom>
          <a:noFill/>
        </p:spPr>
        <p:txBody>
          <a:bodyPr wrap="square" lIns="18288" rIns="18288" tIns="10973" bIns="10973" anchor="t">
            <a:noAutofit/>
          </a:bodyPr>
          <a:lstStyle/>
          <a:p>
            <a:pPr algn="ctr"/>
            <a:r>
              <a:rPr sz="1300" b="0" i="0">
                <a:solidFill>
                  <a:srgbClr val="53617A"/>
                </a:solidFill>
                <a:latin typeface="Calibri"/>
              </a:rPr>
              <a:t>single call</a:t>
            </a:r>
          </a:p>
        </p:txBody>
      </p:sp>
      <p:sp>
        <p:nvSpPr>
          <p:cNvPr id="12" name="2"/>
          <p:cNvSpPr/>
          <p:nvPr/>
        </p:nvSpPr>
        <p:spPr>
          <a:xfrm>
            <a:off x="8897112" y="2953512"/>
            <a:ext cx="585216" cy="585216"/>
          </a:xfrm>
          <a:prstGeom prst="ellipse">
            <a:avLst/>
          </a:prstGeom>
          <a:solidFill>
            <a:srgbClr val="EAF3FC"/>
          </a:solidFill>
          <a:ln w="15875">
            <a:solidFill>
              <a:srgbClr val="8DBBE6"/>
            </a:solidFill>
          </a:ln>
          <a:effectLst/>
        </p:spPr>
        <p:txBody>
          <a:bodyPr rtlCol="0" anchor="ctr" wrap="square" lIns="0" rIns="0" tIns="0" bIns="0">
            <a:noAutofit/>
          </a:bodyPr>
          <a:lstStyle/>
          <a:p>
            <a:pPr algn="ctr"/>
            <a:r>
              <a:rPr sz="1600" b="1" i="0">
                <a:solidFill>
                  <a:srgbClr val="16202F"/>
                </a:solidFill>
                <a:latin typeface="Calibri"/>
              </a:rPr>
              <a:t>2</a:t>
            </a:r>
          </a:p>
        </p:txBody>
      </p:sp>
      <p:sp>
        <p:nvSpPr>
          <p:cNvPr id="13" name="TextBox 12"/>
          <p:cNvSpPr txBox="1"/>
          <p:nvPr/>
        </p:nvSpPr>
        <p:spPr>
          <a:xfrm>
            <a:off x="8412480" y="3657600"/>
            <a:ext cx="1554480" cy="365760"/>
          </a:xfrm>
          <a:prstGeom prst="rect">
            <a:avLst/>
          </a:prstGeom>
          <a:noFill/>
        </p:spPr>
        <p:txBody>
          <a:bodyPr wrap="square" lIns="18288" rIns="18288" tIns="10973" bIns="10973" anchor="t">
            <a:noAutofit/>
          </a:bodyPr>
          <a:lstStyle/>
          <a:p>
            <a:pPr algn="ctr"/>
            <a:r>
              <a:rPr sz="1800" b="1" i="0">
                <a:solidFill>
                  <a:srgbClr val="16202F"/>
                </a:solidFill>
                <a:latin typeface="Calibri"/>
              </a:rPr>
              <a:t>Pipeline</a:t>
            </a:r>
          </a:p>
        </p:txBody>
      </p:sp>
      <p:sp>
        <p:nvSpPr>
          <p:cNvPr id="14" name="TextBox 13"/>
          <p:cNvSpPr txBox="1"/>
          <p:nvPr/>
        </p:nvSpPr>
        <p:spPr>
          <a:xfrm>
            <a:off x="8412480" y="4023360"/>
            <a:ext cx="1554480" cy="320040"/>
          </a:xfrm>
          <a:prstGeom prst="rect">
            <a:avLst/>
          </a:prstGeom>
          <a:noFill/>
        </p:spPr>
        <p:txBody>
          <a:bodyPr wrap="square" lIns="18288" rIns="18288" tIns="10973" bIns="10973" anchor="t">
            <a:noAutofit/>
          </a:bodyPr>
          <a:lstStyle/>
          <a:p>
            <a:pPr algn="ctr"/>
            <a:r>
              <a:rPr sz="1300" b="0" i="0">
                <a:solidFill>
                  <a:srgbClr val="53617A"/>
                </a:solidFill>
                <a:latin typeface="Calibri"/>
              </a:rPr>
              <a:t>chained steps</a:t>
            </a:r>
          </a:p>
        </p:txBody>
      </p:sp>
      <p:sp>
        <p:nvSpPr>
          <p:cNvPr id="15" name="3"/>
          <p:cNvSpPr/>
          <p:nvPr/>
        </p:nvSpPr>
        <p:spPr>
          <a:xfrm>
            <a:off x="10634472" y="2953512"/>
            <a:ext cx="585216" cy="585216"/>
          </a:xfrm>
          <a:prstGeom prst="ellipse">
            <a:avLst/>
          </a:prstGeom>
          <a:solidFill>
            <a:srgbClr val="0F6CBD"/>
          </a:solidFill>
          <a:ln w="15875">
            <a:solidFill>
              <a:srgbClr val="0F6CBD"/>
            </a:solidFill>
          </a:ln>
          <a:effectLst/>
        </p:spPr>
        <p:txBody>
          <a:bodyPr rtlCol="0" anchor="ctr" wrap="square" lIns="0" rIns="0" tIns="0" bIns="0">
            <a:noAutofit/>
          </a:bodyPr>
          <a:lstStyle/>
          <a:p>
            <a:pPr algn="ctr"/>
            <a:r>
              <a:rPr sz="1600" b="1" i="0">
                <a:solidFill>
                  <a:srgbClr val="FFFFFF"/>
                </a:solidFill>
                <a:latin typeface="Calibri"/>
              </a:rPr>
              <a:t>3</a:t>
            </a:r>
          </a:p>
        </p:txBody>
      </p:sp>
      <p:sp>
        <p:nvSpPr>
          <p:cNvPr id="16" name="TextBox 15"/>
          <p:cNvSpPr txBox="1"/>
          <p:nvPr/>
        </p:nvSpPr>
        <p:spPr>
          <a:xfrm>
            <a:off x="10149840" y="3657600"/>
            <a:ext cx="1554480" cy="365760"/>
          </a:xfrm>
          <a:prstGeom prst="rect">
            <a:avLst/>
          </a:prstGeom>
          <a:noFill/>
        </p:spPr>
        <p:txBody>
          <a:bodyPr wrap="square" lIns="18288" rIns="18288" tIns="10973" bIns="10973" anchor="t">
            <a:noAutofit/>
          </a:bodyPr>
          <a:lstStyle/>
          <a:p>
            <a:pPr algn="ctr"/>
            <a:r>
              <a:rPr sz="1800" b="1" i="0">
                <a:solidFill>
                  <a:srgbClr val="16202F"/>
                </a:solidFill>
                <a:latin typeface="Calibri"/>
              </a:rPr>
              <a:t>Agent</a:t>
            </a:r>
          </a:p>
        </p:txBody>
      </p:sp>
      <p:sp>
        <p:nvSpPr>
          <p:cNvPr id="17" name="TextBox 16"/>
          <p:cNvSpPr txBox="1"/>
          <p:nvPr/>
        </p:nvSpPr>
        <p:spPr>
          <a:xfrm>
            <a:off x="10149840" y="4023360"/>
            <a:ext cx="1554480" cy="320040"/>
          </a:xfrm>
          <a:prstGeom prst="rect">
            <a:avLst/>
          </a:prstGeom>
          <a:noFill/>
        </p:spPr>
        <p:txBody>
          <a:bodyPr wrap="square" lIns="18288" rIns="18288" tIns="10973" bIns="10973" anchor="t">
            <a:noAutofit/>
          </a:bodyPr>
          <a:lstStyle/>
          <a:p>
            <a:pPr algn="ctr"/>
            <a:r>
              <a:rPr sz="1300" b="0" i="0">
                <a:solidFill>
                  <a:srgbClr val="53617A"/>
                </a:solidFill>
                <a:latin typeface="Calibri"/>
              </a:rPr>
              <a:t>loop + tools</a:t>
            </a:r>
          </a:p>
        </p:txBody>
      </p:sp>
      <p:cxnSp>
        <p:nvCxnSpPr>
          <p:cNvPr id="18" name="Connector 17"/>
          <p:cNvCxnSpPr/>
          <p:nvPr/>
        </p:nvCxnSpPr>
        <p:spPr>
          <a:xfrm>
            <a:off x="7818120" y="3246120"/>
            <a:ext cx="1005840" cy="0"/>
          </a:xfrm>
          <a:prstGeom prst="line">
            <a:avLst/>
          </a:prstGeom>
          <a:ln w="28575">
            <a:solidFill>
              <a:srgbClr val="0F6CBD"/>
            </a:solidFill>
            <a:tailEnd type="triangle" w="med" len="med"/>
          </a:ln>
        </p:spPr>
      </p:cxnSp>
      <p:cxnSp>
        <p:nvCxnSpPr>
          <p:cNvPr id="19" name="Connector 18"/>
          <p:cNvCxnSpPr/>
          <p:nvPr/>
        </p:nvCxnSpPr>
        <p:spPr>
          <a:xfrm>
            <a:off x="9555480" y="3246120"/>
            <a:ext cx="1005840" cy="0"/>
          </a:xfrm>
          <a:prstGeom prst="line">
            <a:avLst/>
          </a:prstGeom>
          <a:ln w="28575">
            <a:solidFill>
              <a:srgbClr val="0F6CBD"/>
            </a:solidFill>
            <a:tailEnd type="triangle" w="med" len="med"/>
          </a:ln>
        </p:spPr>
      </p:cxnSp>
      <p:sp>
        <p:nvSpPr>
          <p:cNvPr id="20" name="TextBox 19"/>
          <p:cNvSpPr txBox="1"/>
          <p:nvPr/>
        </p:nvSpPr>
        <p:spPr>
          <a:xfrm>
            <a:off x="7132320" y="2011680"/>
            <a:ext cx="4114800" cy="457200"/>
          </a:xfrm>
          <a:prstGeom prst="rect">
            <a:avLst/>
          </a:prstGeom>
          <a:noFill/>
        </p:spPr>
        <p:txBody>
          <a:bodyPr wrap="square" lIns="18288" rIns="18288" tIns="10973" bIns="10973" anchor="t">
            <a:noAutofit/>
          </a:bodyPr>
          <a:lstStyle/>
          <a:p>
            <a:pPr algn="ctr"/>
            <a:r>
              <a:rPr sz="1600" b="0" i="1">
                <a:solidFill>
                  <a:srgbClr val="53617A"/>
                </a:solidFill>
                <a:latin typeface="Calibri"/>
              </a:rPr>
              <a:t>From promising demo to reliable product</a:t>
            </a:r>
          </a:p>
        </p:txBody>
      </p:sp>
      <p:sp>
        <p:nvSpPr>
          <p:cNvPr id="21" name="Freeform 20"/>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22"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DeckFM · AI enablement · Practitioner</a:t>
            </a:r>
          </a:p>
        </p:txBody>
      </p:sp>
      <p:sp>
        <p:nvSpPr>
          <p:cNvPr id="23"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Choosing a model: frontier vs. small vs. open-weight</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PRACTITIONER · MODEL CHOICE</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Frontier models: strongest general capability</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Small models: fast, cheap, often local</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Open-weight: control, customization, self-hosting</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Decide per task, not once</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Rectangle 5"/>
          <p:cNvSpPr/>
          <p:nvPr/>
        </p:nvSpPr>
        <p:spPr>
          <a:xfrm>
            <a:off x="5989320" y="2011680"/>
            <a:ext cx="2674620" cy="1668780"/>
          </a:xfrm>
          <a:prstGeom prst="rect">
            <a:avLst/>
          </a:prstGeom>
          <a:solidFill>
            <a:srgbClr val="FFFFFF"/>
          </a:solidFill>
          <a:ln w="12700">
            <a:solidFill>
              <a:srgbClr val="E2E8F2"/>
            </a:solidFill>
          </a:ln>
          <a:effectLst/>
        </p:spPr>
        <p:txBody>
          <a:bodyPr rtlCol="0" anchor="ctr"/>
          <a:lstStyle/>
          <a:p>
            <a:pPr algn="ctr"/>
          </a:p>
        </p:txBody>
      </p:sp>
      <p:sp>
        <p:nvSpPr>
          <p:cNvPr id="7" name="Rectangle 6"/>
          <p:cNvSpPr/>
          <p:nvPr/>
        </p:nvSpPr>
        <p:spPr>
          <a:xfrm>
            <a:off x="5989320" y="3680460"/>
            <a:ext cx="2674620" cy="1668780"/>
          </a:xfrm>
          <a:prstGeom prst="rect">
            <a:avLst/>
          </a:prstGeom>
          <a:solidFill>
            <a:srgbClr val="FFFFFF"/>
          </a:solidFill>
          <a:ln w="12700">
            <a:solidFill>
              <a:srgbClr val="E2E8F2"/>
            </a:solidFill>
          </a:ln>
          <a:effectLst/>
        </p:spPr>
        <p:txBody>
          <a:bodyPr rtlCol="0" anchor="ctr"/>
          <a:lstStyle/>
          <a:p>
            <a:pPr algn="ctr"/>
          </a:p>
        </p:txBody>
      </p:sp>
      <p:sp>
        <p:nvSpPr>
          <p:cNvPr id="8" name="Rectangle 7"/>
          <p:cNvSpPr/>
          <p:nvPr/>
        </p:nvSpPr>
        <p:spPr>
          <a:xfrm>
            <a:off x="8663940" y="2011680"/>
            <a:ext cx="2674620" cy="1668780"/>
          </a:xfrm>
          <a:prstGeom prst="rect">
            <a:avLst/>
          </a:prstGeom>
          <a:solidFill>
            <a:srgbClr val="FFFFFF"/>
          </a:solidFill>
          <a:ln w="12700">
            <a:solidFill>
              <a:srgbClr val="E2E8F2"/>
            </a:solidFill>
          </a:ln>
          <a:effectLst/>
        </p:spPr>
        <p:txBody>
          <a:bodyPr rtlCol="0" anchor="ctr"/>
          <a:lstStyle/>
          <a:p>
            <a:pPr algn="ctr"/>
          </a:p>
        </p:txBody>
      </p:sp>
      <p:sp>
        <p:nvSpPr>
          <p:cNvPr id="9" name="Rectangle 8"/>
          <p:cNvSpPr/>
          <p:nvPr/>
        </p:nvSpPr>
        <p:spPr>
          <a:xfrm>
            <a:off x="8663940" y="3680460"/>
            <a:ext cx="2674620" cy="1668780"/>
          </a:xfrm>
          <a:prstGeom prst="rect">
            <a:avLst/>
          </a:prstGeom>
          <a:solidFill>
            <a:srgbClr val="FFFFFF"/>
          </a:solidFill>
          <a:ln w="12700">
            <a:solidFill>
              <a:srgbClr val="E2E8F2"/>
            </a:solidFill>
          </a:ln>
          <a:effectLst/>
        </p:spPr>
        <p:txBody>
          <a:bodyPr rtlCol="0" anchor="ctr"/>
          <a:lstStyle/>
          <a:p>
            <a:pPr algn="ctr"/>
          </a:p>
        </p:txBody>
      </p:sp>
      <p:cxnSp>
        <p:nvCxnSpPr>
          <p:cNvPr id="10" name="Connector 9"/>
          <p:cNvCxnSpPr/>
          <p:nvPr/>
        </p:nvCxnSpPr>
        <p:spPr>
          <a:xfrm>
            <a:off x="5989320" y="5349240"/>
            <a:ext cx="5394960" cy="0"/>
          </a:xfrm>
          <a:prstGeom prst="line">
            <a:avLst/>
          </a:prstGeom>
          <a:ln w="22225">
            <a:solidFill>
              <a:srgbClr val="16202F"/>
            </a:solidFill>
            <a:tailEnd type="triangle" w="med" len="med"/>
          </a:ln>
        </p:spPr>
      </p:cxnSp>
      <p:cxnSp>
        <p:nvCxnSpPr>
          <p:cNvPr id="11" name="Connector 10"/>
          <p:cNvCxnSpPr/>
          <p:nvPr/>
        </p:nvCxnSpPr>
        <p:spPr>
          <a:xfrm flipV="1">
            <a:off x="5989320" y="1965960"/>
            <a:ext cx="0" cy="3383280"/>
          </a:xfrm>
          <a:prstGeom prst="line">
            <a:avLst/>
          </a:prstGeom>
          <a:ln w="22225">
            <a:solidFill>
              <a:srgbClr val="16202F"/>
            </a:solidFill>
            <a:tailEnd type="triangle" w="med" len="med"/>
          </a:ln>
        </p:spPr>
      </p:cxnSp>
      <p:sp>
        <p:nvSpPr>
          <p:cNvPr id="12" name="TextBox 11"/>
          <p:cNvSpPr txBox="1"/>
          <p:nvPr/>
        </p:nvSpPr>
        <p:spPr>
          <a:xfrm>
            <a:off x="5989320" y="5404104"/>
            <a:ext cx="5349240" cy="320040"/>
          </a:xfrm>
          <a:prstGeom prst="rect">
            <a:avLst/>
          </a:prstGeom>
          <a:noFill/>
        </p:spPr>
        <p:txBody>
          <a:bodyPr wrap="square" lIns="18288" rIns="18288" tIns="10973" bIns="10973" anchor="t">
            <a:noAutofit/>
          </a:bodyPr>
          <a:lstStyle/>
          <a:p>
            <a:pPr algn="ctr"/>
            <a:r>
              <a:rPr sz="1300" b="0" i="0">
                <a:solidFill>
                  <a:srgbClr val="53617A"/>
                </a:solidFill>
                <a:latin typeface="Calibri"/>
              </a:rPr>
              <a:t>Cost / latency  (low → high)</a:t>
            </a:r>
          </a:p>
        </p:txBody>
      </p:sp>
      <p:sp>
        <p:nvSpPr>
          <p:cNvPr id="13" name="TextBox 12"/>
          <p:cNvSpPr txBox="1"/>
          <p:nvPr/>
        </p:nvSpPr>
        <p:spPr>
          <a:xfrm rot="16200000">
            <a:off x="3886200" y="3497580"/>
            <a:ext cx="3337560" cy="347472"/>
          </a:xfrm>
          <a:prstGeom prst="rect">
            <a:avLst/>
          </a:prstGeom>
          <a:noFill/>
        </p:spPr>
        <p:txBody>
          <a:bodyPr wrap="square" lIns="18288" rIns="18288" tIns="10973" bIns="10973" anchor="t">
            <a:noAutofit/>
          </a:bodyPr>
          <a:lstStyle/>
          <a:p>
            <a:pPr algn="ctr"/>
            <a:r>
              <a:rPr sz="1300" b="0" i="0">
                <a:solidFill>
                  <a:srgbClr val="53617A"/>
                </a:solidFill>
                <a:latin typeface="Calibri"/>
              </a:rPr>
              <a:t>Capability  (low → high)</a:t>
            </a:r>
          </a:p>
        </p:txBody>
      </p:sp>
      <p:sp>
        <p:nvSpPr>
          <p:cNvPr id="14" name="Oval 13"/>
          <p:cNvSpPr/>
          <p:nvPr/>
        </p:nvSpPr>
        <p:spPr>
          <a:xfrm>
            <a:off x="10104120" y="2514600"/>
            <a:ext cx="329184" cy="329184"/>
          </a:xfrm>
          <a:prstGeom prst="ellipse">
            <a:avLst/>
          </a:prstGeom>
          <a:solidFill>
            <a:srgbClr val="0F6CBD"/>
          </a:solidFill>
          <a:ln w="19050">
            <a:solidFill>
              <a:srgbClr val="0F6CBD"/>
            </a:solidFill>
          </a:ln>
          <a:effectLst/>
        </p:spPr>
        <p:txBody>
          <a:bodyPr rtlCol="0" anchor="ctr"/>
          <a:lstStyle/>
          <a:p>
            <a:pPr algn="ctr"/>
          </a:p>
        </p:txBody>
      </p:sp>
      <p:sp>
        <p:nvSpPr>
          <p:cNvPr id="15" name="TextBox 14"/>
          <p:cNvSpPr txBox="1"/>
          <p:nvPr/>
        </p:nvSpPr>
        <p:spPr>
          <a:xfrm>
            <a:off x="8732520" y="2478024"/>
            <a:ext cx="1280160" cy="384048"/>
          </a:xfrm>
          <a:prstGeom prst="rect">
            <a:avLst/>
          </a:prstGeom>
          <a:noFill/>
        </p:spPr>
        <p:txBody>
          <a:bodyPr wrap="square" lIns="18288" rIns="18288" tIns="10973" bIns="10973" anchor="t">
            <a:noAutofit/>
          </a:bodyPr>
          <a:lstStyle/>
          <a:p>
            <a:pPr algn="r"/>
            <a:r>
              <a:rPr sz="1600" b="1" i="0">
                <a:solidFill>
                  <a:srgbClr val="16202F"/>
                </a:solidFill>
                <a:latin typeface="Calibri"/>
              </a:rPr>
              <a:t>Frontier</a:t>
            </a:r>
          </a:p>
        </p:txBody>
      </p:sp>
      <p:sp>
        <p:nvSpPr>
          <p:cNvPr id="16" name="Oval 15"/>
          <p:cNvSpPr/>
          <p:nvPr/>
        </p:nvSpPr>
        <p:spPr>
          <a:xfrm>
            <a:off x="8499348" y="3449117"/>
            <a:ext cx="329184" cy="329184"/>
          </a:xfrm>
          <a:prstGeom prst="ellipse">
            <a:avLst/>
          </a:prstGeom>
          <a:solidFill>
            <a:srgbClr val="C2620A"/>
          </a:solidFill>
          <a:ln w="19050">
            <a:solidFill>
              <a:srgbClr val="C2620A"/>
            </a:solidFill>
          </a:ln>
          <a:effectLst/>
        </p:spPr>
        <p:txBody>
          <a:bodyPr rtlCol="0" anchor="ctr"/>
          <a:lstStyle/>
          <a:p>
            <a:pPr algn="ctr"/>
          </a:p>
        </p:txBody>
      </p:sp>
      <p:sp>
        <p:nvSpPr>
          <p:cNvPr id="17" name="TextBox 16"/>
          <p:cNvSpPr txBox="1"/>
          <p:nvPr/>
        </p:nvSpPr>
        <p:spPr>
          <a:xfrm>
            <a:off x="8892540" y="3412541"/>
            <a:ext cx="1280160" cy="384048"/>
          </a:xfrm>
          <a:prstGeom prst="rect">
            <a:avLst/>
          </a:prstGeom>
          <a:noFill/>
        </p:spPr>
        <p:txBody>
          <a:bodyPr wrap="square" lIns="18288" rIns="18288" tIns="10973" bIns="10973" anchor="t">
            <a:noAutofit/>
          </a:bodyPr>
          <a:lstStyle/>
          <a:p>
            <a:pPr algn="l"/>
            <a:r>
              <a:rPr sz="1600" b="1" i="0">
                <a:solidFill>
                  <a:srgbClr val="16202F"/>
                </a:solidFill>
                <a:latin typeface="Calibri"/>
              </a:rPr>
              <a:t>Open-weight</a:t>
            </a:r>
          </a:p>
        </p:txBody>
      </p:sp>
      <p:sp>
        <p:nvSpPr>
          <p:cNvPr id="18" name="Oval 17"/>
          <p:cNvSpPr/>
          <p:nvPr/>
        </p:nvSpPr>
        <p:spPr>
          <a:xfrm>
            <a:off x="6787591" y="4517136"/>
            <a:ext cx="329184" cy="329184"/>
          </a:xfrm>
          <a:prstGeom prst="ellipse">
            <a:avLst/>
          </a:prstGeom>
          <a:solidFill>
            <a:srgbClr val="EAF3FC"/>
          </a:solidFill>
          <a:ln w="19050">
            <a:solidFill>
              <a:srgbClr val="0F6CBD"/>
            </a:solidFill>
          </a:ln>
          <a:effectLst/>
        </p:spPr>
        <p:txBody>
          <a:bodyPr rtlCol="0" anchor="ctr"/>
          <a:lstStyle/>
          <a:p>
            <a:pPr algn="ctr"/>
          </a:p>
        </p:txBody>
      </p:sp>
      <p:sp>
        <p:nvSpPr>
          <p:cNvPr id="19" name="TextBox 18"/>
          <p:cNvSpPr txBox="1"/>
          <p:nvPr/>
        </p:nvSpPr>
        <p:spPr>
          <a:xfrm>
            <a:off x="7180783" y="4480560"/>
            <a:ext cx="1280160" cy="384048"/>
          </a:xfrm>
          <a:prstGeom prst="rect">
            <a:avLst/>
          </a:prstGeom>
          <a:noFill/>
        </p:spPr>
        <p:txBody>
          <a:bodyPr wrap="square" lIns="18288" rIns="18288" tIns="10973" bIns="10973" anchor="t">
            <a:noAutofit/>
          </a:bodyPr>
          <a:lstStyle/>
          <a:p>
            <a:pPr algn="l"/>
            <a:r>
              <a:rPr sz="1600" b="1" i="0">
                <a:solidFill>
                  <a:srgbClr val="16202F"/>
                </a:solidFill>
                <a:latin typeface="Calibri"/>
              </a:rPr>
              <a:t>Small</a:t>
            </a:r>
          </a:p>
        </p:txBody>
      </p:sp>
      <p:sp>
        <p:nvSpPr>
          <p:cNvPr id="20" name="TextBox 19"/>
          <p:cNvSpPr txBox="1"/>
          <p:nvPr/>
        </p:nvSpPr>
        <p:spPr>
          <a:xfrm>
            <a:off x="5989320" y="5715000"/>
            <a:ext cx="5349240" cy="320040"/>
          </a:xfrm>
          <a:prstGeom prst="rect">
            <a:avLst/>
          </a:prstGeom>
          <a:noFill/>
        </p:spPr>
        <p:txBody>
          <a:bodyPr wrap="square" lIns="18288" rIns="18288" tIns="10973" bIns="10973" anchor="t">
            <a:noAutofit/>
          </a:bodyPr>
          <a:lstStyle/>
          <a:p>
            <a:pPr algn="ctr"/>
            <a:r>
              <a:rPr sz="1200" b="0" i="1">
                <a:solidFill>
                  <a:srgbClr val="53617A"/>
                </a:solidFill>
                <a:latin typeface="Calibri"/>
              </a:rPr>
              <a:t>Illustrative placement, not a benchmark</a:t>
            </a:r>
          </a:p>
        </p:txBody>
      </p:sp>
      <p:sp>
        <p:nvSpPr>
          <p:cNvPr id="21" name="Freeform 20"/>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22"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DeckFM · AI enablement · Practitioner</a:t>
            </a:r>
          </a:p>
        </p:txBody>
      </p:sp>
      <p:sp>
        <p:nvSpPr>
          <p:cNvPr id="23"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Context engineering</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PRACTITIONER · CONTEXT</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System prompt: sets persistent behavior</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Retrieval (RAG): fetches relevant knowledge</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Memory: carries facts across turns</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Budget: fit it all in the window</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System prompt"/>
          <p:cNvSpPr/>
          <p:nvPr/>
        </p:nvSpPr>
        <p:spPr>
          <a:xfrm>
            <a:off x="5212080" y="3154680"/>
            <a:ext cx="1051560" cy="1234440"/>
          </a:xfrm>
          <a:prstGeom prst="rect">
            <a:avLst/>
          </a:prstGeom>
          <a:solidFill>
            <a:srgbClr val="0F6CBD"/>
          </a:solidFill>
          <a:ln w="15875">
            <a:solidFill>
              <a:srgbClr val="0F6CBD"/>
            </a:solidFill>
          </a:ln>
          <a:effectLst/>
        </p:spPr>
        <p:txBody>
          <a:bodyPr rtlCol="0" anchor="ctr" wrap="square" lIns="27432" rIns="27432" tIns="16459" bIns="16459">
            <a:noAutofit/>
          </a:bodyPr>
          <a:lstStyle/>
          <a:p>
            <a:pPr algn="ctr"/>
            <a:r>
              <a:rPr sz="1400" b="1" i="0">
                <a:solidFill>
                  <a:srgbClr val="FFFFFF"/>
                </a:solidFill>
                <a:latin typeface="Calibri"/>
              </a:rPr>
              <a:t>System</a:t>
            </a:r>
          </a:p>
          <a:p>
            <a:pPr algn="ctr"/>
            <a:r>
              <a:rPr sz="1400" b="1" i="0">
                <a:solidFill>
                  <a:srgbClr val="FFFFFF"/>
                </a:solidFill>
                <a:latin typeface="Calibri"/>
              </a:rPr>
              <a:t>prompt</a:t>
            </a:r>
          </a:p>
        </p:txBody>
      </p:sp>
      <p:sp>
        <p:nvSpPr>
          <p:cNvPr id="7" name="Retrieved context (RAG)"/>
          <p:cNvSpPr/>
          <p:nvPr/>
        </p:nvSpPr>
        <p:spPr>
          <a:xfrm>
            <a:off x="6263640" y="3154680"/>
            <a:ext cx="1600200" cy="1234440"/>
          </a:xfrm>
          <a:prstGeom prst="rect">
            <a:avLst/>
          </a:prstGeom>
          <a:solidFill>
            <a:srgbClr val="EAF3FC"/>
          </a:solidFill>
          <a:ln w="15875">
            <a:solidFill>
              <a:srgbClr val="8DBBE6"/>
            </a:solidFill>
          </a:ln>
          <a:effectLst/>
        </p:spPr>
        <p:txBody>
          <a:bodyPr rtlCol="0" anchor="ctr" wrap="square" lIns="27432" rIns="27432" tIns="16459" bIns="16459">
            <a:noAutofit/>
          </a:bodyPr>
          <a:lstStyle/>
          <a:p>
            <a:pPr algn="ctr"/>
            <a:r>
              <a:rPr sz="1400" b="1" i="0">
                <a:solidFill>
                  <a:srgbClr val="16202F"/>
                </a:solidFill>
                <a:latin typeface="Calibri"/>
              </a:rPr>
              <a:t>Retrieved</a:t>
            </a:r>
          </a:p>
          <a:p>
            <a:pPr algn="ctr"/>
            <a:r>
              <a:rPr sz="1400" b="1" i="0">
                <a:solidFill>
                  <a:srgbClr val="16202F"/>
                </a:solidFill>
                <a:latin typeface="Calibri"/>
              </a:rPr>
              <a:t>context (RAG)</a:t>
            </a:r>
          </a:p>
        </p:txBody>
      </p:sp>
      <p:sp>
        <p:nvSpPr>
          <p:cNvPr id="8" name="Memory"/>
          <p:cNvSpPr/>
          <p:nvPr/>
        </p:nvSpPr>
        <p:spPr>
          <a:xfrm>
            <a:off x="7863840" y="3154680"/>
            <a:ext cx="960120" cy="1234440"/>
          </a:xfrm>
          <a:prstGeom prst="rect">
            <a:avLst/>
          </a:prstGeom>
          <a:solidFill>
            <a:srgbClr val="EAF3FC"/>
          </a:solidFill>
          <a:ln w="15875">
            <a:solidFill>
              <a:srgbClr val="8DBBE6"/>
            </a:solidFill>
          </a:ln>
          <a:effectLst/>
        </p:spPr>
        <p:txBody>
          <a:bodyPr rtlCol="0" anchor="ctr" wrap="square" lIns="27432" rIns="27432" tIns="16459" bIns="16459">
            <a:noAutofit/>
          </a:bodyPr>
          <a:lstStyle/>
          <a:p>
            <a:pPr algn="ctr"/>
            <a:r>
              <a:rPr sz="1400" b="1" i="0">
                <a:solidFill>
                  <a:srgbClr val="16202F"/>
                </a:solidFill>
                <a:latin typeface="Calibri"/>
              </a:rPr>
              <a:t>Memory</a:t>
            </a:r>
          </a:p>
        </p:txBody>
      </p:sp>
      <p:sp>
        <p:nvSpPr>
          <p:cNvPr id="9" name="Conversation history"/>
          <p:cNvSpPr/>
          <p:nvPr/>
        </p:nvSpPr>
        <p:spPr>
          <a:xfrm>
            <a:off x="8823960" y="3154680"/>
            <a:ext cx="1371600" cy="1234440"/>
          </a:xfrm>
          <a:prstGeom prst="rect">
            <a:avLst/>
          </a:prstGeom>
          <a:solidFill>
            <a:srgbClr val="FFFFFF"/>
          </a:solidFill>
          <a:ln w="15875">
            <a:solidFill>
              <a:srgbClr val="B8C4D6"/>
            </a:solidFill>
          </a:ln>
          <a:effectLst/>
        </p:spPr>
        <p:txBody>
          <a:bodyPr rtlCol="0" anchor="ctr" wrap="square" lIns="27432" rIns="27432" tIns="16459" bIns="16459">
            <a:noAutofit/>
          </a:bodyPr>
          <a:lstStyle/>
          <a:p>
            <a:pPr algn="ctr"/>
            <a:r>
              <a:rPr sz="1400" b="1" i="0">
                <a:solidFill>
                  <a:srgbClr val="16202F"/>
                </a:solidFill>
                <a:latin typeface="Calibri"/>
              </a:rPr>
              <a:t>Conversation</a:t>
            </a:r>
          </a:p>
          <a:p>
            <a:pPr algn="ctr"/>
            <a:r>
              <a:rPr sz="1400" b="1" i="0">
                <a:solidFill>
                  <a:srgbClr val="16202F"/>
                </a:solidFill>
                <a:latin typeface="Calibri"/>
              </a:rPr>
              <a:t>history</a:t>
            </a:r>
          </a:p>
        </p:txBody>
      </p:sp>
      <p:sp>
        <p:nvSpPr>
          <p:cNvPr id="10" name="Room for the answer"/>
          <p:cNvSpPr/>
          <p:nvPr/>
        </p:nvSpPr>
        <p:spPr>
          <a:xfrm>
            <a:off x="10195560" y="3154680"/>
            <a:ext cx="1280160" cy="1234440"/>
          </a:xfrm>
          <a:prstGeom prst="rect">
            <a:avLst/>
          </a:prstGeom>
          <a:solidFill>
            <a:srgbClr val="FFF4E4"/>
          </a:solidFill>
          <a:ln w="15875">
            <a:solidFill>
              <a:srgbClr val="E8A855"/>
            </a:solidFill>
          </a:ln>
          <a:effectLst/>
        </p:spPr>
        <p:txBody>
          <a:bodyPr rtlCol="0" anchor="ctr" wrap="square" lIns="27432" rIns="27432" tIns="16459" bIns="16459">
            <a:noAutofit/>
          </a:bodyPr>
          <a:lstStyle/>
          <a:p>
            <a:pPr algn="ctr"/>
            <a:r>
              <a:rPr sz="1400" b="1" i="0">
                <a:solidFill>
                  <a:srgbClr val="16202F"/>
                </a:solidFill>
                <a:latin typeface="Calibri"/>
              </a:rPr>
              <a:t>Room for</a:t>
            </a:r>
          </a:p>
          <a:p>
            <a:pPr algn="ctr"/>
            <a:r>
              <a:rPr sz="1400" b="1" i="0">
                <a:solidFill>
                  <a:srgbClr val="16202F"/>
                </a:solidFill>
                <a:latin typeface="Calibri"/>
              </a:rPr>
              <a:t>the answer</a:t>
            </a:r>
          </a:p>
        </p:txBody>
      </p:sp>
      <p:sp>
        <p:nvSpPr>
          <p:cNvPr id="11" name="Freeform 10"/>
          <p:cNvSpPr/>
          <p:nvPr/>
        </p:nvSpPr>
        <p:spPr>
          <a:xfrm>
            <a:off x="5212080" y="2788920"/>
            <a:ext cx="6263640" cy="182880"/>
          </a:xfrm>
          <a:custGeom>
            <a:avLst/>
            <a:gdLst/>
            <a:ahLst/>
            <a:cxnLst/>
            <a:rect l="l" t="t" r="r" b="b"/>
            <a:pathLst>
              <a:path w="6263640" h="182880">
                <a:moveTo>
                  <a:pt x="0" y="182880"/>
                </a:moveTo>
                <a:lnTo>
                  <a:pt x="0" y="0"/>
                </a:lnTo>
                <a:lnTo>
                  <a:pt x="6263640" y="0"/>
                </a:lnTo>
                <a:lnTo>
                  <a:pt x="6263640" y="182880"/>
                </a:lnTo>
              </a:path>
            </a:pathLst>
          </a:custGeom>
          <a:noFill/>
          <a:ln w="19050">
            <a:solidFill>
              <a:srgbClr val="16202F"/>
            </a:solidFill>
          </a:ln>
          <a:effectLst/>
        </p:spPr>
        <p:txBody>
          <a:bodyPr rtlCol="0" anchor="ctr"/>
          <a:lstStyle/>
          <a:p>
            <a:pPr algn="ctr"/>
          </a:p>
        </p:txBody>
      </p:sp>
      <p:sp>
        <p:nvSpPr>
          <p:cNvPr id="12" name="TextBox 11"/>
          <p:cNvSpPr txBox="1"/>
          <p:nvPr/>
        </p:nvSpPr>
        <p:spPr>
          <a:xfrm>
            <a:off x="5212080" y="2286000"/>
            <a:ext cx="6263640" cy="411480"/>
          </a:xfrm>
          <a:prstGeom prst="rect">
            <a:avLst/>
          </a:prstGeom>
          <a:noFill/>
        </p:spPr>
        <p:txBody>
          <a:bodyPr wrap="square" lIns="18288" rIns="18288" tIns="10973" bIns="10973" anchor="t">
            <a:noAutofit/>
          </a:bodyPr>
          <a:lstStyle/>
          <a:p>
            <a:pPr algn="ctr"/>
            <a:r>
              <a:rPr sz="1600" b="1" i="0">
                <a:solidFill>
                  <a:srgbClr val="16202F"/>
                </a:solidFill>
                <a:latin typeface="Calibri"/>
              </a:rPr>
              <a:t>Context window = one shared token budget</a:t>
            </a:r>
          </a:p>
        </p:txBody>
      </p:sp>
      <p:sp>
        <p:nvSpPr>
          <p:cNvPr id="13" name="Trim, summarize and rank: more context is not always better"/>
          <p:cNvSpPr/>
          <p:nvPr/>
        </p:nvSpPr>
        <p:spPr>
          <a:xfrm>
            <a:off x="5212080" y="4937760"/>
            <a:ext cx="6263640" cy="475488"/>
          </a:xfrm>
          <a:prstGeom prst="roundRect">
            <a:avLst>
              <a:gd name="adj" fmla="val 19230"/>
            </a:avLst>
          </a:prstGeom>
          <a:solidFill>
            <a:srgbClr val="FFF4E4"/>
          </a:solidFill>
          <a:ln w="15875">
            <a:solidFill>
              <a:srgbClr val="E8A855"/>
            </a:solidFill>
          </a:ln>
          <a:effectLst/>
        </p:spPr>
        <p:txBody>
          <a:bodyPr rtlCol="0" anchor="ctr" wrap="square" lIns="73152" rIns="73152" tIns="43891" bIns="43891">
            <a:noAutofit/>
          </a:bodyPr>
          <a:lstStyle/>
          <a:p>
            <a:pPr algn="ctr"/>
            <a:r>
              <a:rPr sz="1500" b="1" i="0">
                <a:solidFill>
                  <a:srgbClr val="16202F"/>
                </a:solidFill>
                <a:latin typeface="Calibri"/>
              </a:rPr>
              <a:t>Trim, summarize and rank: more context is not always better</a:t>
            </a:r>
          </a:p>
        </p:txBody>
      </p:sp>
      <p:sp>
        <p:nvSpPr>
          <p:cNvPr id="14" name="Freeform 13"/>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15"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DeckFM · AI enablement · Practitioner</a:t>
            </a:r>
          </a:p>
        </p:txBody>
      </p:sp>
      <p:sp>
        <p:nvSpPr>
          <p:cNvPr id="16"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The agent harness</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PRACTITIONER · AGENTS</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Agent loop: plan, act, observe, repeat</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Tool calling: structured function invocation</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Memory and guardrails keep it safe</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Evaluation and observability close the loop</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observability frame"/>
          <p:cNvSpPr/>
          <p:nvPr/>
        </p:nvSpPr>
        <p:spPr>
          <a:xfrm>
            <a:off x="5394960" y="1920240"/>
            <a:ext cx="5943600" cy="4005072"/>
          </a:xfrm>
          <a:prstGeom prst="roundRect">
            <a:avLst>
              <a:gd name="adj" fmla="val 3652"/>
            </a:avLst>
          </a:prstGeom>
          <a:noFill/>
          <a:ln w="19050">
            <a:solidFill>
              <a:srgbClr val="53617A"/>
            </a:solidFill>
            <a:prstDash val="dash"/>
          </a:ln>
          <a:effectLst/>
        </p:spPr>
        <p:txBody>
          <a:bodyPr rtlCol="0" anchor="ctr"/>
          <a:lstStyle/>
          <a:p>
            <a:pPr algn="ctr"/>
          </a:p>
        </p:txBody>
      </p:sp>
      <p:sp>
        <p:nvSpPr>
          <p:cNvPr id="7" name="TextBox 6"/>
          <p:cNvSpPr txBox="1"/>
          <p:nvPr/>
        </p:nvSpPr>
        <p:spPr>
          <a:xfrm>
            <a:off x="5623560" y="1993392"/>
            <a:ext cx="5486400" cy="365760"/>
          </a:xfrm>
          <a:prstGeom prst="rect">
            <a:avLst/>
          </a:prstGeom>
          <a:noFill/>
        </p:spPr>
        <p:txBody>
          <a:bodyPr wrap="square" lIns="18288" rIns="18288" tIns="10973" bIns="10973" anchor="t">
            <a:noAutofit/>
          </a:bodyPr>
          <a:lstStyle/>
          <a:p>
            <a:pPr algn="l"/>
            <a:r>
              <a:rPr sz="1500" b="1" i="0">
                <a:solidFill>
                  <a:srgbClr val="0F6CBD"/>
                </a:solidFill>
                <a:latin typeface="Calibri"/>
              </a:rPr>
              <a:t>Observability and evaluation</a:t>
            </a:r>
          </a:p>
        </p:txBody>
      </p:sp>
      <p:sp>
        <p:nvSpPr>
          <p:cNvPr id="8" name="Guardrails"/>
          <p:cNvSpPr/>
          <p:nvPr/>
        </p:nvSpPr>
        <p:spPr>
          <a:xfrm>
            <a:off x="5806440" y="2450592"/>
            <a:ext cx="5120640" cy="694944"/>
          </a:xfrm>
          <a:prstGeom prst="roundRect">
            <a:avLst>
              <a:gd name="adj" fmla="val 15789"/>
            </a:avLst>
          </a:prstGeom>
          <a:solidFill>
            <a:srgbClr val="FFF4E4"/>
          </a:solidFill>
          <a:ln w="15875">
            <a:solidFill>
              <a:srgbClr val="E8A855"/>
            </a:solidFill>
          </a:ln>
          <a:effectLst/>
        </p:spPr>
        <p:txBody>
          <a:bodyPr rtlCol="0" anchor="ctr" wrap="square" lIns="73152" rIns="73152" tIns="43891" bIns="43891">
            <a:noAutofit/>
          </a:bodyPr>
          <a:lstStyle/>
          <a:p>
            <a:pPr algn="ctr"/>
            <a:r>
              <a:rPr sz="1700" b="1" i="0">
                <a:solidFill>
                  <a:srgbClr val="16202F"/>
                </a:solidFill>
                <a:latin typeface="Calibri"/>
              </a:rPr>
              <a:t>Guardrails</a:t>
            </a:r>
          </a:p>
        </p:txBody>
      </p:sp>
      <p:sp>
        <p:nvSpPr>
          <p:cNvPr id="9" name="Agent loop  (plan / act / observe)"/>
          <p:cNvSpPr/>
          <p:nvPr/>
        </p:nvSpPr>
        <p:spPr>
          <a:xfrm>
            <a:off x="5806440" y="3291840"/>
            <a:ext cx="5120640" cy="694944"/>
          </a:xfrm>
          <a:prstGeom prst="roundRect">
            <a:avLst>
              <a:gd name="adj" fmla="val 15789"/>
            </a:avLst>
          </a:prstGeom>
          <a:solidFill>
            <a:srgbClr val="0F6CBD"/>
          </a:solidFill>
          <a:ln w="15875">
            <a:solidFill>
              <a:srgbClr val="0F6CBD"/>
            </a:solidFill>
          </a:ln>
          <a:effectLst/>
        </p:spPr>
        <p:txBody>
          <a:bodyPr rtlCol="0" anchor="ctr" wrap="square" lIns="73152" rIns="73152" tIns="43891" bIns="43891">
            <a:noAutofit/>
          </a:bodyPr>
          <a:lstStyle/>
          <a:p>
            <a:pPr algn="ctr"/>
            <a:r>
              <a:rPr sz="1700" b="1" i="0">
                <a:solidFill>
                  <a:srgbClr val="FFFFFF"/>
                </a:solidFill>
                <a:latin typeface="Calibri"/>
              </a:rPr>
              <a:t>Agent loop  (plan / act / observe)</a:t>
            </a:r>
          </a:p>
        </p:txBody>
      </p:sp>
      <p:sp>
        <p:nvSpPr>
          <p:cNvPr id="10" name="Tool calling"/>
          <p:cNvSpPr/>
          <p:nvPr/>
        </p:nvSpPr>
        <p:spPr>
          <a:xfrm>
            <a:off x="5806440" y="4133088"/>
            <a:ext cx="5120640" cy="694944"/>
          </a:xfrm>
          <a:prstGeom prst="roundRect">
            <a:avLst>
              <a:gd name="adj" fmla="val 15789"/>
            </a:avLst>
          </a:prstGeom>
          <a:solidFill>
            <a:srgbClr val="EAF3FC"/>
          </a:solidFill>
          <a:ln w="15875">
            <a:solidFill>
              <a:srgbClr val="8DBBE6"/>
            </a:solidFill>
          </a:ln>
          <a:effectLst/>
        </p:spPr>
        <p:txBody>
          <a:bodyPr rtlCol="0" anchor="ctr" wrap="square" lIns="73152" rIns="73152" tIns="43891" bIns="43891">
            <a:noAutofit/>
          </a:bodyPr>
          <a:lstStyle/>
          <a:p>
            <a:pPr algn="ctr"/>
            <a:r>
              <a:rPr sz="1700" b="1" i="0">
                <a:solidFill>
                  <a:srgbClr val="16202F"/>
                </a:solidFill>
                <a:latin typeface="Calibri"/>
              </a:rPr>
              <a:t>Tool calling</a:t>
            </a:r>
          </a:p>
        </p:txBody>
      </p:sp>
      <p:sp>
        <p:nvSpPr>
          <p:cNvPr id="11" name="Memory"/>
          <p:cNvSpPr/>
          <p:nvPr/>
        </p:nvSpPr>
        <p:spPr>
          <a:xfrm>
            <a:off x="5806440" y="4974336"/>
            <a:ext cx="5120640" cy="694944"/>
          </a:xfrm>
          <a:prstGeom prst="roundRect">
            <a:avLst>
              <a:gd name="adj" fmla="val 15789"/>
            </a:avLst>
          </a:prstGeom>
          <a:solidFill>
            <a:srgbClr val="FFFFFF"/>
          </a:solidFill>
          <a:ln w="15875">
            <a:solidFill>
              <a:srgbClr val="B8C4D6"/>
            </a:solidFill>
          </a:ln>
          <a:effectLst/>
        </p:spPr>
        <p:txBody>
          <a:bodyPr rtlCol="0" anchor="ctr" wrap="square" lIns="73152" rIns="73152" tIns="43891" bIns="43891">
            <a:noAutofit/>
          </a:bodyPr>
          <a:lstStyle/>
          <a:p>
            <a:pPr algn="ctr"/>
            <a:r>
              <a:rPr sz="1700" b="1" i="0">
                <a:solidFill>
                  <a:srgbClr val="16202F"/>
                </a:solidFill>
                <a:latin typeface="Calibri"/>
              </a:rPr>
              <a:t>Memory</a:t>
            </a:r>
          </a:p>
        </p:txBody>
      </p:sp>
      <p:sp>
        <p:nvSpPr>
          <p:cNvPr id="12" name="Freeform 11"/>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13"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DeckFM · AI enablement · Practitioner</a:t>
            </a:r>
          </a:p>
        </p:txBody>
      </p:sp>
      <p:sp>
        <p:nvSpPr>
          <p:cNvPr id="14"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MCP in practice: host, client, server</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PRACTITIONER · MCP</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Host: your AI application</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Client: one connection per server</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Server: exposes tools, resources, prompts</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host"/>
          <p:cNvSpPr/>
          <p:nvPr/>
        </p:nvSpPr>
        <p:spPr>
          <a:xfrm>
            <a:off x="5166360" y="1965960"/>
            <a:ext cx="3429000" cy="3931920"/>
          </a:xfrm>
          <a:prstGeom prst="roundRect">
            <a:avLst>
              <a:gd name="adj" fmla="val 4266"/>
            </a:avLst>
          </a:prstGeom>
          <a:solidFill>
            <a:srgbClr val="EAF3FC"/>
          </a:solidFill>
          <a:ln w="15875">
            <a:solidFill>
              <a:srgbClr val="8DBBE6"/>
            </a:solidFill>
          </a:ln>
          <a:effectLst/>
        </p:spPr>
        <p:txBody>
          <a:bodyPr rtlCol="0" anchor="ctr"/>
          <a:lstStyle/>
          <a:p>
            <a:pPr algn="ctr"/>
          </a:p>
        </p:txBody>
      </p:sp>
      <p:sp>
        <p:nvSpPr>
          <p:cNvPr id="7" name="TextBox 6"/>
          <p:cNvSpPr txBox="1"/>
          <p:nvPr/>
        </p:nvSpPr>
        <p:spPr>
          <a:xfrm>
            <a:off x="5349240" y="2057400"/>
            <a:ext cx="3108960" cy="411480"/>
          </a:xfrm>
          <a:prstGeom prst="rect">
            <a:avLst/>
          </a:prstGeom>
          <a:noFill/>
        </p:spPr>
        <p:txBody>
          <a:bodyPr wrap="square" lIns="18288" rIns="18288" tIns="10973" bIns="10973" anchor="t">
            <a:noAutofit/>
          </a:bodyPr>
          <a:lstStyle/>
          <a:p>
            <a:pPr algn="l"/>
            <a:r>
              <a:rPr sz="1500" b="1" i="0">
                <a:solidFill>
                  <a:srgbClr val="0F6CBD"/>
                </a:solidFill>
                <a:latin typeface="Calibri"/>
              </a:rPr>
              <a:t>Host  ·  your AI application</a:t>
            </a:r>
          </a:p>
        </p:txBody>
      </p:sp>
      <p:sp>
        <p:nvSpPr>
          <p:cNvPr id="8" name="Client 1"/>
          <p:cNvSpPr/>
          <p:nvPr/>
        </p:nvSpPr>
        <p:spPr>
          <a:xfrm>
            <a:off x="5486400" y="2697480"/>
            <a:ext cx="2788920" cy="713232"/>
          </a:xfrm>
          <a:prstGeom prst="roundRect">
            <a:avLst>
              <a:gd name="adj" fmla="val 15384"/>
            </a:avLst>
          </a:prstGeom>
          <a:solidFill>
            <a:srgbClr val="FFFFFF"/>
          </a:solidFill>
          <a:ln w="15875">
            <a:solidFill>
              <a:srgbClr val="B8C4D6"/>
            </a:solidFill>
          </a:ln>
          <a:effectLst/>
        </p:spPr>
        <p:txBody>
          <a:bodyPr rtlCol="0" anchor="ctr" wrap="square" lIns="73152" rIns="73152" tIns="43891" bIns="43891">
            <a:noAutofit/>
          </a:bodyPr>
          <a:lstStyle/>
          <a:p>
            <a:pPr algn="ctr"/>
            <a:r>
              <a:rPr sz="1500" b="1" i="0">
                <a:solidFill>
                  <a:srgbClr val="16202F"/>
                </a:solidFill>
                <a:latin typeface="Calibri"/>
              </a:rPr>
              <a:t>Client 1</a:t>
            </a:r>
          </a:p>
          <a:p>
            <a:pPr algn="ctr"/>
            <a:r>
              <a:rPr sz="1200" b="0" i="0">
                <a:solidFill>
                  <a:srgbClr val="53617A"/>
                </a:solidFill>
                <a:latin typeface="Calibri"/>
              </a:rPr>
              <a:t>one connection</a:t>
            </a:r>
          </a:p>
        </p:txBody>
      </p:sp>
      <p:sp>
        <p:nvSpPr>
          <p:cNvPr id="9" name="Local file server"/>
          <p:cNvSpPr/>
          <p:nvPr/>
        </p:nvSpPr>
        <p:spPr>
          <a:xfrm>
            <a:off x="9372600" y="2697480"/>
            <a:ext cx="2103120" cy="713232"/>
          </a:xfrm>
          <a:prstGeom prst="roundRect">
            <a:avLst>
              <a:gd name="adj" fmla="val 15384"/>
            </a:avLst>
          </a:prstGeom>
          <a:solidFill>
            <a:srgbClr val="0F6CBD"/>
          </a:solidFill>
          <a:ln w="15875">
            <a:solidFill>
              <a:srgbClr val="0F6CBD"/>
            </a:solidFill>
          </a:ln>
          <a:effectLst/>
        </p:spPr>
        <p:txBody>
          <a:bodyPr rtlCol="0" anchor="ctr" wrap="square" lIns="73152" rIns="73152" tIns="43891" bIns="43891">
            <a:noAutofit/>
          </a:bodyPr>
          <a:lstStyle/>
          <a:p>
            <a:pPr algn="ctr"/>
            <a:r>
              <a:rPr sz="1500" b="1" i="0">
                <a:solidFill>
                  <a:srgbClr val="FFFFFF"/>
                </a:solidFill>
                <a:latin typeface="Calibri"/>
              </a:rPr>
              <a:t>Local file server</a:t>
            </a:r>
          </a:p>
        </p:txBody>
      </p:sp>
      <p:cxnSp>
        <p:nvCxnSpPr>
          <p:cNvPr id="10" name="Connector 9"/>
          <p:cNvCxnSpPr/>
          <p:nvPr/>
        </p:nvCxnSpPr>
        <p:spPr>
          <a:xfrm>
            <a:off x="8311896" y="3054096"/>
            <a:ext cx="1024128" cy="0"/>
          </a:xfrm>
          <a:prstGeom prst="line">
            <a:avLst/>
          </a:prstGeom>
          <a:ln w="19050">
            <a:solidFill>
              <a:srgbClr val="16202F"/>
            </a:solidFill>
            <a:headEnd type="triangle" w="med" len="med"/>
            <a:tailEnd type="triangle" w="med" len="med"/>
          </a:ln>
        </p:spPr>
      </p:cxnSp>
      <p:sp>
        <p:nvSpPr>
          <p:cNvPr id="11" name="Client 2"/>
          <p:cNvSpPr/>
          <p:nvPr/>
        </p:nvSpPr>
        <p:spPr>
          <a:xfrm>
            <a:off x="5486400" y="3721608"/>
            <a:ext cx="2788920" cy="713232"/>
          </a:xfrm>
          <a:prstGeom prst="roundRect">
            <a:avLst>
              <a:gd name="adj" fmla="val 15384"/>
            </a:avLst>
          </a:prstGeom>
          <a:solidFill>
            <a:srgbClr val="FFFFFF"/>
          </a:solidFill>
          <a:ln w="15875">
            <a:solidFill>
              <a:srgbClr val="B8C4D6"/>
            </a:solidFill>
          </a:ln>
          <a:effectLst/>
        </p:spPr>
        <p:txBody>
          <a:bodyPr rtlCol="0" anchor="ctr" wrap="square" lIns="73152" rIns="73152" tIns="43891" bIns="43891">
            <a:noAutofit/>
          </a:bodyPr>
          <a:lstStyle/>
          <a:p>
            <a:pPr algn="ctr"/>
            <a:r>
              <a:rPr sz="1500" b="1" i="0">
                <a:solidFill>
                  <a:srgbClr val="16202F"/>
                </a:solidFill>
                <a:latin typeface="Calibri"/>
              </a:rPr>
              <a:t>Client 2</a:t>
            </a:r>
          </a:p>
          <a:p>
            <a:pPr algn="ctr"/>
            <a:r>
              <a:rPr sz="1200" b="0" i="0">
                <a:solidFill>
                  <a:srgbClr val="53617A"/>
                </a:solidFill>
                <a:latin typeface="Calibri"/>
              </a:rPr>
              <a:t>one connection</a:t>
            </a:r>
          </a:p>
        </p:txBody>
      </p:sp>
      <p:sp>
        <p:nvSpPr>
          <p:cNvPr id="12" name="Database server"/>
          <p:cNvSpPr/>
          <p:nvPr/>
        </p:nvSpPr>
        <p:spPr>
          <a:xfrm>
            <a:off x="9372600" y="3721608"/>
            <a:ext cx="2103120" cy="713232"/>
          </a:xfrm>
          <a:prstGeom prst="roundRect">
            <a:avLst>
              <a:gd name="adj" fmla="val 15384"/>
            </a:avLst>
          </a:prstGeom>
          <a:solidFill>
            <a:srgbClr val="0F6CBD"/>
          </a:solidFill>
          <a:ln w="15875">
            <a:solidFill>
              <a:srgbClr val="0F6CBD"/>
            </a:solidFill>
          </a:ln>
          <a:effectLst/>
        </p:spPr>
        <p:txBody>
          <a:bodyPr rtlCol="0" anchor="ctr" wrap="square" lIns="73152" rIns="73152" tIns="43891" bIns="43891">
            <a:noAutofit/>
          </a:bodyPr>
          <a:lstStyle/>
          <a:p>
            <a:pPr algn="ctr"/>
            <a:r>
              <a:rPr sz="1500" b="1" i="0">
                <a:solidFill>
                  <a:srgbClr val="FFFFFF"/>
                </a:solidFill>
                <a:latin typeface="Calibri"/>
              </a:rPr>
              <a:t>Database server</a:t>
            </a:r>
          </a:p>
        </p:txBody>
      </p:sp>
      <p:cxnSp>
        <p:nvCxnSpPr>
          <p:cNvPr id="13" name="Connector 12"/>
          <p:cNvCxnSpPr/>
          <p:nvPr/>
        </p:nvCxnSpPr>
        <p:spPr>
          <a:xfrm>
            <a:off x="8311896" y="4078224"/>
            <a:ext cx="1024128" cy="0"/>
          </a:xfrm>
          <a:prstGeom prst="line">
            <a:avLst/>
          </a:prstGeom>
          <a:ln w="19050">
            <a:solidFill>
              <a:srgbClr val="16202F"/>
            </a:solidFill>
            <a:headEnd type="triangle" w="med" len="med"/>
            <a:tailEnd type="triangle" w="med" len="med"/>
          </a:ln>
        </p:spPr>
      </p:cxnSp>
      <p:sp>
        <p:nvSpPr>
          <p:cNvPr id="14" name="Client 3"/>
          <p:cNvSpPr/>
          <p:nvPr/>
        </p:nvSpPr>
        <p:spPr>
          <a:xfrm>
            <a:off x="5486400" y="4745736"/>
            <a:ext cx="2788920" cy="713232"/>
          </a:xfrm>
          <a:prstGeom prst="roundRect">
            <a:avLst>
              <a:gd name="adj" fmla="val 15384"/>
            </a:avLst>
          </a:prstGeom>
          <a:solidFill>
            <a:srgbClr val="FFFFFF"/>
          </a:solidFill>
          <a:ln w="15875">
            <a:solidFill>
              <a:srgbClr val="B8C4D6"/>
            </a:solidFill>
          </a:ln>
          <a:effectLst/>
        </p:spPr>
        <p:txBody>
          <a:bodyPr rtlCol="0" anchor="ctr" wrap="square" lIns="73152" rIns="73152" tIns="43891" bIns="43891">
            <a:noAutofit/>
          </a:bodyPr>
          <a:lstStyle/>
          <a:p>
            <a:pPr algn="ctr"/>
            <a:r>
              <a:rPr sz="1500" b="1" i="0">
                <a:solidFill>
                  <a:srgbClr val="16202F"/>
                </a:solidFill>
                <a:latin typeface="Calibri"/>
              </a:rPr>
              <a:t>Client 3</a:t>
            </a:r>
          </a:p>
          <a:p>
            <a:pPr algn="ctr"/>
            <a:r>
              <a:rPr sz="1200" b="0" i="0">
                <a:solidFill>
                  <a:srgbClr val="53617A"/>
                </a:solidFill>
                <a:latin typeface="Calibri"/>
              </a:rPr>
              <a:t>one connection</a:t>
            </a:r>
          </a:p>
        </p:txBody>
      </p:sp>
      <p:sp>
        <p:nvSpPr>
          <p:cNvPr id="15" name="Remote server"/>
          <p:cNvSpPr/>
          <p:nvPr/>
        </p:nvSpPr>
        <p:spPr>
          <a:xfrm>
            <a:off x="9372600" y="4745736"/>
            <a:ext cx="2103120" cy="713232"/>
          </a:xfrm>
          <a:prstGeom prst="roundRect">
            <a:avLst>
              <a:gd name="adj" fmla="val 15384"/>
            </a:avLst>
          </a:prstGeom>
          <a:solidFill>
            <a:srgbClr val="0F6CBD"/>
          </a:solidFill>
          <a:ln w="15875">
            <a:solidFill>
              <a:srgbClr val="0F6CBD"/>
            </a:solidFill>
          </a:ln>
          <a:effectLst/>
        </p:spPr>
        <p:txBody>
          <a:bodyPr rtlCol="0" anchor="ctr" wrap="square" lIns="73152" rIns="73152" tIns="43891" bIns="43891">
            <a:noAutofit/>
          </a:bodyPr>
          <a:lstStyle/>
          <a:p>
            <a:pPr algn="ctr"/>
            <a:r>
              <a:rPr sz="1500" b="1" i="0">
                <a:solidFill>
                  <a:srgbClr val="FFFFFF"/>
                </a:solidFill>
                <a:latin typeface="Calibri"/>
              </a:rPr>
              <a:t>Remote server</a:t>
            </a:r>
          </a:p>
        </p:txBody>
      </p:sp>
      <p:cxnSp>
        <p:nvCxnSpPr>
          <p:cNvPr id="16" name="Connector 15"/>
          <p:cNvCxnSpPr/>
          <p:nvPr/>
        </p:nvCxnSpPr>
        <p:spPr>
          <a:xfrm>
            <a:off x="8311896" y="5102352"/>
            <a:ext cx="1024128" cy="0"/>
          </a:xfrm>
          <a:prstGeom prst="line">
            <a:avLst/>
          </a:prstGeom>
          <a:ln w="19050">
            <a:solidFill>
              <a:srgbClr val="16202F"/>
            </a:solidFill>
            <a:headEnd type="triangle" w="med" len="med"/>
            <a:tailEnd type="triangle" w="med" len="med"/>
          </a:ln>
        </p:spPr>
      </p:cxnSp>
      <p:sp>
        <p:nvSpPr>
          <p:cNvPr id="17" name="TextBox 16"/>
          <p:cNvSpPr txBox="1"/>
          <p:nvPr/>
        </p:nvSpPr>
        <p:spPr>
          <a:xfrm>
            <a:off x="9098280" y="5532120"/>
            <a:ext cx="2651760" cy="365760"/>
          </a:xfrm>
          <a:prstGeom prst="rect">
            <a:avLst/>
          </a:prstGeom>
          <a:noFill/>
        </p:spPr>
        <p:txBody>
          <a:bodyPr wrap="square" lIns="18288" rIns="18288" tIns="10973" bIns="10973" anchor="t">
            <a:noAutofit/>
          </a:bodyPr>
          <a:lstStyle/>
          <a:p>
            <a:pPr algn="ctr"/>
            <a:r>
              <a:rPr sz="1300" b="0" i="1">
                <a:solidFill>
                  <a:srgbClr val="53617A"/>
                </a:solidFill>
                <a:latin typeface="Calibri"/>
              </a:rPr>
              <a:t>tools · resources · prompts</a:t>
            </a:r>
          </a:p>
        </p:txBody>
      </p:sp>
      <p:sp>
        <p:nvSpPr>
          <p:cNvPr id="18" name="Freeform 17"/>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19"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DeckFM · AI enablement · Practitioner</a:t>
            </a:r>
          </a:p>
        </p:txBody>
      </p:sp>
      <p:sp>
        <p:nvSpPr>
          <p:cNvPr id="20"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MCP in practice: transports and auth</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PRACTITIONER · MCP</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Stdio: local process, no network</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Streamable HTTP: remote, multi-client</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OAuth: authorizes remote servers</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Rounded Rectangle 5"/>
          <p:cNvSpPr/>
          <p:nvPr/>
        </p:nvSpPr>
        <p:spPr>
          <a:xfrm>
            <a:off x="5166360" y="1965960"/>
            <a:ext cx="3063240" cy="3931920"/>
          </a:xfrm>
          <a:prstGeom prst="roundRect">
            <a:avLst>
              <a:gd name="adj" fmla="val 4776"/>
            </a:avLst>
          </a:prstGeom>
          <a:noFill/>
          <a:ln w="19050">
            <a:solidFill>
              <a:srgbClr val="53617A"/>
            </a:solidFill>
            <a:prstDash val="dash"/>
          </a:ln>
          <a:effectLst/>
        </p:spPr>
        <p:txBody>
          <a:bodyPr rtlCol="0" anchor="ctr"/>
          <a:lstStyle/>
          <a:p>
            <a:pPr algn="ctr"/>
          </a:p>
        </p:txBody>
      </p:sp>
      <p:sp>
        <p:nvSpPr>
          <p:cNvPr id="7" name="TextBox 6"/>
          <p:cNvSpPr txBox="1"/>
          <p:nvPr/>
        </p:nvSpPr>
        <p:spPr>
          <a:xfrm>
            <a:off x="5349240" y="2057400"/>
            <a:ext cx="2697480" cy="365760"/>
          </a:xfrm>
          <a:prstGeom prst="rect">
            <a:avLst/>
          </a:prstGeom>
          <a:noFill/>
        </p:spPr>
        <p:txBody>
          <a:bodyPr wrap="square" lIns="18288" rIns="18288" tIns="10973" bIns="10973" anchor="t">
            <a:noAutofit/>
          </a:bodyPr>
          <a:lstStyle/>
          <a:p>
            <a:pPr algn="l"/>
            <a:r>
              <a:rPr sz="1500" b="1" i="0">
                <a:solidFill>
                  <a:srgbClr val="0F6CBD"/>
                </a:solidFill>
                <a:latin typeface="Calibri"/>
              </a:rPr>
              <a:t>Local  ·  same machine</a:t>
            </a:r>
          </a:p>
        </p:txBody>
      </p:sp>
      <p:sp>
        <p:nvSpPr>
          <p:cNvPr id="8" name="Host"/>
          <p:cNvSpPr/>
          <p:nvPr/>
        </p:nvSpPr>
        <p:spPr>
          <a:xfrm>
            <a:off x="5623560" y="2606040"/>
            <a:ext cx="2148840" cy="731520"/>
          </a:xfrm>
          <a:prstGeom prst="roundRect">
            <a:avLst>
              <a:gd name="adj" fmla="val 15000"/>
            </a:avLst>
          </a:prstGeom>
          <a:solidFill>
            <a:srgbClr val="EAF3FC"/>
          </a:solidFill>
          <a:ln w="15875">
            <a:solidFill>
              <a:srgbClr val="8DBBE6"/>
            </a:solidFill>
          </a:ln>
          <a:effectLst/>
        </p:spPr>
        <p:txBody>
          <a:bodyPr rtlCol="0" anchor="ctr" wrap="square" lIns="73152" rIns="73152" tIns="43891" bIns="43891">
            <a:noAutofit/>
          </a:bodyPr>
          <a:lstStyle/>
          <a:p>
            <a:pPr algn="ctr"/>
            <a:r>
              <a:rPr sz="1600" b="1" i="0">
                <a:solidFill>
                  <a:srgbClr val="16202F"/>
                </a:solidFill>
                <a:latin typeface="Calibri"/>
              </a:rPr>
              <a:t>Host</a:t>
            </a:r>
          </a:p>
        </p:txBody>
      </p:sp>
      <p:cxnSp>
        <p:nvCxnSpPr>
          <p:cNvPr id="9" name="Connector 8"/>
          <p:cNvCxnSpPr/>
          <p:nvPr/>
        </p:nvCxnSpPr>
        <p:spPr>
          <a:xfrm>
            <a:off x="6697980" y="3374136"/>
            <a:ext cx="0" cy="1389888"/>
          </a:xfrm>
          <a:prstGeom prst="line">
            <a:avLst/>
          </a:prstGeom>
          <a:ln w="28575">
            <a:solidFill>
              <a:srgbClr val="0F6CBD"/>
            </a:solidFill>
            <a:tailEnd type="triangle" w="med" len="med"/>
          </a:ln>
        </p:spPr>
      </p:cxnSp>
      <p:sp>
        <p:nvSpPr>
          <p:cNvPr id="10" name="Server"/>
          <p:cNvSpPr/>
          <p:nvPr/>
        </p:nvSpPr>
        <p:spPr>
          <a:xfrm>
            <a:off x="5623560" y="4800600"/>
            <a:ext cx="2148840" cy="731520"/>
          </a:xfrm>
          <a:prstGeom prst="roundRect">
            <a:avLst>
              <a:gd name="adj" fmla="val 15000"/>
            </a:avLst>
          </a:prstGeom>
          <a:solidFill>
            <a:srgbClr val="FFFFFF"/>
          </a:solidFill>
          <a:ln w="15875">
            <a:solidFill>
              <a:srgbClr val="B8C4D6"/>
            </a:solidFill>
          </a:ln>
          <a:effectLst/>
        </p:spPr>
        <p:txBody>
          <a:bodyPr rtlCol="0" anchor="ctr" wrap="square" lIns="73152" rIns="73152" tIns="43891" bIns="43891">
            <a:noAutofit/>
          </a:bodyPr>
          <a:lstStyle/>
          <a:p>
            <a:pPr algn="ctr"/>
            <a:r>
              <a:rPr sz="1600" b="1" i="0">
                <a:solidFill>
                  <a:srgbClr val="16202F"/>
                </a:solidFill>
                <a:latin typeface="Calibri"/>
              </a:rPr>
              <a:t>Server</a:t>
            </a:r>
          </a:p>
        </p:txBody>
      </p:sp>
      <p:sp>
        <p:nvSpPr>
          <p:cNvPr id="11" name="stdio"/>
          <p:cNvSpPr/>
          <p:nvPr/>
        </p:nvSpPr>
        <p:spPr>
          <a:xfrm>
            <a:off x="5486400" y="3730752"/>
            <a:ext cx="2423160" cy="384048"/>
          </a:xfrm>
          <a:prstGeom prst="roundRect">
            <a:avLst>
              <a:gd name="adj" fmla="val 50000"/>
            </a:avLst>
          </a:prstGeom>
          <a:solidFill>
            <a:srgbClr val="FFFFFF"/>
          </a:solidFill>
          <a:ln w="15875">
            <a:solidFill>
              <a:srgbClr val="B8C4D6"/>
            </a:solidFill>
          </a:ln>
          <a:effectLst/>
        </p:spPr>
        <p:txBody>
          <a:bodyPr rtlCol="0" anchor="ctr" wrap="square" lIns="45720" rIns="45720" tIns="27432" bIns="27432">
            <a:noAutofit/>
          </a:bodyPr>
          <a:lstStyle/>
          <a:p>
            <a:pPr algn="ctr"/>
            <a:r>
              <a:rPr sz="1300" b="1" i="0">
                <a:solidFill>
                  <a:srgbClr val="16202F"/>
                </a:solidFill>
                <a:latin typeface="Calibri"/>
              </a:rPr>
              <a:t>stdio</a:t>
            </a:r>
          </a:p>
        </p:txBody>
      </p:sp>
      <p:sp>
        <p:nvSpPr>
          <p:cNvPr id="12" name="Rounded Rectangle 11"/>
          <p:cNvSpPr/>
          <p:nvPr/>
        </p:nvSpPr>
        <p:spPr>
          <a:xfrm>
            <a:off x="8412480" y="1965960"/>
            <a:ext cx="3063240" cy="3931920"/>
          </a:xfrm>
          <a:prstGeom prst="roundRect">
            <a:avLst>
              <a:gd name="adj" fmla="val 4776"/>
            </a:avLst>
          </a:prstGeom>
          <a:noFill/>
          <a:ln w="19050">
            <a:solidFill>
              <a:srgbClr val="53617A"/>
            </a:solidFill>
            <a:prstDash val="dash"/>
          </a:ln>
          <a:effectLst/>
        </p:spPr>
        <p:txBody>
          <a:bodyPr rtlCol="0" anchor="ctr"/>
          <a:lstStyle/>
          <a:p>
            <a:pPr algn="ctr"/>
          </a:p>
        </p:txBody>
      </p:sp>
      <p:sp>
        <p:nvSpPr>
          <p:cNvPr id="13" name="TextBox 12"/>
          <p:cNvSpPr txBox="1"/>
          <p:nvPr/>
        </p:nvSpPr>
        <p:spPr>
          <a:xfrm>
            <a:off x="8595360" y="2057400"/>
            <a:ext cx="2697480" cy="365760"/>
          </a:xfrm>
          <a:prstGeom prst="rect">
            <a:avLst/>
          </a:prstGeom>
          <a:noFill/>
        </p:spPr>
        <p:txBody>
          <a:bodyPr wrap="square" lIns="18288" rIns="18288" tIns="10973" bIns="10973" anchor="t">
            <a:noAutofit/>
          </a:bodyPr>
          <a:lstStyle/>
          <a:p>
            <a:pPr algn="l"/>
            <a:r>
              <a:rPr sz="1500" b="1" i="0">
                <a:solidFill>
                  <a:srgbClr val="0F6CBD"/>
                </a:solidFill>
                <a:latin typeface="Calibri"/>
              </a:rPr>
              <a:t>Remote  ·  network</a:t>
            </a:r>
          </a:p>
        </p:txBody>
      </p:sp>
      <p:sp>
        <p:nvSpPr>
          <p:cNvPr id="14" name="Host"/>
          <p:cNvSpPr/>
          <p:nvPr/>
        </p:nvSpPr>
        <p:spPr>
          <a:xfrm>
            <a:off x="8869680" y="2606040"/>
            <a:ext cx="2148840" cy="731520"/>
          </a:xfrm>
          <a:prstGeom prst="roundRect">
            <a:avLst>
              <a:gd name="adj" fmla="val 15000"/>
            </a:avLst>
          </a:prstGeom>
          <a:solidFill>
            <a:srgbClr val="EAF3FC"/>
          </a:solidFill>
          <a:ln w="15875">
            <a:solidFill>
              <a:srgbClr val="8DBBE6"/>
            </a:solidFill>
          </a:ln>
          <a:effectLst/>
        </p:spPr>
        <p:txBody>
          <a:bodyPr rtlCol="0" anchor="ctr" wrap="square" lIns="73152" rIns="73152" tIns="43891" bIns="43891">
            <a:noAutofit/>
          </a:bodyPr>
          <a:lstStyle/>
          <a:p>
            <a:pPr algn="ctr"/>
            <a:r>
              <a:rPr sz="1600" b="1" i="0">
                <a:solidFill>
                  <a:srgbClr val="16202F"/>
                </a:solidFill>
                <a:latin typeface="Calibri"/>
              </a:rPr>
              <a:t>Host</a:t>
            </a:r>
          </a:p>
        </p:txBody>
      </p:sp>
      <p:cxnSp>
        <p:nvCxnSpPr>
          <p:cNvPr id="15" name="Connector 14"/>
          <p:cNvCxnSpPr/>
          <p:nvPr/>
        </p:nvCxnSpPr>
        <p:spPr>
          <a:xfrm>
            <a:off x="9944100" y="3374136"/>
            <a:ext cx="0" cy="1389888"/>
          </a:xfrm>
          <a:prstGeom prst="line">
            <a:avLst/>
          </a:prstGeom>
          <a:ln w="28575">
            <a:solidFill>
              <a:srgbClr val="0F6CBD"/>
            </a:solidFill>
            <a:tailEnd type="triangle" w="med" len="med"/>
          </a:ln>
        </p:spPr>
      </p:cxnSp>
      <p:sp>
        <p:nvSpPr>
          <p:cNvPr id="16" name="Server"/>
          <p:cNvSpPr/>
          <p:nvPr/>
        </p:nvSpPr>
        <p:spPr>
          <a:xfrm>
            <a:off x="8869680" y="4800600"/>
            <a:ext cx="2148840" cy="731520"/>
          </a:xfrm>
          <a:prstGeom prst="roundRect">
            <a:avLst>
              <a:gd name="adj" fmla="val 15000"/>
            </a:avLst>
          </a:prstGeom>
          <a:solidFill>
            <a:srgbClr val="0F6CBD"/>
          </a:solidFill>
          <a:ln w="15875">
            <a:solidFill>
              <a:srgbClr val="0F6CBD"/>
            </a:solidFill>
          </a:ln>
          <a:effectLst/>
        </p:spPr>
        <p:txBody>
          <a:bodyPr rtlCol="0" anchor="ctr" wrap="square" lIns="73152" rIns="73152" tIns="43891" bIns="43891">
            <a:noAutofit/>
          </a:bodyPr>
          <a:lstStyle/>
          <a:p>
            <a:pPr algn="ctr"/>
            <a:r>
              <a:rPr sz="1600" b="1" i="0">
                <a:solidFill>
                  <a:srgbClr val="FFFFFF"/>
                </a:solidFill>
                <a:latin typeface="Calibri"/>
              </a:rPr>
              <a:t>Server</a:t>
            </a:r>
          </a:p>
        </p:txBody>
      </p:sp>
      <p:sp>
        <p:nvSpPr>
          <p:cNvPr id="17" name="Streamable HTTP"/>
          <p:cNvSpPr/>
          <p:nvPr/>
        </p:nvSpPr>
        <p:spPr>
          <a:xfrm>
            <a:off x="8732520" y="3730752"/>
            <a:ext cx="2423160" cy="384048"/>
          </a:xfrm>
          <a:prstGeom prst="roundRect">
            <a:avLst>
              <a:gd name="adj" fmla="val 50000"/>
            </a:avLst>
          </a:prstGeom>
          <a:solidFill>
            <a:srgbClr val="FFFFFF"/>
          </a:solidFill>
          <a:ln w="15875">
            <a:solidFill>
              <a:srgbClr val="B8C4D6"/>
            </a:solidFill>
          </a:ln>
          <a:effectLst/>
        </p:spPr>
        <p:txBody>
          <a:bodyPr rtlCol="0" anchor="ctr" wrap="square" lIns="45720" rIns="45720" tIns="27432" bIns="27432">
            <a:noAutofit/>
          </a:bodyPr>
          <a:lstStyle/>
          <a:p>
            <a:pPr algn="ctr"/>
            <a:r>
              <a:rPr sz="1300" b="1" i="0">
                <a:solidFill>
                  <a:srgbClr val="16202F"/>
                </a:solidFill>
                <a:latin typeface="Calibri"/>
              </a:rPr>
              <a:t>Streamable HTTP</a:t>
            </a:r>
          </a:p>
        </p:txBody>
      </p:sp>
      <p:sp>
        <p:nvSpPr>
          <p:cNvPr id="18" name="+ OAuth token"/>
          <p:cNvSpPr/>
          <p:nvPr/>
        </p:nvSpPr>
        <p:spPr>
          <a:xfrm>
            <a:off x="10058400" y="4224528"/>
            <a:ext cx="1325880" cy="347472"/>
          </a:xfrm>
          <a:prstGeom prst="roundRect">
            <a:avLst>
              <a:gd name="adj" fmla="val 50000"/>
            </a:avLst>
          </a:prstGeom>
          <a:solidFill>
            <a:srgbClr val="FFF4E4"/>
          </a:solidFill>
          <a:ln w="15875">
            <a:solidFill>
              <a:srgbClr val="E8A855"/>
            </a:solidFill>
          </a:ln>
          <a:effectLst/>
        </p:spPr>
        <p:txBody>
          <a:bodyPr rtlCol="0" anchor="ctr" wrap="square" lIns="45720" rIns="45720" tIns="27432" bIns="27432">
            <a:noAutofit/>
          </a:bodyPr>
          <a:lstStyle/>
          <a:p>
            <a:pPr algn="ctr"/>
            <a:r>
              <a:rPr sz="1200" b="1" i="0">
                <a:solidFill>
                  <a:srgbClr val="16202F"/>
                </a:solidFill>
                <a:latin typeface="Calibri"/>
              </a:rPr>
              <a:t>+ OAuth token</a:t>
            </a:r>
          </a:p>
        </p:txBody>
      </p:sp>
      <p:sp>
        <p:nvSpPr>
          <p:cNvPr id="19" name="Freeform 18"/>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20"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DeckFM · AI enablement · Practitioner</a:t>
            </a:r>
          </a:p>
        </p:txBody>
      </p:sp>
      <p:sp>
        <p:nvSpPr>
          <p:cNvPr id="21"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Speech stack for practitioners</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PRACTITIONER · SPEECH</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Chained: speech-to-text → LLM → text-to-speech</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Speech-to-speech: one realtime model</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Latency budget drives the choice</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Chained"/>
          <p:cNvSpPr/>
          <p:nvPr/>
        </p:nvSpPr>
        <p:spPr>
          <a:xfrm>
            <a:off x="5212080" y="2011680"/>
            <a:ext cx="1188720" cy="347472"/>
          </a:xfrm>
          <a:prstGeom prst="roundRect">
            <a:avLst>
              <a:gd name="adj" fmla="val 50000"/>
            </a:avLst>
          </a:prstGeom>
          <a:solidFill>
            <a:srgbClr val="FFFFFF"/>
          </a:solidFill>
          <a:ln w="15875">
            <a:solidFill>
              <a:srgbClr val="B8C4D6"/>
            </a:solidFill>
          </a:ln>
          <a:effectLst/>
        </p:spPr>
        <p:txBody>
          <a:bodyPr rtlCol="0" anchor="ctr" wrap="square" lIns="45720" rIns="45720" tIns="27432" bIns="27432">
            <a:noAutofit/>
          </a:bodyPr>
          <a:lstStyle/>
          <a:p>
            <a:pPr algn="ctr"/>
            <a:r>
              <a:rPr sz="1300" b="1" i="0">
                <a:solidFill>
                  <a:srgbClr val="16202F"/>
                </a:solidFill>
                <a:latin typeface="Calibri"/>
              </a:rPr>
              <a:t>Chained</a:t>
            </a:r>
          </a:p>
        </p:txBody>
      </p:sp>
      <p:sp>
        <p:nvSpPr>
          <p:cNvPr id="7" name="Speech-to-text"/>
          <p:cNvSpPr/>
          <p:nvPr/>
        </p:nvSpPr>
        <p:spPr>
          <a:xfrm>
            <a:off x="5212080" y="2514600"/>
            <a:ext cx="1767840" cy="914400"/>
          </a:xfrm>
          <a:prstGeom prst="roundRect">
            <a:avLst>
              <a:gd name="adj" fmla="val 12000"/>
            </a:avLst>
          </a:prstGeom>
          <a:solidFill>
            <a:srgbClr val="EAF3FC"/>
          </a:solidFill>
          <a:ln w="15875">
            <a:solidFill>
              <a:srgbClr val="8DBBE6"/>
            </a:solidFill>
          </a:ln>
          <a:effectLst/>
        </p:spPr>
        <p:txBody>
          <a:bodyPr rtlCol="0" anchor="ctr" wrap="square" lIns="73152" rIns="73152" tIns="43891" bIns="43891">
            <a:noAutofit/>
          </a:bodyPr>
          <a:lstStyle/>
          <a:p>
            <a:pPr algn="ctr"/>
            <a:r>
              <a:rPr sz="1500" b="1" i="0">
                <a:solidFill>
                  <a:srgbClr val="16202F"/>
                </a:solidFill>
                <a:latin typeface="Calibri"/>
              </a:rPr>
              <a:t>Speech-to-text</a:t>
            </a:r>
          </a:p>
        </p:txBody>
      </p:sp>
      <p:sp>
        <p:nvSpPr>
          <p:cNvPr id="8" name="Language model"/>
          <p:cNvSpPr/>
          <p:nvPr/>
        </p:nvSpPr>
        <p:spPr>
          <a:xfrm>
            <a:off x="7437120" y="2514600"/>
            <a:ext cx="1767840" cy="914400"/>
          </a:xfrm>
          <a:prstGeom prst="roundRect">
            <a:avLst>
              <a:gd name="adj" fmla="val 12000"/>
            </a:avLst>
          </a:prstGeom>
          <a:solidFill>
            <a:srgbClr val="0F6CBD"/>
          </a:solidFill>
          <a:ln w="15875">
            <a:solidFill>
              <a:srgbClr val="0F6CBD"/>
            </a:solidFill>
          </a:ln>
          <a:effectLst/>
        </p:spPr>
        <p:txBody>
          <a:bodyPr rtlCol="0" anchor="ctr" wrap="square" lIns="73152" rIns="73152" tIns="43891" bIns="43891">
            <a:noAutofit/>
          </a:bodyPr>
          <a:lstStyle/>
          <a:p>
            <a:pPr algn="ctr"/>
            <a:r>
              <a:rPr sz="1500" b="1" i="0">
                <a:solidFill>
                  <a:srgbClr val="FFFFFF"/>
                </a:solidFill>
                <a:latin typeface="Calibri"/>
              </a:rPr>
              <a:t>Language model</a:t>
            </a:r>
          </a:p>
        </p:txBody>
      </p:sp>
      <p:sp>
        <p:nvSpPr>
          <p:cNvPr id="9" name="Text-to-speech"/>
          <p:cNvSpPr/>
          <p:nvPr/>
        </p:nvSpPr>
        <p:spPr>
          <a:xfrm>
            <a:off x="9662160" y="2514600"/>
            <a:ext cx="1767840" cy="914400"/>
          </a:xfrm>
          <a:prstGeom prst="roundRect">
            <a:avLst>
              <a:gd name="adj" fmla="val 12000"/>
            </a:avLst>
          </a:prstGeom>
          <a:solidFill>
            <a:srgbClr val="EAF3FC"/>
          </a:solidFill>
          <a:ln w="15875">
            <a:solidFill>
              <a:srgbClr val="8DBBE6"/>
            </a:solidFill>
          </a:ln>
          <a:effectLst/>
        </p:spPr>
        <p:txBody>
          <a:bodyPr rtlCol="0" anchor="ctr" wrap="square" lIns="73152" rIns="73152" tIns="43891" bIns="43891">
            <a:noAutofit/>
          </a:bodyPr>
          <a:lstStyle/>
          <a:p>
            <a:pPr algn="ctr"/>
            <a:r>
              <a:rPr sz="1500" b="1" i="0">
                <a:solidFill>
                  <a:srgbClr val="16202F"/>
                </a:solidFill>
                <a:latin typeface="Calibri"/>
              </a:rPr>
              <a:t>Text-to-speech</a:t>
            </a:r>
          </a:p>
        </p:txBody>
      </p:sp>
      <p:cxnSp>
        <p:nvCxnSpPr>
          <p:cNvPr id="10" name="Connector 9"/>
          <p:cNvCxnSpPr/>
          <p:nvPr/>
        </p:nvCxnSpPr>
        <p:spPr>
          <a:xfrm>
            <a:off x="7016496" y="2971800"/>
            <a:ext cx="384048" cy="0"/>
          </a:xfrm>
          <a:prstGeom prst="line">
            <a:avLst/>
          </a:prstGeom>
          <a:ln w="22225">
            <a:solidFill>
              <a:srgbClr val="0F6CBD"/>
            </a:solidFill>
            <a:tailEnd type="triangle" w="med" len="med"/>
          </a:ln>
        </p:spPr>
      </p:cxnSp>
      <p:cxnSp>
        <p:nvCxnSpPr>
          <p:cNvPr id="11" name="Connector 10"/>
          <p:cNvCxnSpPr/>
          <p:nvPr/>
        </p:nvCxnSpPr>
        <p:spPr>
          <a:xfrm>
            <a:off x="9241536" y="2971800"/>
            <a:ext cx="384048" cy="0"/>
          </a:xfrm>
          <a:prstGeom prst="line">
            <a:avLst/>
          </a:prstGeom>
          <a:ln w="22225">
            <a:solidFill>
              <a:srgbClr val="0F6CBD"/>
            </a:solidFill>
            <a:tailEnd type="triangle" w="med" len="med"/>
          </a:ln>
        </p:spPr>
      </p:cxnSp>
      <p:sp>
        <p:nvSpPr>
          <p:cNvPr id="12" name="Oval 11"/>
          <p:cNvSpPr/>
          <p:nvPr/>
        </p:nvSpPr>
        <p:spPr>
          <a:xfrm>
            <a:off x="6723888" y="2350008"/>
            <a:ext cx="329184" cy="329184"/>
          </a:xfrm>
          <a:prstGeom prst="ellipse">
            <a:avLst/>
          </a:prstGeom>
          <a:solidFill>
            <a:srgbClr val="FFFFFF"/>
          </a:solidFill>
          <a:ln w="19050">
            <a:solidFill>
              <a:srgbClr val="0F6CBD"/>
            </a:solidFill>
          </a:ln>
          <a:effectLst/>
        </p:spPr>
        <p:txBody>
          <a:bodyPr rtlCol="0" anchor="ctr"/>
          <a:lstStyle/>
          <a:p>
            <a:pPr algn="ctr"/>
          </a:p>
        </p:txBody>
      </p:sp>
      <p:sp>
        <p:nvSpPr>
          <p:cNvPr id="13" name="Freeform 12"/>
          <p:cNvSpPr/>
          <p:nvPr/>
        </p:nvSpPr>
        <p:spPr>
          <a:xfrm>
            <a:off x="6888480" y="2409261"/>
            <a:ext cx="79004" cy="138257"/>
          </a:xfrm>
          <a:custGeom>
            <a:avLst/>
            <a:gdLst/>
            <a:ahLst/>
            <a:cxnLst/>
            <a:rect l="l" t="t" r="r" b="b"/>
            <a:pathLst>
              <a:path w="79004" h="138257">
                <a:moveTo>
                  <a:pt x="0" y="0"/>
                </a:moveTo>
                <a:lnTo>
                  <a:pt x="0" y="105339"/>
                </a:lnTo>
                <a:lnTo>
                  <a:pt x="79004" y="138257"/>
                </a:lnTo>
              </a:path>
            </a:pathLst>
          </a:custGeom>
          <a:noFill/>
          <a:ln w="19050">
            <a:solidFill>
              <a:srgbClr val="0F6CBD"/>
            </a:solidFill>
          </a:ln>
          <a:effectLst/>
        </p:spPr>
        <p:txBody>
          <a:bodyPr rtlCol="0" anchor="ctr"/>
          <a:lstStyle/>
          <a:p>
            <a:pPr algn="ctr"/>
          </a:p>
        </p:txBody>
      </p:sp>
      <p:sp>
        <p:nvSpPr>
          <p:cNvPr id="14" name="Oval 13"/>
          <p:cNvSpPr/>
          <p:nvPr/>
        </p:nvSpPr>
        <p:spPr>
          <a:xfrm>
            <a:off x="8948928" y="2350008"/>
            <a:ext cx="329184" cy="329184"/>
          </a:xfrm>
          <a:prstGeom prst="ellipse">
            <a:avLst/>
          </a:prstGeom>
          <a:solidFill>
            <a:srgbClr val="FFFFFF"/>
          </a:solidFill>
          <a:ln w="19050">
            <a:solidFill>
              <a:srgbClr val="0F6CBD"/>
            </a:solidFill>
          </a:ln>
          <a:effectLst/>
        </p:spPr>
        <p:txBody>
          <a:bodyPr rtlCol="0" anchor="ctr"/>
          <a:lstStyle/>
          <a:p>
            <a:pPr algn="ctr"/>
          </a:p>
        </p:txBody>
      </p:sp>
      <p:sp>
        <p:nvSpPr>
          <p:cNvPr id="15" name="Freeform 14"/>
          <p:cNvSpPr/>
          <p:nvPr/>
        </p:nvSpPr>
        <p:spPr>
          <a:xfrm>
            <a:off x="9113520" y="2409261"/>
            <a:ext cx="79004" cy="138257"/>
          </a:xfrm>
          <a:custGeom>
            <a:avLst/>
            <a:gdLst/>
            <a:ahLst/>
            <a:cxnLst/>
            <a:rect l="l" t="t" r="r" b="b"/>
            <a:pathLst>
              <a:path w="79004" h="138257">
                <a:moveTo>
                  <a:pt x="0" y="0"/>
                </a:moveTo>
                <a:lnTo>
                  <a:pt x="0" y="105339"/>
                </a:lnTo>
                <a:lnTo>
                  <a:pt x="79004" y="138257"/>
                </a:lnTo>
              </a:path>
            </a:pathLst>
          </a:custGeom>
          <a:noFill/>
          <a:ln w="19050">
            <a:solidFill>
              <a:srgbClr val="0F6CBD"/>
            </a:solidFill>
          </a:ln>
          <a:effectLst/>
        </p:spPr>
        <p:txBody>
          <a:bodyPr rtlCol="0" anchor="ctr"/>
          <a:lstStyle/>
          <a:p>
            <a:pPr algn="ctr"/>
          </a:p>
        </p:txBody>
      </p:sp>
      <p:sp>
        <p:nvSpPr>
          <p:cNvPr id="16" name="Oval 15"/>
          <p:cNvSpPr/>
          <p:nvPr/>
        </p:nvSpPr>
        <p:spPr>
          <a:xfrm>
            <a:off x="11173968" y="2350008"/>
            <a:ext cx="329184" cy="329184"/>
          </a:xfrm>
          <a:prstGeom prst="ellipse">
            <a:avLst/>
          </a:prstGeom>
          <a:solidFill>
            <a:srgbClr val="FFFFFF"/>
          </a:solidFill>
          <a:ln w="19050">
            <a:solidFill>
              <a:srgbClr val="0F6CBD"/>
            </a:solidFill>
          </a:ln>
          <a:effectLst/>
        </p:spPr>
        <p:txBody>
          <a:bodyPr rtlCol="0" anchor="ctr"/>
          <a:lstStyle/>
          <a:p>
            <a:pPr algn="ctr"/>
          </a:p>
        </p:txBody>
      </p:sp>
      <p:sp>
        <p:nvSpPr>
          <p:cNvPr id="17" name="Freeform 16"/>
          <p:cNvSpPr/>
          <p:nvPr/>
        </p:nvSpPr>
        <p:spPr>
          <a:xfrm>
            <a:off x="11338560" y="2409261"/>
            <a:ext cx="79004" cy="138257"/>
          </a:xfrm>
          <a:custGeom>
            <a:avLst/>
            <a:gdLst/>
            <a:ahLst/>
            <a:cxnLst/>
            <a:rect l="l" t="t" r="r" b="b"/>
            <a:pathLst>
              <a:path w="79004" h="138257">
                <a:moveTo>
                  <a:pt x="0" y="0"/>
                </a:moveTo>
                <a:lnTo>
                  <a:pt x="0" y="105339"/>
                </a:lnTo>
                <a:lnTo>
                  <a:pt x="79004" y="138257"/>
                </a:lnTo>
              </a:path>
            </a:pathLst>
          </a:custGeom>
          <a:noFill/>
          <a:ln w="19050">
            <a:solidFill>
              <a:srgbClr val="0F6CBD"/>
            </a:solidFill>
          </a:ln>
          <a:effectLst/>
        </p:spPr>
        <p:txBody>
          <a:bodyPr rtlCol="0" anchor="ctr"/>
          <a:lstStyle/>
          <a:p>
            <a:pPr algn="ctr"/>
          </a:p>
        </p:txBody>
      </p:sp>
      <p:sp>
        <p:nvSpPr>
          <p:cNvPr id="18" name="Speech-to-speech"/>
          <p:cNvSpPr/>
          <p:nvPr/>
        </p:nvSpPr>
        <p:spPr>
          <a:xfrm>
            <a:off x="5212080" y="3931920"/>
            <a:ext cx="1828800" cy="347472"/>
          </a:xfrm>
          <a:prstGeom prst="roundRect">
            <a:avLst>
              <a:gd name="adj" fmla="val 50000"/>
            </a:avLst>
          </a:prstGeom>
          <a:solidFill>
            <a:srgbClr val="FFFFFF"/>
          </a:solidFill>
          <a:ln w="15875">
            <a:solidFill>
              <a:srgbClr val="B8C4D6"/>
            </a:solidFill>
          </a:ln>
          <a:effectLst/>
        </p:spPr>
        <p:txBody>
          <a:bodyPr rtlCol="0" anchor="ctr" wrap="square" lIns="45720" rIns="45720" tIns="27432" bIns="27432">
            <a:noAutofit/>
          </a:bodyPr>
          <a:lstStyle/>
          <a:p>
            <a:pPr algn="ctr"/>
            <a:r>
              <a:rPr sz="1300" b="1" i="0">
                <a:solidFill>
                  <a:srgbClr val="16202F"/>
                </a:solidFill>
                <a:latin typeface="Calibri"/>
              </a:rPr>
              <a:t>Speech-to-speech</a:t>
            </a:r>
          </a:p>
        </p:txBody>
      </p:sp>
      <p:sp>
        <p:nvSpPr>
          <p:cNvPr id="19" name="Unified realtime speech-to-speech model"/>
          <p:cNvSpPr/>
          <p:nvPr/>
        </p:nvSpPr>
        <p:spPr>
          <a:xfrm>
            <a:off x="5212080" y="4434840"/>
            <a:ext cx="6217920" cy="914400"/>
          </a:xfrm>
          <a:prstGeom prst="roundRect">
            <a:avLst>
              <a:gd name="adj" fmla="val 12000"/>
            </a:avLst>
          </a:prstGeom>
          <a:solidFill>
            <a:srgbClr val="0F6CBD"/>
          </a:solidFill>
          <a:ln w="15875">
            <a:solidFill>
              <a:srgbClr val="0F6CBD"/>
            </a:solidFill>
          </a:ln>
          <a:effectLst/>
        </p:spPr>
        <p:txBody>
          <a:bodyPr rtlCol="0" anchor="ctr" wrap="square" lIns="73152" rIns="73152" tIns="43891" bIns="43891">
            <a:noAutofit/>
          </a:bodyPr>
          <a:lstStyle/>
          <a:p>
            <a:pPr algn="ctr"/>
            <a:r>
              <a:rPr sz="1600" b="1" i="0">
                <a:solidFill>
                  <a:srgbClr val="FFFFFF"/>
                </a:solidFill>
                <a:latin typeface="Calibri"/>
              </a:rPr>
              <a:t>Unified realtime speech-to-speech model</a:t>
            </a:r>
          </a:p>
        </p:txBody>
      </p:sp>
      <p:sp>
        <p:nvSpPr>
          <p:cNvPr id="20" name="Oval 19"/>
          <p:cNvSpPr/>
          <p:nvPr/>
        </p:nvSpPr>
        <p:spPr>
          <a:xfrm>
            <a:off x="11210544" y="4306824"/>
            <a:ext cx="256032" cy="256032"/>
          </a:xfrm>
          <a:prstGeom prst="ellipse">
            <a:avLst/>
          </a:prstGeom>
          <a:solidFill>
            <a:srgbClr val="FFFFFF"/>
          </a:solidFill>
          <a:ln w="19050">
            <a:solidFill>
              <a:srgbClr val="0F6CBD"/>
            </a:solidFill>
          </a:ln>
          <a:effectLst/>
        </p:spPr>
        <p:txBody>
          <a:bodyPr rtlCol="0" anchor="ctr"/>
          <a:lstStyle/>
          <a:p>
            <a:pPr algn="ctr"/>
          </a:p>
        </p:txBody>
      </p:sp>
      <p:sp>
        <p:nvSpPr>
          <p:cNvPr id="21" name="Freeform 20"/>
          <p:cNvSpPr/>
          <p:nvPr/>
        </p:nvSpPr>
        <p:spPr>
          <a:xfrm>
            <a:off x="11338560" y="4352910"/>
            <a:ext cx="61448" cy="107533"/>
          </a:xfrm>
          <a:custGeom>
            <a:avLst/>
            <a:gdLst/>
            <a:ahLst/>
            <a:cxnLst/>
            <a:rect l="l" t="t" r="r" b="b"/>
            <a:pathLst>
              <a:path w="61448" h="107533">
                <a:moveTo>
                  <a:pt x="0" y="0"/>
                </a:moveTo>
                <a:lnTo>
                  <a:pt x="0" y="81930"/>
                </a:lnTo>
                <a:lnTo>
                  <a:pt x="61448" y="107533"/>
                </a:lnTo>
              </a:path>
            </a:pathLst>
          </a:custGeom>
          <a:noFill/>
          <a:ln w="19050">
            <a:solidFill>
              <a:srgbClr val="0F6CBD"/>
            </a:solidFill>
          </a:ln>
          <a:effectLst/>
        </p:spPr>
        <p:txBody>
          <a:bodyPr rtlCol="0" anchor="ctr"/>
          <a:lstStyle/>
          <a:p>
            <a:pPr algn="ctr"/>
          </a:p>
        </p:txBody>
      </p:sp>
      <p:sp>
        <p:nvSpPr>
          <p:cNvPr id="22" name="TextBox 21"/>
          <p:cNvSpPr txBox="1"/>
          <p:nvPr/>
        </p:nvSpPr>
        <p:spPr>
          <a:xfrm>
            <a:off x="5212080" y="5486400"/>
            <a:ext cx="6217920" cy="365760"/>
          </a:xfrm>
          <a:prstGeom prst="rect">
            <a:avLst/>
          </a:prstGeom>
          <a:noFill/>
        </p:spPr>
        <p:txBody>
          <a:bodyPr wrap="square" lIns="18288" rIns="18288" tIns="10973" bIns="10973" anchor="t">
            <a:noAutofit/>
          </a:bodyPr>
          <a:lstStyle/>
          <a:p>
            <a:pPr algn="ctr"/>
            <a:r>
              <a:rPr sz="1300" b="0" i="1">
                <a:solidFill>
                  <a:srgbClr val="53617A"/>
                </a:solidFill>
                <a:latin typeface="Calibri"/>
              </a:rPr>
              <a:t>Each handoff adds latency: the latency budget drives the choice</a:t>
            </a:r>
          </a:p>
        </p:txBody>
      </p:sp>
      <p:sp>
        <p:nvSpPr>
          <p:cNvPr id="23" name="Freeform 22"/>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24"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DeckFM · AI enablement · Practitioner</a:t>
            </a:r>
          </a:p>
        </p:txBody>
      </p:sp>
      <p:sp>
        <p:nvSpPr>
          <p:cNvPr id="25"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Evaluation and cost</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PRACTITIONER · EVALUATION</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Offline evals: test sets, rubrics</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Online evals: live traffic monitoring</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Track quality, latency, and cost together</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Test dataset"/>
          <p:cNvSpPr/>
          <p:nvPr/>
        </p:nvSpPr>
        <p:spPr>
          <a:xfrm>
            <a:off x="5212080" y="1965960"/>
            <a:ext cx="3566160" cy="548640"/>
          </a:xfrm>
          <a:prstGeom prst="roundRect">
            <a:avLst>
              <a:gd name="adj" fmla="val 20000"/>
            </a:avLst>
          </a:prstGeom>
          <a:solidFill>
            <a:srgbClr val="FFFFFF"/>
          </a:solidFill>
          <a:ln w="15875">
            <a:solidFill>
              <a:srgbClr val="B8C4D6"/>
            </a:solidFill>
          </a:ln>
          <a:effectLst/>
        </p:spPr>
        <p:txBody>
          <a:bodyPr rtlCol="0" anchor="ctr" wrap="square" lIns="73152" rIns="73152" tIns="43891" bIns="43891">
            <a:noAutofit/>
          </a:bodyPr>
          <a:lstStyle/>
          <a:p>
            <a:pPr algn="ctr"/>
            <a:r>
              <a:rPr sz="1500" b="1" i="0">
                <a:solidFill>
                  <a:srgbClr val="16202F"/>
                </a:solidFill>
                <a:latin typeface="Calibri"/>
              </a:rPr>
              <a:t>Test dataset</a:t>
            </a:r>
          </a:p>
        </p:txBody>
      </p:sp>
      <p:sp>
        <p:nvSpPr>
          <p:cNvPr id="7" name="Offline evaluation  (scores)"/>
          <p:cNvSpPr/>
          <p:nvPr/>
        </p:nvSpPr>
        <p:spPr>
          <a:xfrm>
            <a:off x="5212080" y="2752344"/>
            <a:ext cx="3566160" cy="548640"/>
          </a:xfrm>
          <a:prstGeom prst="roundRect">
            <a:avLst>
              <a:gd name="adj" fmla="val 20000"/>
            </a:avLst>
          </a:prstGeom>
          <a:solidFill>
            <a:srgbClr val="EAF3FC"/>
          </a:solidFill>
          <a:ln w="15875">
            <a:solidFill>
              <a:srgbClr val="8DBBE6"/>
            </a:solidFill>
          </a:ln>
          <a:effectLst/>
        </p:spPr>
        <p:txBody>
          <a:bodyPr rtlCol="0" anchor="ctr" wrap="square" lIns="73152" rIns="73152" tIns="43891" bIns="43891">
            <a:noAutofit/>
          </a:bodyPr>
          <a:lstStyle/>
          <a:p>
            <a:pPr algn="ctr"/>
            <a:r>
              <a:rPr sz="1500" b="1" i="0">
                <a:solidFill>
                  <a:srgbClr val="16202F"/>
                </a:solidFill>
                <a:latin typeface="Calibri"/>
              </a:rPr>
              <a:t>Offline evaluation  (scores)</a:t>
            </a:r>
          </a:p>
        </p:txBody>
      </p:sp>
      <p:cxnSp>
        <p:nvCxnSpPr>
          <p:cNvPr id="8" name="Connector 7"/>
          <p:cNvCxnSpPr/>
          <p:nvPr/>
        </p:nvCxnSpPr>
        <p:spPr>
          <a:xfrm>
            <a:off x="6995160" y="2523744"/>
            <a:ext cx="0" cy="210312"/>
          </a:xfrm>
          <a:prstGeom prst="line">
            <a:avLst/>
          </a:prstGeom>
          <a:ln w="22225">
            <a:solidFill>
              <a:srgbClr val="0F6CBD"/>
            </a:solidFill>
            <a:tailEnd type="triangle" w="med" len="med"/>
          </a:ln>
        </p:spPr>
      </p:cxnSp>
      <p:sp>
        <p:nvSpPr>
          <p:cNvPr id="9" name="Deploy"/>
          <p:cNvSpPr/>
          <p:nvPr/>
        </p:nvSpPr>
        <p:spPr>
          <a:xfrm>
            <a:off x="5212080" y="3538728"/>
            <a:ext cx="3566160" cy="548640"/>
          </a:xfrm>
          <a:prstGeom prst="roundRect">
            <a:avLst>
              <a:gd name="adj" fmla="val 20000"/>
            </a:avLst>
          </a:prstGeom>
          <a:solidFill>
            <a:srgbClr val="FFF4E4"/>
          </a:solidFill>
          <a:ln w="15875">
            <a:solidFill>
              <a:srgbClr val="E8A855"/>
            </a:solidFill>
          </a:ln>
          <a:effectLst/>
        </p:spPr>
        <p:txBody>
          <a:bodyPr rtlCol="0" anchor="ctr" wrap="square" lIns="73152" rIns="73152" tIns="43891" bIns="43891">
            <a:noAutofit/>
          </a:bodyPr>
          <a:lstStyle/>
          <a:p>
            <a:pPr algn="ctr"/>
            <a:r>
              <a:rPr sz="1500" b="1" i="0">
                <a:solidFill>
                  <a:srgbClr val="16202F"/>
                </a:solidFill>
                <a:latin typeface="Calibri"/>
              </a:rPr>
              <a:t>Deploy</a:t>
            </a:r>
          </a:p>
        </p:txBody>
      </p:sp>
      <p:cxnSp>
        <p:nvCxnSpPr>
          <p:cNvPr id="10" name="Connector 9"/>
          <p:cNvCxnSpPr/>
          <p:nvPr/>
        </p:nvCxnSpPr>
        <p:spPr>
          <a:xfrm>
            <a:off x="6995160" y="3310128"/>
            <a:ext cx="0" cy="210312"/>
          </a:xfrm>
          <a:prstGeom prst="line">
            <a:avLst/>
          </a:prstGeom>
          <a:ln w="22225">
            <a:solidFill>
              <a:srgbClr val="0F6CBD"/>
            </a:solidFill>
            <a:tailEnd type="triangle" w="med" len="med"/>
          </a:ln>
        </p:spPr>
      </p:cxnSp>
      <p:sp>
        <p:nvSpPr>
          <p:cNvPr id="11" name="Production traffic"/>
          <p:cNvSpPr/>
          <p:nvPr/>
        </p:nvSpPr>
        <p:spPr>
          <a:xfrm>
            <a:off x="5212080" y="4325112"/>
            <a:ext cx="3566160" cy="548640"/>
          </a:xfrm>
          <a:prstGeom prst="roundRect">
            <a:avLst>
              <a:gd name="adj" fmla="val 20000"/>
            </a:avLst>
          </a:prstGeom>
          <a:solidFill>
            <a:srgbClr val="FFFFFF"/>
          </a:solidFill>
          <a:ln w="15875">
            <a:solidFill>
              <a:srgbClr val="B8C4D6"/>
            </a:solidFill>
          </a:ln>
          <a:effectLst/>
        </p:spPr>
        <p:txBody>
          <a:bodyPr rtlCol="0" anchor="ctr" wrap="square" lIns="73152" rIns="73152" tIns="43891" bIns="43891">
            <a:noAutofit/>
          </a:bodyPr>
          <a:lstStyle/>
          <a:p>
            <a:pPr algn="ctr"/>
            <a:r>
              <a:rPr sz="1500" b="1" i="0">
                <a:solidFill>
                  <a:srgbClr val="16202F"/>
                </a:solidFill>
                <a:latin typeface="Calibri"/>
              </a:rPr>
              <a:t>Production traffic</a:t>
            </a:r>
          </a:p>
        </p:txBody>
      </p:sp>
      <p:cxnSp>
        <p:nvCxnSpPr>
          <p:cNvPr id="12" name="Connector 11"/>
          <p:cNvCxnSpPr/>
          <p:nvPr/>
        </p:nvCxnSpPr>
        <p:spPr>
          <a:xfrm>
            <a:off x="6995160" y="4096512"/>
            <a:ext cx="0" cy="210312"/>
          </a:xfrm>
          <a:prstGeom prst="line">
            <a:avLst/>
          </a:prstGeom>
          <a:ln w="22225">
            <a:solidFill>
              <a:srgbClr val="0F6CBD"/>
            </a:solidFill>
            <a:tailEnd type="triangle" w="med" len="med"/>
          </a:ln>
        </p:spPr>
      </p:cxnSp>
      <p:sp>
        <p:nvSpPr>
          <p:cNvPr id="13" name="Online evaluation &amp; monitoring"/>
          <p:cNvSpPr/>
          <p:nvPr/>
        </p:nvSpPr>
        <p:spPr>
          <a:xfrm>
            <a:off x="5212080" y="5111496"/>
            <a:ext cx="3566160" cy="548640"/>
          </a:xfrm>
          <a:prstGeom prst="roundRect">
            <a:avLst>
              <a:gd name="adj" fmla="val 20000"/>
            </a:avLst>
          </a:prstGeom>
          <a:solidFill>
            <a:srgbClr val="EAF3FC"/>
          </a:solidFill>
          <a:ln w="15875">
            <a:solidFill>
              <a:srgbClr val="8DBBE6"/>
            </a:solidFill>
          </a:ln>
          <a:effectLst/>
        </p:spPr>
        <p:txBody>
          <a:bodyPr rtlCol="0" anchor="ctr" wrap="square" lIns="73152" rIns="73152" tIns="43891" bIns="43891">
            <a:noAutofit/>
          </a:bodyPr>
          <a:lstStyle/>
          <a:p>
            <a:pPr algn="ctr"/>
            <a:r>
              <a:rPr sz="1500" b="1" i="0">
                <a:solidFill>
                  <a:srgbClr val="16202F"/>
                </a:solidFill>
                <a:latin typeface="Calibri"/>
              </a:rPr>
              <a:t>Online evaluation &amp; monitoring</a:t>
            </a:r>
          </a:p>
        </p:txBody>
      </p:sp>
      <p:cxnSp>
        <p:nvCxnSpPr>
          <p:cNvPr id="14" name="Connector 13"/>
          <p:cNvCxnSpPr/>
          <p:nvPr/>
        </p:nvCxnSpPr>
        <p:spPr>
          <a:xfrm>
            <a:off x="6995160" y="4882896"/>
            <a:ext cx="0" cy="210312"/>
          </a:xfrm>
          <a:prstGeom prst="line">
            <a:avLst/>
          </a:prstGeom>
          <a:ln w="22225">
            <a:solidFill>
              <a:srgbClr val="0F6CBD"/>
            </a:solidFill>
            <a:tailEnd type="triangle" w="med" len="med"/>
          </a:ln>
        </p:spPr>
      </p:cxnSp>
      <p:sp>
        <p:nvSpPr>
          <p:cNvPr id="15" name="dashboard"/>
          <p:cNvSpPr/>
          <p:nvPr/>
        </p:nvSpPr>
        <p:spPr>
          <a:xfrm>
            <a:off x="9281160" y="2240280"/>
            <a:ext cx="2194560" cy="3429000"/>
          </a:xfrm>
          <a:prstGeom prst="roundRect">
            <a:avLst>
              <a:gd name="adj" fmla="val 6666"/>
            </a:avLst>
          </a:prstGeom>
          <a:solidFill>
            <a:srgbClr val="FFFFFF"/>
          </a:solidFill>
          <a:ln w="15875">
            <a:solidFill>
              <a:srgbClr val="8DBBE6"/>
            </a:solidFill>
          </a:ln>
          <a:effectLst/>
        </p:spPr>
        <p:txBody>
          <a:bodyPr rtlCol="0" anchor="ctr"/>
          <a:lstStyle/>
          <a:p>
            <a:pPr algn="ctr"/>
          </a:p>
        </p:txBody>
      </p:sp>
      <p:sp>
        <p:nvSpPr>
          <p:cNvPr id="16" name="TextBox 15"/>
          <p:cNvSpPr txBox="1"/>
          <p:nvPr/>
        </p:nvSpPr>
        <p:spPr>
          <a:xfrm>
            <a:off x="9281160" y="2331720"/>
            <a:ext cx="2194560" cy="365760"/>
          </a:xfrm>
          <a:prstGeom prst="rect">
            <a:avLst/>
          </a:prstGeom>
          <a:noFill/>
        </p:spPr>
        <p:txBody>
          <a:bodyPr wrap="square" lIns="18288" rIns="18288" tIns="10973" bIns="10973" anchor="t">
            <a:noAutofit/>
          </a:bodyPr>
          <a:lstStyle/>
          <a:p>
            <a:pPr algn="ctr"/>
            <a:r>
              <a:rPr sz="1500" b="1" i="0">
                <a:solidFill>
                  <a:srgbClr val="0F6CBD"/>
                </a:solidFill>
                <a:latin typeface="Calibri"/>
              </a:rPr>
              <a:t>Dashboard</a:t>
            </a:r>
          </a:p>
        </p:txBody>
      </p:sp>
      <p:sp>
        <p:nvSpPr>
          <p:cNvPr id="17" name="Freeform 16"/>
          <p:cNvSpPr/>
          <p:nvPr/>
        </p:nvSpPr>
        <p:spPr>
          <a:xfrm>
            <a:off x="9500616" y="2916936"/>
            <a:ext cx="658368" cy="329184"/>
          </a:xfrm>
          <a:custGeom>
            <a:avLst/>
            <a:gdLst/>
            <a:ahLst/>
            <a:cxnLst/>
            <a:rect l="l" t="t" r="r" b="b"/>
            <a:pathLst>
              <a:path w="658368" h="329184">
                <a:moveTo>
                  <a:pt x="0" y="329184"/>
                </a:moveTo>
                <a:lnTo>
                  <a:pt x="6325" y="264963"/>
                </a:lnTo>
                <a:lnTo>
                  <a:pt x="25058" y="203211"/>
                </a:lnTo>
                <a:lnTo>
                  <a:pt x="55478" y="146299"/>
                </a:lnTo>
                <a:lnTo>
                  <a:pt x="96416" y="96416"/>
                </a:lnTo>
                <a:lnTo>
                  <a:pt x="146299" y="55478"/>
                </a:lnTo>
                <a:lnTo>
                  <a:pt x="203211" y="25058"/>
                </a:lnTo>
                <a:lnTo>
                  <a:pt x="264963" y="6325"/>
                </a:lnTo>
                <a:lnTo>
                  <a:pt x="329184" y="0"/>
                </a:lnTo>
                <a:lnTo>
                  <a:pt x="393405" y="6325"/>
                </a:lnTo>
                <a:lnTo>
                  <a:pt x="455157" y="25058"/>
                </a:lnTo>
                <a:lnTo>
                  <a:pt x="512069" y="55478"/>
                </a:lnTo>
                <a:lnTo>
                  <a:pt x="561952" y="96416"/>
                </a:lnTo>
                <a:lnTo>
                  <a:pt x="602890" y="146299"/>
                </a:lnTo>
                <a:lnTo>
                  <a:pt x="633310" y="203211"/>
                </a:lnTo>
                <a:lnTo>
                  <a:pt x="652043" y="264963"/>
                </a:lnTo>
                <a:lnTo>
                  <a:pt x="658368" y="329184"/>
                </a:lnTo>
              </a:path>
            </a:pathLst>
          </a:custGeom>
          <a:noFill/>
          <a:ln w="38100">
            <a:solidFill>
              <a:srgbClr val="B8C4D6"/>
            </a:solidFill>
          </a:ln>
          <a:effectLst/>
        </p:spPr>
        <p:txBody>
          <a:bodyPr rtlCol="0" anchor="ctr"/>
          <a:lstStyle/>
          <a:p>
            <a:pPr algn="ctr"/>
          </a:p>
        </p:txBody>
      </p:sp>
      <p:sp>
        <p:nvSpPr>
          <p:cNvPr id="18" name="Freeform 17"/>
          <p:cNvSpPr/>
          <p:nvPr/>
        </p:nvSpPr>
        <p:spPr>
          <a:xfrm>
            <a:off x="9500616" y="2916936"/>
            <a:ext cx="561952" cy="329184"/>
          </a:xfrm>
          <a:custGeom>
            <a:avLst/>
            <a:gdLst/>
            <a:ahLst/>
            <a:cxnLst/>
            <a:rect l="l" t="t" r="r" b="b"/>
            <a:pathLst>
              <a:path w="561952" h="329184">
                <a:moveTo>
                  <a:pt x="0" y="329184"/>
                </a:moveTo>
                <a:lnTo>
                  <a:pt x="6325" y="264963"/>
                </a:lnTo>
                <a:lnTo>
                  <a:pt x="25058" y="203211"/>
                </a:lnTo>
                <a:lnTo>
                  <a:pt x="55478" y="146299"/>
                </a:lnTo>
                <a:lnTo>
                  <a:pt x="96416" y="96416"/>
                </a:lnTo>
                <a:lnTo>
                  <a:pt x="146299" y="55478"/>
                </a:lnTo>
                <a:lnTo>
                  <a:pt x="203211" y="25058"/>
                </a:lnTo>
                <a:lnTo>
                  <a:pt x="264963" y="6325"/>
                </a:lnTo>
                <a:lnTo>
                  <a:pt x="329184" y="0"/>
                </a:lnTo>
                <a:lnTo>
                  <a:pt x="393405" y="6325"/>
                </a:lnTo>
                <a:lnTo>
                  <a:pt x="455157" y="25058"/>
                </a:lnTo>
                <a:lnTo>
                  <a:pt x="512069" y="55478"/>
                </a:lnTo>
                <a:lnTo>
                  <a:pt x="561952" y="96416"/>
                </a:lnTo>
              </a:path>
            </a:pathLst>
          </a:custGeom>
          <a:noFill/>
          <a:ln w="38100">
            <a:solidFill>
              <a:srgbClr val="0F6CBD"/>
            </a:solidFill>
          </a:ln>
          <a:effectLst/>
        </p:spPr>
        <p:txBody>
          <a:bodyPr rtlCol="0" anchor="ctr"/>
          <a:lstStyle/>
          <a:p>
            <a:pPr algn="ctr"/>
          </a:p>
        </p:txBody>
      </p:sp>
      <p:sp>
        <p:nvSpPr>
          <p:cNvPr id="19" name="Freeform 18"/>
          <p:cNvSpPr/>
          <p:nvPr/>
        </p:nvSpPr>
        <p:spPr>
          <a:xfrm>
            <a:off x="9829800" y="3071544"/>
            <a:ext cx="174576" cy="174576"/>
          </a:xfrm>
          <a:custGeom>
            <a:avLst/>
            <a:gdLst/>
            <a:ahLst/>
            <a:cxnLst/>
            <a:rect l="l" t="t" r="r" b="b"/>
            <a:pathLst>
              <a:path w="174576" h="174576">
                <a:moveTo>
                  <a:pt x="0" y="174576"/>
                </a:moveTo>
                <a:lnTo>
                  <a:pt x="174576" y="0"/>
                </a:lnTo>
              </a:path>
            </a:pathLst>
          </a:custGeom>
          <a:noFill/>
          <a:ln w="22225">
            <a:solidFill>
              <a:srgbClr val="16202F"/>
            </a:solidFill>
          </a:ln>
          <a:effectLst/>
        </p:spPr>
        <p:txBody>
          <a:bodyPr rtlCol="0" anchor="ctr"/>
          <a:lstStyle/>
          <a:p>
            <a:pPr algn="ctr"/>
          </a:p>
        </p:txBody>
      </p:sp>
      <p:sp>
        <p:nvSpPr>
          <p:cNvPr id="20" name="TextBox 19"/>
          <p:cNvSpPr txBox="1"/>
          <p:nvPr/>
        </p:nvSpPr>
        <p:spPr>
          <a:xfrm>
            <a:off x="10241280" y="2953512"/>
            <a:ext cx="1188720" cy="365760"/>
          </a:xfrm>
          <a:prstGeom prst="rect">
            <a:avLst/>
          </a:prstGeom>
          <a:noFill/>
        </p:spPr>
        <p:txBody>
          <a:bodyPr wrap="square" lIns="18288" rIns="18288" tIns="10973" bIns="10973" anchor="t">
            <a:noAutofit/>
          </a:bodyPr>
          <a:lstStyle/>
          <a:p>
            <a:pPr algn="l"/>
            <a:r>
              <a:rPr sz="1500" b="1" i="0">
                <a:solidFill>
                  <a:srgbClr val="16202F"/>
                </a:solidFill>
                <a:latin typeface="Calibri"/>
              </a:rPr>
              <a:t>Quality</a:t>
            </a:r>
          </a:p>
        </p:txBody>
      </p:sp>
      <p:sp>
        <p:nvSpPr>
          <p:cNvPr id="21" name="Freeform 20"/>
          <p:cNvSpPr/>
          <p:nvPr/>
        </p:nvSpPr>
        <p:spPr>
          <a:xfrm>
            <a:off x="9500616" y="3858768"/>
            <a:ext cx="658368" cy="329184"/>
          </a:xfrm>
          <a:custGeom>
            <a:avLst/>
            <a:gdLst/>
            <a:ahLst/>
            <a:cxnLst/>
            <a:rect l="l" t="t" r="r" b="b"/>
            <a:pathLst>
              <a:path w="658368" h="329184">
                <a:moveTo>
                  <a:pt x="0" y="329184"/>
                </a:moveTo>
                <a:lnTo>
                  <a:pt x="6325" y="264963"/>
                </a:lnTo>
                <a:lnTo>
                  <a:pt x="25058" y="203211"/>
                </a:lnTo>
                <a:lnTo>
                  <a:pt x="55478" y="146299"/>
                </a:lnTo>
                <a:lnTo>
                  <a:pt x="96416" y="96416"/>
                </a:lnTo>
                <a:lnTo>
                  <a:pt x="146299" y="55478"/>
                </a:lnTo>
                <a:lnTo>
                  <a:pt x="203211" y="25058"/>
                </a:lnTo>
                <a:lnTo>
                  <a:pt x="264963" y="6325"/>
                </a:lnTo>
                <a:lnTo>
                  <a:pt x="329184" y="0"/>
                </a:lnTo>
                <a:lnTo>
                  <a:pt x="393405" y="6325"/>
                </a:lnTo>
                <a:lnTo>
                  <a:pt x="455157" y="25058"/>
                </a:lnTo>
                <a:lnTo>
                  <a:pt x="512069" y="55478"/>
                </a:lnTo>
                <a:lnTo>
                  <a:pt x="561952" y="96416"/>
                </a:lnTo>
                <a:lnTo>
                  <a:pt x="602890" y="146299"/>
                </a:lnTo>
                <a:lnTo>
                  <a:pt x="633310" y="203211"/>
                </a:lnTo>
                <a:lnTo>
                  <a:pt x="652043" y="264963"/>
                </a:lnTo>
                <a:lnTo>
                  <a:pt x="658368" y="329184"/>
                </a:lnTo>
              </a:path>
            </a:pathLst>
          </a:custGeom>
          <a:noFill/>
          <a:ln w="38100">
            <a:solidFill>
              <a:srgbClr val="B8C4D6"/>
            </a:solidFill>
          </a:ln>
          <a:effectLst/>
        </p:spPr>
        <p:txBody>
          <a:bodyPr rtlCol="0" anchor="ctr"/>
          <a:lstStyle/>
          <a:p>
            <a:pPr algn="ctr"/>
          </a:p>
        </p:txBody>
      </p:sp>
      <p:sp>
        <p:nvSpPr>
          <p:cNvPr id="22" name="Freeform 21"/>
          <p:cNvSpPr/>
          <p:nvPr/>
        </p:nvSpPr>
        <p:spPr>
          <a:xfrm>
            <a:off x="9500616" y="3865093"/>
            <a:ext cx="264963" cy="322859"/>
          </a:xfrm>
          <a:custGeom>
            <a:avLst/>
            <a:gdLst/>
            <a:ahLst/>
            <a:cxnLst/>
            <a:rect l="l" t="t" r="r" b="b"/>
            <a:pathLst>
              <a:path w="264963" h="322859">
                <a:moveTo>
                  <a:pt x="0" y="322859"/>
                </a:moveTo>
                <a:lnTo>
                  <a:pt x="6325" y="258638"/>
                </a:lnTo>
                <a:lnTo>
                  <a:pt x="25058" y="196886"/>
                </a:lnTo>
                <a:lnTo>
                  <a:pt x="55478" y="139974"/>
                </a:lnTo>
                <a:lnTo>
                  <a:pt x="96416" y="90091"/>
                </a:lnTo>
                <a:lnTo>
                  <a:pt x="146299" y="49153"/>
                </a:lnTo>
                <a:lnTo>
                  <a:pt x="203211" y="18733"/>
                </a:lnTo>
                <a:lnTo>
                  <a:pt x="264963" y="0"/>
                </a:lnTo>
              </a:path>
            </a:pathLst>
          </a:custGeom>
          <a:noFill/>
          <a:ln w="38100">
            <a:solidFill>
              <a:srgbClr val="0F6CBD"/>
            </a:solidFill>
          </a:ln>
          <a:effectLst/>
        </p:spPr>
        <p:txBody>
          <a:bodyPr rtlCol="0" anchor="ctr"/>
          <a:lstStyle/>
          <a:p>
            <a:pPr algn="ctr"/>
          </a:p>
        </p:txBody>
      </p:sp>
      <p:sp>
        <p:nvSpPr>
          <p:cNvPr id="23" name="Freeform 22"/>
          <p:cNvSpPr/>
          <p:nvPr/>
        </p:nvSpPr>
        <p:spPr>
          <a:xfrm>
            <a:off x="9791178" y="3944104"/>
            <a:ext cx="38622" cy="243848"/>
          </a:xfrm>
          <a:custGeom>
            <a:avLst/>
            <a:gdLst/>
            <a:ahLst/>
            <a:cxnLst/>
            <a:rect l="l" t="t" r="r" b="b"/>
            <a:pathLst>
              <a:path w="38622" h="243848">
                <a:moveTo>
                  <a:pt x="38622" y="243848"/>
                </a:moveTo>
                <a:lnTo>
                  <a:pt x="0" y="0"/>
                </a:lnTo>
              </a:path>
            </a:pathLst>
          </a:custGeom>
          <a:noFill/>
          <a:ln w="22225">
            <a:solidFill>
              <a:srgbClr val="16202F"/>
            </a:solidFill>
          </a:ln>
          <a:effectLst/>
        </p:spPr>
        <p:txBody>
          <a:bodyPr rtlCol="0" anchor="ctr"/>
          <a:lstStyle/>
          <a:p>
            <a:pPr algn="ctr"/>
          </a:p>
        </p:txBody>
      </p:sp>
      <p:sp>
        <p:nvSpPr>
          <p:cNvPr id="24" name="TextBox 23"/>
          <p:cNvSpPr txBox="1"/>
          <p:nvPr/>
        </p:nvSpPr>
        <p:spPr>
          <a:xfrm>
            <a:off x="10241280" y="3895344"/>
            <a:ext cx="1188720" cy="365760"/>
          </a:xfrm>
          <a:prstGeom prst="rect">
            <a:avLst/>
          </a:prstGeom>
          <a:noFill/>
        </p:spPr>
        <p:txBody>
          <a:bodyPr wrap="square" lIns="18288" rIns="18288" tIns="10973" bIns="10973" anchor="t">
            <a:noAutofit/>
          </a:bodyPr>
          <a:lstStyle/>
          <a:p>
            <a:pPr algn="l"/>
            <a:r>
              <a:rPr sz="1500" b="1" i="0">
                <a:solidFill>
                  <a:srgbClr val="16202F"/>
                </a:solidFill>
                <a:latin typeface="Calibri"/>
              </a:rPr>
              <a:t>Latency</a:t>
            </a:r>
          </a:p>
        </p:txBody>
      </p:sp>
      <p:sp>
        <p:nvSpPr>
          <p:cNvPr id="25" name="Freeform 24"/>
          <p:cNvSpPr/>
          <p:nvPr/>
        </p:nvSpPr>
        <p:spPr>
          <a:xfrm>
            <a:off x="9500616" y="4800600"/>
            <a:ext cx="658368" cy="329184"/>
          </a:xfrm>
          <a:custGeom>
            <a:avLst/>
            <a:gdLst/>
            <a:ahLst/>
            <a:cxnLst/>
            <a:rect l="l" t="t" r="r" b="b"/>
            <a:pathLst>
              <a:path w="658368" h="329184">
                <a:moveTo>
                  <a:pt x="0" y="329184"/>
                </a:moveTo>
                <a:lnTo>
                  <a:pt x="6325" y="264963"/>
                </a:lnTo>
                <a:lnTo>
                  <a:pt x="25058" y="203211"/>
                </a:lnTo>
                <a:lnTo>
                  <a:pt x="55478" y="146299"/>
                </a:lnTo>
                <a:lnTo>
                  <a:pt x="96416" y="96416"/>
                </a:lnTo>
                <a:lnTo>
                  <a:pt x="146299" y="55478"/>
                </a:lnTo>
                <a:lnTo>
                  <a:pt x="203211" y="25058"/>
                </a:lnTo>
                <a:lnTo>
                  <a:pt x="264963" y="6325"/>
                </a:lnTo>
                <a:lnTo>
                  <a:pt x="329184" y="0"/>
                </a:lnTo>
                <a:lnTo>
                  <a:pt x="393405" y="6325"/>
                </a:lnTo>
                <a:lnTo>
                  <a:pt x="455157" y="25058"/>
                </a:lnTo>
                <a:lnTo>
                  <a:pt x="512069" y="55478"/>
                </a:lnTo>
                <a:lnTo>
                  <a:pt x="561952" y="96416"/>
                </a:lnTo>
                <a:lnTo>
                  <a:pt x="602890" y="146299"/>
                </a:lnTo>
                <a:lnTo>
                  <a:pt x="633310" y="203211"/>
                </a:lnTo>
                <a:lnTo>
                  <a:pt x="652043" y="264963"/>
                </a:lnTo>
                <a:lnTo>
                  <a:pt x="658368" y="329184"/>
                </a:lnTo>
              </a:path>
            </a:pathLst>
          </a:custGeom>
          <a:noFill/>
          <a:ln w="38100">
            <a:solidFill>
              <a:srgbClr val="B8C4D6"/>
            </a:solidFill>
          </a:ln>
          <a:effectLst/>
        </p:spPr>
        <p:txBody>
          <a:bodyPr rtlCol="0" anchor="ctr"/>
          <a:lstStyle/>
          <a:p>
            <a:pPr algn="ctr"/>
          </a:p>
        </p:txBody>
      </p:sp>
      <p:sp>
        <p:nvSpPr>
          <p:cNvPr id="26" name="Freeform 25"/>
          <p:cNvSpPr/>
          <p:nvPr/>
        </p:nvSpPr>
        <p:spPr>
          <a:xfrm>
            <a:off x="9500616" y="4897016"/>
            <a:ext cx="96416" cy="232768"/>
          </a:xfrm>
          <a:custGeom>
            <a:avLst/>
            <a:gdLst/>
            <a:ahLst/>
            <a:cxnLst/>
            <a:rect l="l" t="t" r="r" b="b"/>
            <a:pathLst>
              <a:path w="96416" h="232768">
                <a:moveTo>
                  <a:pt x="0" y="232768"/>
                </a:moveTo>
                <a:lnTo>
                  <a:pt x="6325" y="168547"/>
                </a:lnTo>
                <a:lnTo>
                  <a:pt x="25058" y="106795"/>
                </a:lnTo>
                <a:lnTo>
                  <a:pt x="55478" y="49883"/>
                </a:lnTo>
                <a:lnTo>
                  <a:pt x="96416" y="0"/>
                </a:lnTo>
              </a:path>
            </a:pathLst>
          </a:custGeom>
          <a:noFill/>
          <a:ln w="38100">
            <a:solidFill>
              <a:srgbClr val="0F6CBD"/>
            </a:solidFill>
          </a:ln>
          <a:effectLst/>
        </p:spPr>
        <p:txBody>
          <a:bodyPr rtlCol="0" anchor="ctr"/>
          <a:lstStyle/>
          <a:p>
            <a:pPr algn="ctr"/>
          </a:p>
        </p:txBody>
      </p:sp>
      <p:sp>
        <p:nvSpPr>
          <p:cNvPr id="27" name="Freeform 26"/>
          <p:cNvSpPr/>
          <p:nvPr/>
        </p:nvSpPr>
        <p:spPr>
          <a:xfrm>
            <a:off x="9684683" y="4930047"/>
            <a:ext cx="145117" cy="199737"/>
          </a:xfrm>
          <a:custGeom>
            <a:avLst/>
            <a:gdLst/>
            <a:ahLst/>
            <a:cxnLst/>
            <a:rect l="l" t="t" r="r" b="b"/>
            <a:pathLst>
              <a:path w="145117" h="199737">
                <a:moveTo>
                  <a:pt x="145117" y="199737"/>
                </a:moveTo>
                <a:lnTo>
                  <a:pt x="0" y="0"/>
                </a:lnTo>
              </a:path>
            </a:pathLst>
          </a:custGeom>
          <a:noFill/>
          <a:ln w="22225">
            <a:solidFill>
              <a:srgbClr val="16202F"/>
            </a:solidFill>
          </a:ln>
          <a:effectLst/>
        </p:spPr>
        <p:txBody>
          <a:bodyPr rtlCol="0" anchor="ctr"/>
          <a:lstStyle/>
          <a:p>
            <a:pPr algn="ctr"/>
          </a:p>
        </p:txBody>
      </p:sp>
      <p:sp>
        <p:nvSpPr>
          <p:cNvPr id="28" name="TextBox 27"/>
          <p:cNvSpPr txBox="1"/>
          <p:nvPr/>
        </p:nvSpPr>
        <p:spPr>
          <a:xfrm>
            <a:off x="10241280" y="4837176"/>
            <a:ext cx="1188720" cy="365760"/>
          </a:xfrm>
          <a:prstGeom prst="rect">
            <a:avLst/>
          </a:prstGeom>
          <a:noFill/>
        </p:spPr>
        <p:txBody>
          <a:bodyPr wrap="square" lIns="18288" rIns="18288" tIns="10973" bIns="10973" anchor="t">
            <a:noAutofit/>
          </a:bodyPr>
          <a:lstStyle/>
          <a:p>
            <a:pPr algn="l"/>
            <a:r>
              <a:rPr sz="1500" b="1" i="0">
                <a:solidFill>
                  <a:srgbClr val="16202F"/>
                </a:solidFill>
                <a:latin typeface="Calibri"/>
              </a:rPr>
              <a:t>Cost</a:t>
            </a:r>
          </a:p>
        </p:txBody>
      </p:sp>
      <p:cxnSp>
        <p:nvCxnSpPr>
          <p:cNvPr id="29" name="Connector 28"/>
          <p:cNvCxnSpPr/>
          <p:nvPr/>
        </p:nvCxnSpPr>
        <p:spPr>
          <a:xfrm flipV="1">
            <a:off x="8814816" y="5120640"/>
            <a:ext cx="429768" cy="265176"/>
          </a:xfrm>
          <a:prstGeom prst="line">
            <a:avLst/>
          </a:prstGeom>
          <a:ln w="22225">
            <a:solidFill>
              <a:srgbClr val="0F6CBD"/>
            </a:solidFill>
            <a:tailEnd type="triangle" w="med" len="med"/>
          </a:ln>
        </p:spPr>
      </p:cxnSp>
      <p:sp>
        <p:nvSpPr>
          <p:cNvPr id="30" name="Freeform 29"/>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31"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DeckFM · AI enablement · Practitioner</a:t>
            </a:r>
          </a:p>
        </p:txBody>
      </p:sp>
      <p:sp>
        <p:nvSpPr>
          <p:cNvPr id="32"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Designing tools agents can use well</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PRACTITIONER · TOOLS</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Clear names and descriptions matter</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Narrow scope beats one giant tool</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Return structured, predictable results</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do_everything(   args)"/>
          <p:cNvSpPr/>
          <p:nvPr/>
        </p:nvSpPr>
        <p:spPr>
          <a:xfrm>
            <a:off x="5212080" y="2194560"/>
            <a:ext cx="2514600" cy="1463040"/>
          </a:xfrm>
          <a:prstGeom prst="roundRect">
            <a:avLst>
              <a:gd name="adj" fmla="val 7500"/>
            </a:avLst>
          </a:prstGeom>
          <a:solidFill>
            <a:srgbClr val="FFFFFF"/>
          </a:solidFill>
          <a:ln w="15875">
            <a:solidFill>
              <a:srgbClr val="B8C4D6"/>
            </a:solidFill>
          </a:ln>
          <a:effectLst/>
        </p:spPr>
        <p:txBody>
          <a:bodyPr rtlCol="0" anchor="ctr" wrap="square" lIns="73152" rIns="73152" tIns="43891" bIns="43891">
            <a:noAutofit/>
          </a:bodyPr>
          <a:lstStyle/>
          <a:p>
            <a:pPr algn="ctr"/>
            <a:r>
              <a:rPr sz="1500" b="0" i="0">
                <a:solidFill>
                  <a:srgbClr val="16202F"/>
                </a:solidFill>
                <a:latin typeface="Courier New"/>
              </a:rPr>
              <a:t>do_everything(</a:t>
            </a:r>
          </a:p>
          <a:p>
            <a:pPr algn="ctr"/>
            <a:r>
              <a:rPr sz="1500" b="0" i="0">
                <a:solidFill>
                  <a:srgbClr val="16202F"/>
                </a:solidFill>
                <a:latin typeface="Courier New"/>
              </a:rPr>
              <a:t>  args)</a:t>
            </a:r>
          </a:p>
        </p:txBody>
      </p:sp>
      <p:sp>
        <p:nvSpPr>
          <p:cNvPr id="7" name="get_order_status(   order_id)"/>
          <p:cNvSpPr/>
          <p:nvPr/>
        </p:nvSpPr>
        <p:spPr>
          <a:xfrm>
            <a:off x="8915400" y="2194560"/>
            <a:ext cx="2560320" cy="1463040"/>
          </a:xfrm>
          <a:prstGeom prst="roundRect">
            <a:avLst>
              <a:gd name="adj" fmla="val 7500"/>
            </a:avLst>
          </a:prstGeom>
          <a:solidFill>
            <a:srgbClr val="EAF3FC"/>
          </a:solidFill>
          <a:ln w="15875">
            <a:solidFill>
              <a:srgbClr val="8DBBE6"/>
            </a:solidFill>
          </a:ln>
          <a:effectLst/>
        </p:spPr>
        <p:txBody>
          <a:bodyPr rtlCol="0" anchor="ctr" wrap="square" lIns="73152" rIns="73152" tIns="43891" bIns="43891">
            <a:noAutofit/>
          </a:bodyPr>
          <a:lstStyle/>
          <a:p>
            <a:pPr algn="ctr"/>
            <a:r>
              <a:rPr sz="1500" b="0" i="0">
                <a:solidFill>
                  <a:srgbClr val="16202F"/>
                </a:solidFill>
                <a:latin typeface="Courier New"/>
              </a:rPr>
              <a:t>get_order_status(</a:t>
            </a:r>
          </a:p>
          <a:p>
            <a:pPr algn="ctr"/>
            <a:r>
              <a:rPr sz="1500" b="0" i="0">
                <a:solidFill>
                  <a:srgbClr val="16202F"/>
                </a:solidFill>
                <a:latin typeface="Courier New"/>
              </a:rPr>
              <a:t>  order_id)</a:t>
            </a:r>
          </a:p>
        </p:txBody>
      </p:sp>
      <p:sp>
        <p:nvSpPr>
          <p:cNvPr id="8" name="Oval 7"/>
          <p:cNvSpPr/>
          <p:nvPr/>
        </p:nvSpPr>
        <p:spPr>
          <a:xfrm>
            <a:off x="7479792" y="1947672"/>
            <a:ext cx="493776" cy="493776"/>
          </a:xfrm>
          <a:prstGeom prst="ellipse">
            <a:avLst/>
          </a:prstGeom>
          <a:solidFill>
            <a:srgbClr val="C2620A"/>
          </a:solidFill>
          <a:ln w="25400">
            <a:solidFill>
              <a:srgbClr val="FFFFFF"/>
            </a:solidFill>
          </a:ln>
          <a:effectLst/>
        </p:spPr>
        <p:txBody>
          <a:bodyPr rtlCol="0" anchor="ctr"/>
          <a:lstStyle/>
          <a:p>
            <a:pPr algn="ctr"/>
          </a:p>
        </p:txBody>
      </p:sp>
      <p:sp>
        <p:nvSpPr>
          <p:cNvPr id="9" name="Freeform 8"/>
          <p:cNvSpPr/>
          <p:nvPr/>
        </p:nvSpPr>
        <p:spPr>
          <a:xfrm>
            <a:off x="7637800" y="2105680"/>
            <a:ext cx="177760" cy="177760"/>
          </a:xfrm>
          <a:custGeom>
            <a:avLst/>
            <a:gdLst/>
            <a:ahLst/>
            <a:cxnLst/>
            <a:rect l="l" t="t" r="r" b="b"/>
            <a:pathLst>
              <a:path w="177760" h="177760">
                <a:moveTo>
                  <a:pt x="0" y="0"/>
                </a:moveTo>
                <a:lnTo>
                  <a:pt x="177760" y="177760"/>
                </a:lnTo>
              </a:path>
            </a:pathLst>
          </a:custGeom>
          <a:noFill/>
          <a:ln w="31750">
            <a:solidFill>
              <a:srgbClr val="FFFFFF"/>
            </a:solidFill>
          </a:ln>
          <a:effectLst/>
        </p:spPr>
        <p:txBody>
          <a:bodyPr rtlCol="0" anchor="ctr"/>
          <a:lstStyle/>
          <a:p>
            <a:pPr algn="ctr"/>
          </a:p>
        </p:txBody>
      </p:sp>
      <p:sp>
        <p:nvSpPr>
          <p:cNvPr id="10" name="Freeform 9"/>
          <p:cNvSpPr/>
          <p:nvPr/>
        </p:nvSpPr>
        <p:spPr>
          <a:xfrm>
            <a:off x="7637800" y="2105680"/>
            <a:ext cx="177760" cy="177760"/>
          </a:xfrm>
          <a:custGeom>
            <a:avLst/>
            <a:gdLst/>
            <a:ahLst/>
            <a:cxnLst/>
            <a:rect l="l" t="t" r="r" b="b"/>
            <a:pathLst>
              <a:path w="177760" h="177760">
                <a:moveTo>
                  <a:pt x="0" y="177760"/>
                </a:moveTo>
                <a:lnTo>
                  <a:pt x="177760" y="0"/>
                </a:lnTo>
              </a:path>
            </a:pathLst>
          </a:custGeom>
          <a:noFill/>
          <a:ln w="31750">
            <a:solidFill>
              <a:srgbClr val="FFFFFF"/>
            </a:solidFill>
          </a:ln>
          <a:effectLst/>
        </p:spPr>
        <p:txBody>
          <a:bodyPr rtlCol="0" anchor="ctr"/>
          <a:lstStyle/>
          <a:p>
            <a:pPr algn="ctr"/>
          </a:p>
        </p:txBody>
      </p:sp>
      <p:sp>
        <p:nvSpPr>
          <p:cNvPr id="11" name="Oval 10"/>
          <p:cNvSpPr/>
          <p:nvPr/>
        </p:nvSpPr>
        <p:spPr>
          <a:xfrm>
            <a:off x="11228832" y="1947672"/>
            <a:ext cx="493776" cy="493776"/>
          </a:xfrm>
          <a:prstGeom prst="ellipse">
            <a:avLst/>
          </a:prstGeom>
          <a:solidFill>
            <a:srgbClr val="1F9D6B"/>
          </a:solidFill>
          <a:ln w="25400">
            <a:solidFill>
              <a:srgbClr val="FFFFFF"/>
            </a:solidFill>
          </a:ln>
          <a:effectLst/>
        </p:spPr>
        <p:txBody>
          <a:bodyPr rtlCol="0" anchor="ctr"/>
          <a:lstStyle/>
          <a:p>
            <a:pPr algn="ctr"/>
          </a:p>
        </p:txBody>
      </p:sp>
      <p:sp>
        <p:nvSpPr>
          <p:cNvPr id="12" name="Freeform 11"/>
          <p:cNvSpPr/>
          <p:nvPr/>
        </p:nvSpPr>
        <p:spPr>
          <a:xfrm>
            <a:off x="11367089" y="2115556"/>
            <a:ext cx="227137" cy="162946"/>
          </a:xfrm>
          <a:custGeom>
            <a:avLst/>
            <a:gdLst/>
            <a:ahLst/>
            <a:cxnLst/>
            <a:rect l="l" t="t" r="r" b="b"/>
            <a:pathLst>
              <a:path w="227137" h="162946">
                <a:moveTo>
                  <a:pt x="0" y="79004"/>
                </a:moveTo>
                <a:lnTo>
                  <a:pt x="83942" y="162946"/>
                </a:lnTo>
                <a:lnTo>
                  <a:pt x="227137" y="0"/>
                </a:lnTo>
              </a:path>
            </a:pathLst>
          </a:custGeom>
          <a:noFill/>
          <a:ln w="31750">
            <a:solidFill>
              <a:srgbClr val="FFFFFF"/>
            </a:solidFill>
          </a:ln>
          <a:effectLst/>
        </p:spPr>
        <p:txBody>
          <a:bodyPr rtlCol="0" anchor="ctr"/>
          <a:lstStyle/>
          <a:p>
            <a:pPr algn="ctr"/>
          </a:p>
        </p:txBody>
      </p:sp>
      <p:cxnSp>
        <p:nvCxnSpPr>
          <p:cNvPr id="13" name="Connector 12"/>
          <p:cNvCxnSpPr/>
          <p:nvPr/>
        </p:nvCxnSpPr>
        <p:spPr>
          <a:xfrm>
            <a:off x="7818120" y="2926080"/>
            <a:ext cx="1033272" cy="0"/>
          </a:xfrm>
          <a:prstGeom prst="line">
            <a:avLst/>
          </a:prstGeom>
          <a:ln w="28575">
            <a:solidFill>
              <a:srgbClr val="0F6CBD"/>
            </a:solidFill>
            <a:tailEnd type="triangle" w="med" len="med"/>
          </a:ln>
        </p:spPr>
      </p:cxnSp>
      <p:sp>
        <p:nvSpPr>
          <p:cNvPr id="14" name="TextBox 13"/>
          <p:cNvSpPr txBox="1"/>
          <p:nvPr/>
        </p:nvSpPr>
        <p:spPr>
          <a:xfrm>
            <a:off x="7726680" y="2514600"/>
            <a:ext cx="1188720" cy="347472"/>
          </a:xfrm>
          <a:prstGeom prst="rect">
            <a:avLst/>
          </a:prstGeom>
          <a:noFill/>
        </p:spPr>
        <p:txBody>
          <a:bodyPr wrap="square" lIns="18288" rIns="18288" tIns="10973" bIns="10973" anchor="t">
            <a:noAutofit/>
          </a:bodyPr>
          <a:lstStyle/>
          <a:p>
            <a:pPr algn="ctr"/>
            <a:r>
              <a:rPr sz="1300" b="0" i="1">
                <a:solidFill>
                  <a:srgbClr val="53617A"/>
                </a:solidFill>
                <a:latin typeface="Calibri"/>
              </a:rPr>
              <a:t>redesign</a:t>
            </a:r>
          </a:p>
        </p:txBody>
      </p:sp>
      <p:sp>
        <p:nvSpPr>
          <p:cNvPr id="15" name="TextBox 14"/>
          <p:cNvSpPr txBox="1"/>
          <p:nvPr/>
        </p:nvSpPr>
        <p:spPr>
          <a:xfrm>
            <a:off x="5212080" y="3794760"/>
            <a:ext cx="2514600" cy="1097280"/>
          </a:xfrm>
          <a:prstGeom prst="rect">
            <a:avLst/>
          </a:prstGeom>
          <a:noFill/>
        </p:spPr>
        <p:txBody>
          <a:bodyPr wrap="square" lIns="18288" rIns="18288" tIns="10973" bIns="10973" anchor="t">
            <a:noAutofit/>
          </a:bodyPr>
          <a:lstStyle/>
          <a:p>
            <a:pPr algn="ctr"/>
            <a:r>
              <a:rPr sz="1400" b="0" i="0">
                <a:solidFill>
                  <a:srgbClr val="53617A"/>
                </a:solidFill>
                <a:latin typeface="Calibri"/>
              </a:rPr>
              <a:t>vague name</a:t>
            </a:r>
          </a:p>
          <a:p>
            <a:pPr algn="ctr"/>
            <a:r>
              <a:rPr sz="1400" b="0" i="0">
                <a:solidFill>
                  <a:srgbClr val="53617A"/>
                </a:solidFill>
                <a:latin typeface="Calibri"/>
              </a:rPr>
              <a:t>one giant scope</a:t>
            </a:r>
          </a:p>
          <a:p>
            <a:pPr algn="ctr"/>
            <a:r>
              <a:rPr sz="1400" b="0" i="0">
                <a:solidFill>
                  <a:srgbClr val="53617A"/>
                </a:solidFill>
                <a:latin typeface="Calibri"/>
              </a:rPr>
              <a:t>free-form text</a:t>
            </a:r>
          </a:p>
        </p:txBody>
      </p:sp>
      <p:sp>
        <p:nvSpPr>
          <p:cNvPr id="16" name="TextBox 15"/>
          <p:cNvSpPr txBox="1"/>
          <p:nvPr/>
        </p:nvSpPr>
        <p:spPr>
          <a:xfrm>
            <a:off x="8915400" y="3794760"/>
            <a:ext cx="2560320" cy="1097280"/>
          </a:xfrm>
          <a:prstGeom prst="rect">
            <a:avLst/>
          </a:prstGeom>
          <a:noFill/>
        </p:spPr>
        <p:txBody>
          <a:bodyPr wrap="square" lIns="18288" rIns="18288" tIns="10973" bIns="10973" anchor="t">
            <a:noAutofit/>
          </a:bodyPr>
          <a:lstStyle/>
          <a:p>
            <a:pPr algn="ctr"/>
            <a:r>
              <a:rPr sz="1400" b="0" i="0">
                <a:solidFill>
                  <a:srgbClr val="16202F"/>
                </a:solidFill>
                <a:latin typeface="Calibri"/>
              </a:rPr>
              <a:t>clear name, typed input</a:t>
            </a:r>
          </a:p>
          <a:p>
            <a:pPr algn="ctr"/>
            <a:r>
              <a:rPr sz="1400" b="0" i="0">
                <a:solidFill>
                  <a:srgbClr val="16202F"/>
                </a:solidFill>
                <a:latin typeface="Calibri"/>
              </a:rPr>
              <a:t>narrow scope</a:t>
            </a:r>
          </a:p>
          <a:p>
            <a:pPr algn="ctr"/>
            <a:r>
              <a:rPr sz="1400" b="0" i="0">
                <a:solidFill>
                  <a:srgbClr val="16202F"/>
                </a:solidFill>
                <a:latin typeface="Calibri"/>
              </a:rPr>
              <a:t>structured result</a:t>
            </a:r>
          </a:p>
        </p:txBody>
      </p:sp>
      <p:sp>
        <p:nvSpPr>
          <p:cNvPr id="17" name="Well-designed tools are reusable across agents via MCP"/>
          <p:cNvSpPr/>
          <p:nvPr/>
        </p:nvSpPr>
        <p:spPr>
          <a:xfrm>
            <a:off x="5166360" y="5120640"/>
            <a:ext cx="6245352" cy="475488"/>
          </a:xfrm>
          <a:prstGeom prst="roundRect">
            <a:avLst>
              <a:gd name="adj" fmla="val 19230"/>
            </a:avLst>
          </a:prstGeom>
          <a:solidFill>
            <a:srgbClr val="EAF3FC"/>
          </a:solidFill>
          <a:ln w="15875">
            <a:solidFill>
              <a:srgbClr val="8DBBE6"/>
            </a:solidFill>
          </a:ln>
          <a:effectLst/>
        </p:spPr>
        <p:txBody>
          <a:bodyPr rtlCol="0" anchor="ctr" wrap="square" lIns="73152" rIns="73152" tIns="43891" bIns="43891">
            <a:noAutofit/>
          </a:bodyPr>
          <a:lstStyle/>
          <a:p>
            <a:pPr algn="ctr"/>
            <a:r>
              <a:rPr sz="1500" b="1" i="0">
                <a:solidFill>
                  <a:srgbClr val="16202F"/>
                </a:solidFill>
                <a:latin typeface="Calibri"/>
              </a:rPr>
              <a:t>Well-designed tools are reusable across agents via MCP</a:t>
            </a:r>
          </a:p>
        </p:txBody>
      </p:sp>
      <p:sp>
        <p:nvSpPr>
          <p:cNvPr id="18" name="Freeform 17"/>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19"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DeckFM · AI enablement · Practitioner</a:t>
            </a:r>
          </a:p>
        </p:txBody>
      </p:sp>
      <p:sp>
        <p:nvSpPr>
          <p:cNvPr id="20"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Guardrails and safe defaults for builders</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PRACTITIONER · SAFETY</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Validate tool inputs and outputs</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Limit permissions to what's needed</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Log every decision for review</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Agent decision"/>
          <p:cNvSpPr/>
          <p:nvPr/>
        </p:nvSpPr>
        <p:spPr>
          <a:xfrm>
            <a:off x="5166360" y="2514600"/>
            <a:ext cx="1737360" cy="914400"/>
          </a:xfrm>
          <a:prstGeom prst="roundRect">
            <a:avLst>
              <a:gd name="adj" fmla="val 12000"/>
            </a:avLst>
          </a:prstGeom>
          <a:solidFill>
            <a:srgbClr val="EAF3FC"/>
          </a:solidFill>
          <a:ln w="15875">
            <a:solidFill>
              <a:srgbClr val="8DBBE6"/>
            </a:solidFill>
          </a:ln>
          <a:effectLst/>
        </p:spPr>
        <p:txBody>
          <a:bodyPr rtlCol="0" anchor="ctr" wrap="square" lIns="73152" rIns="73152" tIns="43891" bIns="43891">
            <a:noAutofit/>
          </a:bodyPr>
          <a:lstStyle/>
          <a:p>
            <a:pPr algn="ctr"/>
            <a:r>
              <a:rPr sz="1600" b="1" i="0">
                <a:solidFill>
                  <a:srgbClr val="16202F"/>
                </a:solidFill>
                <a:latin typeface="Calibri"/>
              </a:rPr>
              <a:t>Agent</a:t>
            </a:r>
          </a:p>
          <a:p>
            <a:pPr algn="ctr"/>
            <a:r>
              <a:rPr sz="1600" b="1" i="0">
                <a:solidFill>
                  <a:srgbClr val="16202F"/>
                </a:solidFill>
                <a:latin typeface="Calibri"/>
              </a:rPr>
              <a:t>decision</a:t>
            </a:r>
          </a:p>
        </p:txBody>
      </p:sp>
      <p:sp>
        <p:nvSpPr>
          <p:cNvPr id="7" name="guardrail checks"/>
          <p:cNvSpPr/>
          <p:nvPr/>
        </p:nvSpPr>
        <p:spPr>
          <a:xfrm>
            <a:off x="7315200" y="2103120"/>
            <a:ext cx="2011680" cy="1737360"/>
          </a:xfrm>
          <a:prstGeom prst="roundRect">
            <a:avLst>
              <a:gd name="adj" fmla="val 7368"/>
            </a:avLst>
          </a:prstGeom>
          <a:solidFill>
            <a:srgbClr val="FFF4E4"/>
          </a:solidFill>
          <a:ln w="15875">
            <a:solidFill>
              <a:srgbClr val="E8A855"/>
            </a:solidFill>
          </a:ln>
          <a:effectLst/>
        </p:spPr>
        <p:txBody>
          <a:bodyPr rtlCol="0" anchor="ctr"/>
          <a:lstStyle/>
          <a:p>
            <a:pPr algn="ctr"/>
          </a:p>
        </p:txBody>
      </p:sp>
      <p:sp>
        <p:nvSpPr>
          <p:cNvPr id="8" name="TextBox 7"/>
          <p:cNvSpPr txBox="1"/>
          <p:nvPr/>
        </p:nvSpPr>
        <p:spPr>
          <a:xfrm>
            <a:off x="7315200" y="2176272"/>
            <a:ext cx="2011680" cy="365760"/>
          </a:xfrm>
          <a:prstGeom prst="rect">
            <a:avLst/>
          </a:prstGeom>
          <a:noFill/>
        </p:spPr>
        <p:txBody>
          <a:bodyPr wrap="square" lIns="18288" rIns="18288" tIns="10973" bIns="10973" anchor="t">
            <a:noAutofit/>
          </a:bodyPr>
          <a:lstStyle/>
          <a:p>
            <a:pPr algn="ctr"/>
            <a:r>
              <a:rPr sz="1500" b="1" i="0">
                <a:solidFill>
                  <a:srgbClr val="C2620A"/>
                </a:solidFill>
                <a:latin typeface="Calibri"/>
              </a:rPr>
              <a:t>Guardrail checks</a:t>
            </a:r>
          </a:p>
        </p:txBody>
      </p:sp>
      <p:sp>
        <p:nvSpPr>
          <p:cNvPr id="9" name="validate in / out"/>
          <p:cNvSpPr/>
          <p:nvPr/>
        </p:nvSpPr>
        <p:spPr>
          <a:xfrm>
            <a:off x="7479792" y="2606040"/>
            <a:ext cx="1682496" cy="329184"/>
          </a:xfrm>
          <a:prstGeom prst="roundRect">
            <a:avLst>
              <a:gd name="adj" fmla="val 50000"/>
            </a:avLst>
          </a:prstGeom>
          <a:solidFill>
            <a:srgbClr val="FFFFFF"/>
          </a:solidFill>
          <a:ln w="15875">
            <a:solidFill>
              <a:srgbClr val="B8C4D6"/>
            </a:solidFill>
          </a:ln>
          <a:effectLst/>
        </p:spPr>
        <p:txBody>
          <a:bodyPr rtlCol="0" anchor="ctr" wrap="square" lIns="45720" rIns="45720" tIns="27432" bIns="27432">
            <a:noAutofit/>
          </a:bodyPr>
          <a:lstStyle/>
          <a:p>
            <a:pPr algn="ctr"/>
            <a:r>
              <a:rPr sz="1200" b="0" i="0">
                <a:solidFill>
                  <a:srgbClr val="16202F"/>
                </a:solidFill>
                <a:latin typeface="Calibri"/>
              </a:rPr>
              <a:t>validate in / out</a:t>
            </a:r>
          </a:p>
        </p:txBody>
      </p:sp>
      <p:sp>
        <p:nvSpPr>
          <p:cNvPr id="10" name="least privilege"/>
          <p:cNvSpPr/>
          <p:nvPr/>
        </p:nvSpPr>
        <p:spPr>
          <a:xfrm>
            <a:off x="7479792" y="2999232"/>
            <a:ext cx="1682496" cy="329184"/>
          </a:xfrm>
          <a:prstGeom prst="roundRect">
            <a:avLst>
              <a:gd name="adj" fmla="val 50000"/>
            </a:avLst>
          </a:prstGeom>
          <a:solidFill>
            <a:srgbClr val="FFFFFF"/>
          </a:solidFill>
          <a:ln w="15875">
            <a:solidFill>
              <a:srgbClr val="B8C4D6"/>
            </a:solidFill>
          </a:ln>
          <a:effectLst/>
        </p:spPr>
        <p:txBody>
          <a:bodyPr rtlCol="0" anchor="ctr" wrap="square" lIns="45720" rIns="45720" tIns="27432" bIns="27432">
            <a:noAutofit/>
          </a:bodyPr>
          <a:lstStyle/>
          <a:p>
            <a:pPr algn="ctr"/>
            <a:r>
              <a:rPr sz="1200" b="0" i="0">
                <a:solidFill>
                  <a:srgbClr val="16202F"/>
                </a:solidFill>
                <a:latin typeface="Calibri"/>
              </a:rPr>
              <a:t>least privilege</a:t>
            </a:r>
          </a:p>
        </p:txBody>
      </p:sp>
      <p:sp>
        <p:nvSpPr>
          <p:cNvPr id="11" name="audit log"/>
          <p:cNvSpPr/>
          <p:nvPr/>
        </p:nvSpPr>
        <p:spPr>
          <a:xfrm>
            <a:off x="7479792" y="3392424"/>
            <a:ext cx="1682496" cy="329184"/>
          </a:xfrm>
          <a:prstGeom prst="roundRect">
            <a:avLst>
              <a:gd name="adj" fmla="val 50000"/>
            </a:avLst>
          </a:prstGeom>
          <a:solidFill>
            <a:srgbClr val="FFFFFF"/>
          </a:solidFill>
          <a:ln w="15875">
            <a:solidFill>
              <a:srgbClr val="B8C4D6"/>
            </a:solidFill>
          </a:ln>
          <a:effectLst/>
        </p:spPr>
        <p:txBody>
          <a:bodyPr rtlCol="0" anchor="ctr" wrap="square" lIns="45720" rIns="45720" tIns="27432" bIns="27432">
            <a:noAutofit/>
          </a:bodyPr>
          <a:lstStyle/>
          <a:p>
            <a:pPr algn="ctr"/>
            <a:r>
              <a:rPr sz="1200" b="0" i="0">
                <a:solidFill>
                  <a:srgbClr val="16202F"/>
                </a:solidFill>
                <a:latin typeface="Calibri"/>
              </a:rPr>
              <a:t>audit log</a:t>
            </a:r>
          </a:p>
        </p:txBody>
      </p:sp>
      <p:sp>
        <p:nvSpPr>
          <p:cNvPr id="12" name="Action executed"/>
          <p:cNvSpPr/>
          <p:nvPr/>
        </p:nvSpPr>
        <p:spPr>
          <a:xfrm>
            <a:off x="9738360" y="2514600"/>
            <a:ext cx="1737360" cy="914400"/>
          </a:xfrm>
          <a:prstGeom prst="roundRect">
            <a:avLst>
              <a:gd name="adj" fmla="val 12000"/>
            </a:avLst>
          </a:prstGeom>
          <a:solidFill>
            <a:srgbClr val="0F6CBD"/>
          </a:solidFill>
          <a:ln w="15875">
            <a:solidFill>
              <a:srgbClr val="0F6CBD"/>
            </a:solidFill>
          </a:ln>
          <a:effectLst/>
        </p:spPr>
        <p:txBody>
          <a:bodyPr rtlCol="0" anchor="ctr" wrap="square" lIns="73152" rIns="73152" tIns="43891" bIns="43891">
            <a:noAutofit/>
          </a:bodyPr>
          <a:lstStyle/>
          <a:p>
            <a:pPr algn="ctr"/>
            <a:r>
              <a:rPr sz="1600" b="1" i="0">
                <a:solidFill>
                  <a:srgbClr val="FFFFFF"/>
                </a:solidFill>
                <a:latin typeface="Calibri"/>
              </a:rPr>
              <a:t>Action</a:t>
            </a:r>
          </a:p>
          <a:p>
            <a:pPr algn="ctr"/>
            <a:r>
              <a:rPr sz="1600" b="1" i="0">
                <a:solidFill>
                  <a:srgbClr val="FFFFFF"/>
                </a:solidFill>
                <a:latin typeface="Calibri"/>
              </a:rPr>
              <a:t>executed</a:t>
            </a:r>
          </a:p>
        </p:txBody>
      </p:sp>
      <p:cxnSp>
        <p:nvCxnSpPr>
          <p:cNvPr id="13" name="Connector 12"/>
          <p:cNvCxnSpPr/>
          <p:nvPr/>
        </p:nvCxnSpPr>
        <p:spPr>
          <a:xfrm>
            <a:off x="6931152" y="2971800"/>
            <a:ext cx="347472" cy="0"/>
          </a:xfrm>
          <a:prstGeom prst="line">
            <a:avLst/>
          </a:prstGeom>
          <a:ln w="28575">
            <a:solidFill>
              <a:srgbClr val="0F6CBD"/>
            </a:solidFill>
            <a:tailEnd type="triangle" w="med" len="med"/>
          </a:ln>
        </p:spPr>
      </p:cxnSp>
      <p:cxnSp>
        <p:nvCxnSpPr>
          <p:cNvPr id="14" name="Connector 13"/>
          <p:cNvCxnSpPr/>
          <p:nvPr/>
        </p:nvCxnSpPr>
        <p:spPr>
          <a:xfrm>
            <a:off x="9363456" y="2971800"/>
            <a:ext cx="338328" cy="0"/>
          </a:xfrm>
          <a:prstGeom prst="line">
            <a:avLst/>
          </a:prstGeom>
          <a:ln w="28575">
            <a:solidFill>
              <a:srgbClr val="0F6CBD"/>
            </a:solidFill>
            <a:tailEnd type="triangle" w="med" len="med"/>
          </a:ln>
        </p:spPr>
      </p:cxnSp>
      <p:cxnSp>
        <p:nvCxnSpPr>
          <p:cNvPr id="15" name="Connector 14"/>
          <p:cNvCxnSpPr/>
          <p:nvPr/>
        </p:nvCxnSpPr>
        <p:spPr>
          <a:xfrm>
            <a:off x="8321040" y="3877056"/>
            <a:ext cx="0" cy="566928"/>
          </a:xfrm>
          <a:prstGeom prst="line">
            <a:avLst/>
          </a:prstGeom>
          <a:ln w="28575">
            <a:solidFill>
              <a:srgbClr val="C2620A"/>
            </a:solidFill>
            <a:tailEnd type="triangle" w="med" len="med"/>
          </a:ln>
        </p:spPr>
      </p:cxnSp>
      <p:sp>
        <p:nvSpPr>
          <p:cNvPr id="16" name="Blocked / flagged for review"/>
          <p:cNvSpPr/>
          <p:nvPr/>
        </p:nvSpPr>
        <p:spPr>
          <a:xfrm>
            <a:off x="7086600" y="4480560"/>
            <a:ext cx="2468880" cy="777240"/>
          </a:xfrm>
          <a:prstGeom prst="roundRect">
            <a:avLst>
              <a:gd name="adj" fmla="val 14117"/>
            </a:avLst>
          </a:prstGeom>
          <a:solidFill>
            <a:srgbClr val="FFF4E4"/>
          </a:solidFill>
          <a:ln w="15875">
            <a:solidFill>
              <a:srgbClr val="E8A855"/>
            </a:solidFill>
          </a:ln>
          <a:effectLst/>
        </p:spPr>
        <p:txBody>
          <a:bodyPr rtlCol="0" anchor="ctr" wrap="square" lIns="73152" rIns="73152" tIns="43891" bIns="43891">
            <a:noAutofit/>
          </a:bodyPr>
          <a:lstStyle/>
          <a:p>
            <a:pPr algn="ctr"/>
            <a:r>
              <a:rPr sz="1500" b="1" i="0">
                <a:solidFill>
                  <a:srgbClr val="16202F"/>
                </a:solidFill>
                <a:latin typeface="Calibri"/>
              </a:rPr>
              <a:t>Blocked / flagged</a:t>
            </a:r>
          </a:p>
          <a:p>
            <a:pPr algn="ctr"/>
            <a:r>
              <a:rPr sz="1500" b="1" i="0">
                <a:solidFill>
                  <a:srgbClr val="16202F"/>
                </a:solidFill>
                <a:latin typeface="Calibri"/>
              </a:rPr>
              <a:t>for review</a:t>
            </a:r>
          </a:p>
        </p:txBody>
      </p:sp>
      <p:sp>
        <p:nvSpPr>
          <p:cNvPr id="17" name="TextBox 16"/>
          <p:cNvSpPr txBox="1"/>
          <p:nvPr/>
        </p:nvSpPr>
        <p:spPr>
          <a:xfrm>
            <a:off x="5166360" y="5440680"/>
            <a:ext cx="6309360" cy="411480"/>
          </a:xfrm>
          <a:prstGeom prst="rect">
            <a:avLst/>
          </a:prstGeom>
          <a:noFill/>
        </p:spPr>
        <p:txBody>
          <a:bodyPr wrap="square" lIns="18288" rIns="18288" tIns="10973" bIns="10973" anchor="t">
            <a:noAutofit/>
          </a:bodyPr>
          <a:lstStyle/>
          <a:p>
            <a:pPr algn="ctr"/>
            <a:r>
              <a:rPr sz="1400" b="0" i="1">
                <a:solidFill>
                  <a:srgbClr val="53617A"/>
                </a:solidFill>
                <a:latin typeface="Calibri"/>
              </a:rPr>
              <a:t>High-impact actions: ask a person to confirm first</a:t>
            </a:r>
          </a:p>
        </p:txBody>
      </p:sp>
      <p:sp>
        <p:nvSpPr>
          <p:cNvPr id="18" name="Freeform 17"/>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19"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DeckFM · AI enablement · Practitioner</a:t>
            </a:r>
          </a:p>
        </p:txBody>
      </p:sp>
      <p:sp>
        <p:nvSpPr>
          <p:cNvPr id="20"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A reference architecture, end to end</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PRACTITIONER · ARCHITECTURE</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Voice in, text out, voice back</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Harness orchestrates model and tools</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MCP connects an ecosystem of tools</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Evaluation wraps the whole loop</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evaluation frame"/>
          <p:cNvSpPr/>
          <p:nvPr/>
        </p:nvSpPr>
        <p:spPr>
          <a:xfrm>
            <a:off x="5074920" y="1920240"/>
            <a:ext cx="6492240" cy="4005072"/>
          </a:xfrm>
          <a:prstGeom prst="roundRect">
            <a:avLst>
              <a:gd name="adj" fmla="val 3652"/>
            </a:avLst>
          </a:prstGeom>
          <a:noFill/>
          <a:ln w="19050">
            <a:solidFill>
              <a:srgbClr val="53617A"/>
            </a:solidFill>
            <a:prstDash val="dash"/>
          </a:ln>
          <a:effectLst/>
        </p:spPr>
        <p:txBody>
          <a:bodyPr rtlCol="0" anchor="ctr"/>
          <a:lstStyle/>
          <a:p>
            <a:pPr algn="ctr"/>
          </a:p>
        </p:txBody>
      </p:sp>
      <p:sp>
        <p:nvSpPr>
          <p:cNvPr id="7" name="TextBox 6"/>
          <p:cNvSpPr txBox="1"/>
          <p:nvPr/>
        </p:nvSpPr>
        <p:spPr>
          <a:xfrm>
            <a:off x="5257800" y="1984248"/>
            <a:ext cx="6126480" cy="365760"/>
          </a:xfrm>
          <a:prstGeom prst="rect">
            <a:avLst/>
          </a:prstGeom>
          <a:noFill/>
        </p:spPr>
        <p:txBody>
          <a:bodyPr wrap="square" lIns="18288" rIns="18288" tIns="10973" bIns="10973" anchor="t">
            <a:noAutofit/>
          </a:bodyPr>
          <a:lstStyle/>
          <a:p>
            <a:pPr algn="l"/>
            <a:r>
              <a:rPr sz="1500" b="1" i="0">
                <a:solidFill>
                  <a:srgbClr val="0F6CBD"/>
                </a:solidFill>
                <a:latin typeface="Calibri"/>
              </a:rPr>
              <a:t>Evaluation &amp; observability</a:t>
            </a:r>
          </a:p>
        </p:txBody>
      </p:sp>
      <p:sp>
        <p:nvSpPr>
          <p:cNvPr id="8" name="User (voice)"/>
          <p:cNvSpPr/>
          <p:nvPr/>
        </p:nvSpPr>
        <p:spPr>
          <a:xfrm>
            <a:off x="5257800" y="2514600"/>
            <a:ext cx="1143000" cy="960120"/>
          </a:xfrm>
          <a:prstGeom prst="roundRect">
            <a:avLst>
              <a:gd name="adj" fmla="val 11428"/>
            </a:avLst>
          </a:prstGeom>
          <a:solidFill>
            <a:srgbClr val="FFFFFF"/>
          </a:solidFill>
          <a:ln w="15875">
            <a:solidFill>
              <a:srgbClr val="B8C4D6"/>
            </a:solidFill>
          </a:ln>
          <a:effectLst/>
        </p:spPr>
        <p:txBody>
          <a:bodyPr rtlCol="0" anchor="ctr" wrap="square" lIns="36576" rIns="36576" tIns="21946" bIns="21946">
            <a:noAutofit/>
          </a:bodyPr>
          <a:lstStyle/>
          <a:p>
            <a:pPr algn="ctr"/>
            <a:r>
              <a:rPr sz="1400" b="1" i="0">
                <a:solidFill>
                  <a:srgbClr val="16202F"/>
                </a:solidFill>
                <a:latin typeface="Calibri"/>
              </a:rPr>
              <a:t>User</a:t>
            </a:r>
          </a:p>
          <a:p>
            <a:pPr algn="ctr"/>
            <a:r>
              <a:rPr sz="1400" b="1" i="0">
                <a:solidFill>
                  <a:srgbClr val="16202F"/>
                </a:solidFill>
                <a:latin typeface="Calibri"/>
              </a:rPr>
              <a:t>(voice)</a:t>
            </a:r>
          </a:p>
        </p:txBody>
      </p:sp>
      <p:sp>
        <p:nvSpPr>
          <p:cNvPr id="9" name="Speech stack"/>
          <p:cNvSpPr/>
          <p:nvPr/>
        </p:nvSpPr>
        <p:spPr>
          <a:xfrm>
            <a:off x="6766560" y="2514600"/>
            <a:ext cx="1280160" cy="960120"/>
          </a:xfrm>
          <a:prstGeom prst="roundRect">
            <a:avLst>
              <a:gd name="adj" fmla="val 11428"/>
            </a:avLst>
          </a:prstGeom>
          <a:solidFill>
            <a:srgbClr val="EAF3FC"/>
          </a:solidFill>
          <a:ln w="15875">
            <a:solidFill>
              <a:srgbClr val="8DBBE6"/>
            </a:solidFill>
          </a:ln>
          <a:effectLst/>
        </p:spPr>
        <p:txBody>
          <a:bodyPr rtlCol="0" anchor="ctr" wrap="square" lIns="36576" rIns="36576" tIns="21946" bIns="21946">
            <a:noAutofit/>
          </a:bodyPr>
          <a:lstStyle/>
          <a:p>
            <a:pPr algn="ctr"/>
            <a:r>
              <a:rPr sz="1400" b="1" i="0">
                <a:solidFill>
                  <a:srgbClr val="16202F"/>
                </a:solidFill>
                <a:latin typeface="Calibri"/>
              </a:rPr>
              <a:t>Speech</a:t>
            </a:r>
          </a:p>
          <a:p>
            <a:pPr algn="ctr"/>
            <a:r>
              <a:rPr sz="1400" b="1" i="0">
                <a:solidFill>
                  <a:srgbClr val="16202F"/>
                </a:solidFill>
                <a:latin typeface="Calibri"/>
              </a:rPr>
              <a:t>stack</a:t>
            </a:r>
          </a:p>
        </p:txBody>
      </p:sp>
      <p:sp>
        <p:nvSpPr>
          <p:cNvPr id="10" name="Agent harness loop + guardrails"/>
          <p:cNvSpPr/>
          <p:nvPr/>
        </p:nvSpPr>
        <p:spPr>
          <a:xfrm>
            <a:off x="8412480" y="2514600"/>
            <a:ext cx="1600200" cy="960120"/>
          </a:xfrm>
          <a:prstGeom prst="roundRect">
            <a:avLst>
              <a:gd name="adj" fmla="val 11428"/>
            </a:avLst>
          </a:prstGeom>
          <a:solidFill>
            <a:srgbClr val="0F6CBD"/>
          </a:solidFill>
          <a:ln w="15875">
            <a:solidFill>
              <a:srgbClr val="0F6CBD"/>
            </a:solidFill>
          </a:ln>
          <a:effectLst/>
        </p:spPr>
        <p:txBody>
          <a:bodyPr rtlCol="0" anchor="ctr" wrap="square" lIns="36576" rIns="36576" tIns="21946" bIns="21946">
            <a:noAutofit/>
          </a:bodyPr>
          <a:lstStyle/>
          <a:p>
            <a:pPr algn="ctr"/>
            <a:r>
              <a:rPr sz="1400" b="1" i="0">
                <a:solidFill>
                  <a:srgbClr val="FFFFFF"/>
                </a:solidFill>
                <a:latin typeface="Calibri"/>
              </a:rPr>
              <a:t>Agent harness</a:t>
            </a:r>
          </a:p>
          <a:p>
            <a:pPr algn="ctr"/>
            <a:r>
              <a:rPr sz="1400" b="1" i="0">
                <a:solidFill>
                  <a:srgbClr val="FFFFFF"/>
                </a:solidFill>
                <a:latin typeface="Calibri"/>
              </a:rPr>
              <a:t>loop + guardrails</a:t>
            </a:r>
          </a:p>
        </p:txBody>
      </p:sp>
      <p:sp>
        <p:nvSpPr>
          <p:cNvPr id="11" name="Model"/>
          <p:cNvSpPr/>
          <p:nvPr/>
        </p:nvSpPr>
        <p:spPr>
          <a:xfrm>
            <a:off x="10378440" y="2514600"/>
            <a:ext cx="1005840" cy="960120"/>
          </a:xfrm>
          <a:prstGeom prst="roundRect">
            <a:avLst>
              <a:gd name="adj" fmla="val 11428"/>
            </a:avLst>
          </a:prstGeom>
          <a:solidFill>
            <a:srgbClr val="EAF3FC"/>
          </a:solidFill>
          <a:ln w="15875">
            <a:solidFill>
              <a:srgbClr val="8DBBE6"/>
            </a:solidFill>
          </a:ln>
          <a:effectLst/>
        </p:spPr>
        <p:txBody>
          <a:bodyPr rtlCol="0" anchor="ctr" wrap="square" lIns="36576" rIns="36576" tIns="21946" bIns="21946">
            <a:noAutofit/>
          </a:bodyPr>
          <a:lstStyle/>
          <a:p>
            <a:pPr algn="ctr"/>
            <a:r>
              <a:rPr sz="1400" b="1" i="0">
                <a:solidFill>
                  <a:srgbClr val="16202F"/>
                </a:solidFill>
                <a:latin typeface="Calibri"/>
              </a:rPr>
              <a:t>Model</a:t>
            </a:r>
          </a:p>
        </p:txBody>
      </p:sp>
      <p:cxnSp>
        <p:nvCxnSpPr>
          <p:cNvPr id="12" name="Connector 11"/>
          <p:cNvCxnSpPr/>
          <p:nvPr/>
        </p:nvCxnSpPr>
        <p:spPr>
          <a:xfrm>
            <a:off x="6428232" y="2834640"/>
            <a:ext cx="310896" cy="0"/>
          </a:xfrm>
          <a:prstGeom prst="line">
            <a:avLst/>
          </a:prstGeom>
          <a:ln w="22225">
            <a:solidFill>
              <a:srgbClr val="0F6CBD"/>
            </a:solidFill>
            <a:tailEnd type="triangle" w="med" len="med"/>
          </a:ln>
        </p:spPr>
      </p:cxnSp>
      <p:cxnSp>
        <p:nvCxnSpPr>
          <p:cNvPr id="13" name="Connector 12"/>
          <p:cNvCxnSpPr/>
          <p:nvPr/>
        </p:nvCxnSpPr>
        <p:spPr>
          <a:xfrm>
            <a:off x="8074152" y="2834640"/>
            <a:ext cx="310896" cy="0"/>
          </a:xfrm>
          <a:prstGeom prst="line">
            <a:avLst/>
          </a:prstGeom>
          <a:ln w="22225">
            <a:solidFill>
              <a:srgbClr val="0F6CBD"/>
            </a:solidFill>
            <a:tailEnd type="triangle" w="med" len="med"/>
          </a:ln>
        </p:spPr>
      </p:cxnSp>
      <p:cxnSp>
        <p:nvCxnSpPr>
          <p:cNvPr id="14" name="Connector 13"/>
          <p:cNvCxnSpPr/>
          <p:nvPr/>
        </p:nvCxnSpPr>
        <p:spPr>
          <a:xfrm>
            <a:off x="10040112" y="2834640"/>
            <a:ext cx="310896" cy="0"/>
          </a:xfrm>
          <a:prstGeom prst="line">
            <a:avLst/>
          </a:prstGeom>
          <a:ln w="22225">
            <a:solidFill>
              <a:srgbClr val="0F6CBD"/>
            </a:solidFill>
            <a:tailEnd type="triangle" w="med" len="med"/>
          </a:ln>
        </p:spPr>
      </p:cxnSp>
      <p:cxnSp>
        <p:nvCxnSpPr>
          <p:cNvPr id="15" name="Connector 14"/>
          <p:cNvCxnSpPr/>
          <p:nvPr/>
        </p:nvCxnSpPr>
        <p:spPr>
          <a:xfrm flipH="1">
            <a:off x="10040112" y="3200400"/>
            <a:ext cx="310896" cy="0"/>
          </a:xfrm>
          <a:prstGeom prst="line">
            <a:avLst/>
          </a:prstGeom>
          <a:ln w="22225">
            <a:solidFill>
              <a:srgbClr val="0F6CBD"/>
            </a:solidFill>
            <a:tailEnd type="triangle" w="med" len="med"/>
          </a:ln>
        </p:spPr>
      </p:cxnSp>
      <p:sp>
        <p:nvSpPr>
          <p:cNvPr id="16" name="Freeform 15"/>
          <p:cNvSpPr/>
          <p:nvPr/>
        </p:nvSpPr>
        <p:spPr>
          <a:xfrm>
            <a:off x="5829300" y="3493008"/>
            <a:ext cx="2948940" cy="484632"/>
          </a:xfrm>
          <a:custGeom>
            <a:avLst/>
            <a:gdLst/>
            <a:ahLst/>
            <a:cxnLst/>
            <a:rect l="l" t="t" r="r" b="b"/>
            <a:pathLst>
              <a:path w="2948940" h="484632">
                <a:moveTo>
                  <a:pt x="2948940" y="0"/>
                </a:moveTo>
                <a:lnTo>
                  <a:pt x="2948940" y="484632"/>
                </a:lnTo>
                <a:lnTo>
                  <a:pt x="0" y="484632"/>
                </a:lnTo>
                <a:lnTo>
                  <a:pt x="0" y="27432"/>
                </a:lnTo>
              </a:path>
            </a:pathLst>
          </a:custGeom>
          <a:noFill/>
          <a:ln w="25400">
            <a:solidFill>
              <a:srgbClr val="C2620A"/>
            </a:solidFill>
            <a:tailEnd type="triangle" w="med" len="med"/>
          </a:ln>
          <a:effectLst/>
        </p:spPr>
        <p:txBody>
          <a:bodyPr rtlCol="0" anchor="ctr"/>
          <a:lstStyle/>
          <a:p>
            <a:pPr algn="ctr"/>
          </a:p>
        </p:txBody>
      </p:sp>
      <p:sp>
        <p:nvSpPr>
          <p:cNvPr id="17" name="TextBox 16"/>
          <p:cNvSpPr txBox="1"/>
          <p:nvPr/>
        </p:nvSpPr>
        <p:spPr>
          <a:xfrm>
            <a:off x="6309360" y="4023360"/>
            <a:ext cx="2377440" cy="320040"/>
          </a:xfrm>
          <a:prstGeom prst="rect">
            <a:avLst/>
          </a:prstGeom>
          <a:noFill/>
        </p:spPr>
        <p:txBody>
          <a:bodyPr wrap="square" lIns="18288" rIns="18288" tIns="10973" bIns="10973" anchor="t">
            <a:noAutofit/>
          </a:bodyPr>
          <a:lstStyle/>
          <a:p>
            <a:pPr algn="ctr"/>
            <a:r>
              <a:rPr sz="1200" b="0" i="1">
                <a:solidFill>
                  <a:srgbClr val="C2620A"/>
                </a:solidFill>
                <a:latin typeface="Calibri"/>
              </a:rPr>
              <a:t>voice reply (optional avatar)</a:t>
            </a:r>
          </a:p>
        </p:txBody>
      </p:sp>
      <p:sp>
        <p:nvSpPr>
          <p:cNvPr id="18" name="MCP tools"/>
          <p:cNvSpPr/>
          <p:nvPr/>
        </p:nvSpPr>
        <p:spPr>
          <a:xfrm>
            <a:off x="8732520" y="4617720"/>
            <a:ext cx="2011680" cy="777240"/>
          </a:xfrm>
          <a:prstGeom prst="roundRect">
            <a:avLst>
              <a:gd name="adj" fmla="val 14117"/>
            </a:avLst>
          </a:prstGeom>
          <a:solidFill>
            <a:srgbClr val="FFF4E4"/>
          </a:solidFill>
          <a:ln w="15875">
            <a:solidFill>
              <a:srgbClr val="E8A855"/>
            </a:solidFill>
          </a:ln>
          <a:effectLst/>
        </p:spPr>
        <p:txBody>
          <a:bodyPr rtlCol="0" anchor="ctr" wrap="square" lIns="73152" rIns="73152" tIns="43891" bIns="43891">
            <a:noAutofit/>
          </a:bodyPr>
          <a:lstStyle/>
          <a:p>
            <a:pPr algn="ctr"/>
            <a:r>
              <a:rPr sz="1500" b="1" i="0">
                <a:solidFill>
                  <a:srgbClr val="16202F"/>
                </a:solidFill>
                <a:latin typeface="Calibri"/>
              </a:rPr>
              <a:t>MCP tools</a:t>
            </a:r>
          </a:p>
        </p:txBody>
      </p:sp>
      <p:cxnSp>
        <p:nvCxnSpPr>
          <p:cNvPr id="19" name="Connector 18"/>
          <p:cNvCxnSpPr/>
          <p:nvPr/>
        </p:nvCxnSpPr>
        <p:spPr>
          <a:xfrm>
            <a:off x="9464040" y="3502152"/>
            <a:ext cx="0" cy="1078992"/>
          </a:xfrm>
          <a:prstGeom prst="line">
            <a:avLst/>
          </a:prstGeom>
          <a:ln w="22225">
            <a:solidFill>
              <a:srgbClr val="0F6CBD"/>
            </a:solidFill>
            <a:tailEnd type="triangle" w="med" len="med"/>
          </a:ln>
        </p:spPr>
      </p:cxnSp>
      <p:cxnSp>
        <p:nvCxnSpPr>
          <p:cNvPr id="20" name="Connector 19"/>
          <p:cNvCxnSpPr/>
          <p:nvPr/>
        </p:nvCxnSpPr>
        <p:spPr>
          <a:xfrm flipV="1">
            <a:off x="10012680" y="3502152"/>
            <a:ext cx="0" cy="1078992"/>
          </a:xfrm>
          <a:prstGeom prst="line">
            <a:avLst/>
          </a:prstGeom>
          <a:ln w="22225">
            <a:solidFill>
              <a:srgbClr val="0F6CBD"/>
            </a:solidFill>
            <a:tailEnd type="triangle" w="med" len="med"/>
          </a:ln>
        </p:spPr>
      </p:cxnSp>
      <p:sp>
        <p:nvSpPr>
          <p:cNvPr id="21" name="Freeform 20"/>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22"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DeckFM · AI enablement · Practitioner</a:t>
            </a:r>
          </a:p>
        </p:txBody>
      </p:sp>
      <p:sp>
        <p:nvSpPr>
          <p:cNvPr id="23"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676656"/>
            <a:ext cx="11186160" cy="1005840"/>
          </a:xfrm>
        </p:spPr>
        <p:txBody>
          <a:bodyPr wrap="square" lIns="18288" rIns="18288" tIns="10973" bIns="10973" anchor="t">
            <a:noAutofit/>
          </a:bodyPr>
          <a:lstStyle/>
          <a:p>
            <a:pPr algn="l">
              <a:lnSpc>
                <a:spcPct val="95000"/>
              </a:lnSpc>
            </a:pPr>
            <a:r>
              <a:rPr sz="3000" b="1" i="0">
                <a:solidFill>
                  <a:srgbClr val="16202F"/>
                </a:solidFill>
                <a:latin typeface="Calibri"/>
              </a:rPr>
              <a:t>Recap and next steps</a:t>
            </a:r>
          </a:p>
        </p:txBody>
      </p:sp>
      <p:sp>
        <p:nvSpPr>
          <p:cNvPr id="3" name="eyebrow"/>
          <p:cNvSpPr txBox="1"/>
          <p:nvPr/>
        </p:nvSpPr>
        <p:spPr>
          <a:xfrm>
            <a:off x="502920" y="384048"/>
            <a:ext cx="9144000" cy="292608"/>
          </a:xfrm>
          <a:prstGeom prst="rect">
            <a:avLst/>
          </a:prstGeom>
          <a:noFill/>
        </p:spPr>
        <p:txBody>
          <a:bodyPr wrap="square" lIns="18288" rIns="18288" tIns="10973" bIns="10973" anchor="t">
            <a:noAutofit/>
          </a:bodyPr>
          <a:lstStyle/>
          <a:p>
            <a:pPr algn="l"/>
            <a:r>
              <a:rPr sz="1200" b="1" i="0" spc="150">
                <a:solidFill>
                  <a:srgbClr val="0F6CBD"/>
                </a:solidFill>
                <a:latin typeface="Calibri"/>
              </a:rPr>
              <a:t>PRACTITIONER · RECAP</a:t>
            </a:r>
          </a:p>
        </p:txBody>
      </p:sp>
      <p:sp>
        <p:nvSpPr>
          <p:cNvPr id="4" name="bullets"/>
          <p:cNvSpPr txBox="1"/>
          <p:nvPr/>
        </p:nvSpPr>
        <p:spPr>
          <a:xfrm>
            <a:off x="502920" y="1920240"/>
            <a:ext cx="4114800" cy="4114800"/>
          </a:xfrm>
          <a:prstGeom prst="rect">
            <a:avLst/>
          </a:prstGeom>
          <a:noFill/>
        </p:spPr>
        <p:txBody>
          <a:bodyPr wrap="square" lIns="18288" rIns="18288" tIns="10973" bIns="10973" anchor="t">
            <a:noAutofit/>
          </a:bodyPr>
          <a:lstStyle/>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Pick models per task, not once</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Engineer context like a scarce resource</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Build the harness, then the eval loop</a:t>
            </a:r>
          </a:p>
          <a:p>
            <a:pPr algn="l" marL="274320" indent="-274320">
              <a:lnSpc>
                <a:spcPct val="105000"/>
              </a:lnSpc>
              <a:spcAft>
                <a:spcPts val="1400"/>
              </a:spcAft>
              <a:buClr>
                <a:srgbClr val="0F6CBD"/>
              </a:buClr>
              <a:buSzPct val="100000"/>
              <a:buFont typeface="Arial"/>
              <a:buChar char="•"/>
            </a:pPr>
            <a:r>
              <a:rPr sz="1900" b="0" i="0">
                <a:solidFill>
                  <a:srgbClr val="16202F"/>
                </a:solidFill>
                <a:latin typeface="Calibri"/>
              </a:rPr>
              <a:t>Next deck: Under the Hood (expert)</a:t>
            </a:r>
          </a:p>
        </p:txBody>
      </p:sp>
      <p:sp>
        <p:nvSpPr>
          <p:cNvPr id="5" name="diagram panel"/>
          <p:cNvSpPr/>
          <p:nvPr/>
        </p:nvSpPr>
        <p:spPr>
          <a:xfrm>
            <a:off x="4892040" y="1783080"/>
            <a:ext cx="6793992" cy="4297680"/>
          </a:xfrm>
          <a:prstGeom prst="roundRect">
            <a:avLst>
              <a:gd name="adj" fmla="val 3829"/>
            </a:avLst>
          </a:prstGeom>
          <a:solidFill>
            <a:srgbClr val="F7F9FC"/>
          </a:solidFill>
          <a:ln w="15875">
            <a:solidFill>
              <a:srgbClr val="E2E8F2"/>
            </a:solidFill>
          </a:ln>
          <a:effectLst/>
        </p:spPr>
        <p:txBody>
          <a:bodyPr rtlCol="0" anchor="ctr"/>
          <a:lstStyle/>
          <a:p>
            <a:pPr algn="ctr"/>
          </a:p>
        </p:txBody>
      </p:sp>
      <p:sp>
        <p:nvSpPr>
          <p:cNvPr id="6" name="You are here"/>
          <p:cNvSpPr/>
          <p:nvPr/>
        </p:nvSpPr>
        <p:spPr>
          <a:xfrm>
            <a:off x="5303520" y="2788920"/>
            <a:ext cx="2194560" cy="1280160"/>
          </a:xfrm>
          <a:prstGeom prst="roundRect">
            <a:avLst>
              <a:gd name="adj" fmla="val 8571"/>
            </a:avLst>
          </a:prstGeom>
          <a:solidFill>
            <a:srgbClr val="FFFFFF"/>
          </a:solidFill>
          <a:ln w="15875">
            <a:solidFill>
              <a:srgbClr val="B8C4D6"/>
            </a:solidFill>
          </a:ln>
          <a:effectLst/>
        </p:spPr>
        <p:txBody>
          <a:bodyPr rtlCol="0" anchor="ctr" wrap="square" lIns="73152" rIns="73152" tIns="43891" bIns="43891">
            <a:noAutofit/>
          </a:bodyPr>
          <a:lstStyle/>
          <a:p>
            <a:pPr algn="ctr"/>
            <a:r>
              <a:rPr sz="1700" b="1" i="0">
                <a:solidFill>
                  <a:srgbClr val="16202F"/>
                </a:solidFill>
                <a:latin typeface="Calibri"/>
              </a:rPr>
              <a:t>You are here</a:t>
            </a:r>
          </a:p>
          <a:p>
            <a:pPr algn="ctr"/>
            <a:r>
              <a:rPr sz="1300" b="0" i="0">
                <a:solidFill>
                  <a:srgbClr val="53617A"/>
                </a:solidFill>
                <a:latin typeface="Calibri"/>
              </a:rPr>
              <a:t>Practitioner</a:t>
            </a:r>
          </a:p>
        </p:txBody>
      </p:sp>
      <p:sp>
        <p:nvSpPr>
          <p:cNvPr id="7" name="next arrow"/>
          <p:cNvSpPr/>
          <p:nvPr/>
        </p:nvSpPr>
        <p:spPr>
          <a:xfrm>
            <a:off x="7726680" y="3090672"/>
            <a:ext cx="914400" cy="685800"/>
          </a:xfrm>
          <a:prstGeom prst="rightArrow">
            <a:avLst/>
          </a:prstGeom>
          <a:solidFill>
            <a:srgbClr val="0F6CBD"/>
          </a:solidFill>
          <a:ln w="15875">
            <a:solidFill>
              <a:srgbClr val="B8C4D6"/>
            </a:solidFill>
          </a:ln>
          <a:effectLst/>
        </p:spPr>
        <p:txBody>
          <a:bodyPr rtlCol="0" anchor="ctr"/>
          <a:lstStyle/>
          <a:p>
            <a:pPr algn="ctr"/>
          </a:p>
        </p:txBody>
      </p:sp>
      <p:sp>
        <p:nvSpPr>
          <p:cNvPr id="8" name="Expert deck: Under the Hood"/>
          <p:cNvSpPr/>
          <p:nvPr/>
        </p:nvSpPr>
        <p:spPr>
          <a:xfrm>
            <a:off x="8869680" y="2331720"/>
            <a:ext cx="2606040" cy="2194560"/>
          </a:xfrm>
          <a:prstGeom prst="roundRect">
            <a:avLst>
              <a:gd name="adj" fmla="val 5000"/>
            </a:avLst>
          </a:prstGeom>
          <a:solidFill>
            <a:srgbClr val="0F6CBD"/>
          </a:solidFill>
          <a:ln w="15875">
            <a:solidFill>
              <a:srgbClr val="0F6CBD"/>
            </a:solidFill>
          </a:ln>
          <a:effectLst/>
        </p:spPr>
        <p:txBody>
          <a:bodyPr rtlCol="0" anchor="ctr" wrap="square" lIns="73152" rIns="73152" tIns="43891" bIns="43891">
            <a:noAutofit/>
          </a:bodyPr>
          <a:lstStyle/>
          <a:p>
            <a:pPr algn="ctr"/>
            <a:r>
              <a:rPr sz="1900" b="1" i="0">
                <a:solidFill>
                  <a:srgbClr val="FFFFFF"/>
                </a:solidFill>
                <a:latin typeface="Calibri"/>
              </a:rPr>
              <a:t>Expert deck:</a:t>
            </a:r>
          </a:p>
          <a:p>
            <a:pPr algn="ctr"/>
            <a:r>
              <a:rPr sz="1900" b="1" i="0">
                <a:solidFill>
                  <a:srgbClr val="FFFFFF"/>
                </a:solidFill>
                <a:latin typeface="Calibri"/>
              </a:rPr>
              <a:t>Under the Hood</a:t>
            </a:r>
          </a:p>
          <a:p>
            <a:pPr algn="ctr"/>
            <a:r>
              <a:rPr sz="1300" b="0" i="0">
                <a:solidFill>
                  <a:srgbClr val="FFFFFF"/>
                </a:solidFill>
                <a:latin typeface="Calibri"/>
              </a:rPr>
              <a:t>tokenization · attention</a:t>
            </a:r>
          </a:p>
          <a:p>
            <a:pPr algn="ctr"/>
            <a:r>
              <a:rPr sz="1300" b="0" i="0">
                <a:solidFill>
                  <a:srgbClr val="FFFFFF"/>
                </a:solidFill>
                <a:latin typeface="Calibri"/>
              </a:rPr>
              <a:t>quantization · security</a:t>
            </a:r>
          </a:p>
        </p:txBody>
      </p:sp>
      <p:sp>
        <p:nvSpPr>
          <p:cNvPr id="9" name="Start small: one model, two tools, a basic eval set"/>
          <p:cNvSpPr/>
          <p:nvPr/>
        </p:nvSpPr>
        <p:spPr>
          <a:xfrm>
            <a:off x="5166360" y="5074920"/>
            <a:ext cx="6245352" cy="475488"/>
          </a:xfrm>
          <a:prstGeom prst="roundRect">
            <a:avLst>
              <a:gd name="adj" fmla="val 19230"/>
            </a:avLst>
          </a:prstGeom>
          <a:solidFill>
            <a:srgbClr val="FFF4E4"/>
          </a:solidFill>
          <a:ln w="15875">
            <a:solidFill>
              <a:srgbClr val="E8A855"/>
            </a:solidFill>
          </a:ln>
          <a:effectLst/>
        </p:spPr>
        <p:txBody>
          <a:bodyPr rtlCol="0" anchor="ctr" wrap="square" lIns="73152" rIns="73152" tIns="43891" bIns="43891">
            <a:noAutofit/>
          </a:bodyPr>
          <a:lstStyle/>
          <a:p>
            <a:pPr algn="ctr"/>
            <a:r>
              <a:rPr sz="1500" b="1" i="0">
                <a:solidFill>
                  <a:srgbClr val="16202F"/>
                </a:solidFill>
                <a:latin typeface="Calibri"/>
              </a:rPr>
              <a:t>Start small: one model, two tools, a basic eval set</a:t>
            </a:r>
          </a:p>
        </p:txBody>
      </p:sp>
      <p:sp>
        <p:nvSpPr>
          <p:cNvPr id="10" name="Freeform 9"/>
          <p:cNvSpPr/>
          <p:nvPr/>
        </p:nvSpPr>
        <p:spPr>
          <a:xfrm>
            <a:off x="502920" y="6272784"/>
            <a:ext cx="11186160" cy="0"/>
          </a:xfrm>
          <a:custGeom>
            <a:avLst/>
            <a:gdLst/>
            <a:ahLst/>
            <a:cxnLst/>
            <a:rect l="l" t="t" r="r" b="b"/>
            <a:pathLst>
              <a:path w="11186160" h="0">
                <a:moveTo>
                  <a:pt x="0" y="0"/>
                </a:moveTo>
                <a:lnTo>
                  <a:pt x="11186160" y="0"/>
                </a:lnTo>
              </a:path>
            </a:pathLst>
          </a:custGeom>
          <a:noFill/>
          <a:ln w="12700">
            <a:solidFill>
              <a:srgbClr val="E2E8F2"/>
            </a:solidFill>
          </a:ln>
          <a:effectLst/>
        </p:spPr>
        <p:txBody>
          <a:bodyPr rtlCol="0" anchor="ctr"/>
          <a:lstStyle/>
          <a:p>
            <a:pPr algn="ctr"/>
          </a:p>
        </p:txBody>
      </p:sp>
      <p:sp>
        <p:nvSpPr>
          <p:cNvPr id="11" name="footer"/>
          <p:cNvSpPr txBox="1"/>
          <p:nvPr/>
        </p:nvSpPr>
        <p:spPr>
          <a:xfrm>
            <a:off x="502920" y="6327648"/>
            <a:ext cx="7315200" cy="320040"/>
          </a:xfrm>
          <a:prstGeom prst="rect">
            <a:avLst/>
          </a:prstGeom>
          <a:noFill/>
        </p:spPr>
        <p:txBody>
          <a:bodyPr wrap="square" lIns="18288" rIns="18288" tIns="10973" bIns="10973" anchor="t">
            <a:noAutofit/>
          </a:bodyPr>
          <a:lstStyle/>
          <a:p>
            <a:pPr algn="l"/>
            <a:r>
              <a:rPr sz="1100" b="0" i="0">
                <a:solidFill>
                  <a:srgbClr val="53617A"/>
                </a:solidFill>
                <a:latin typeface="Calibri"/>
              </a:rPr>
              <a:t>DeckFM · AI enablement · Practitioner</a:t>
            </a:r>
          </a:p>
        </p:txBody>
      </p:sp>
      <p:sp>
        <p:nvSpPr>
          <p:cNvPr id="12" name="slide number"/>
          <p:cNvSpPr txBox="1"/>
          <p:nvPr/>
        </p:nvSpPr>
        <p:spPr>
          <a:xfrm>
            <a:off x="9860280" y="6327648"/>
            <a:ext cx="1828800" cy="320040"/>
          </a:xfrm>
          <a:prstGeom prst="rect">
            <a:avLst/>
          </a:prstGeom>
          <a:noFill/>
        </p:spPr>
        <p:txBody>
          <a:bodyPr wrap="square" lIns="18288" rIns="18288" tIns="10973" bIns="10973" anchor="t">
            <a:noAutofit/>
          </a:bodyPr>
          <a:lstStyle/>
          <a:p>
            <a:pPr algn="r"/>
            <a:r>
              <a:rPr sz="1100" b="0" i="0">
                <a:solidFill>
                  <a:srgbClr val="53617A"/>
                </a:solidFill>
                <a:latin typeface="Calibri"/>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enablement 2 — Practitioner: Building with AI</dc:title>
  <dc:subject>DeckFM AI enablement series</dc:subject>
  <dc:creator>DeckFM</dc:creator>
  <cp:keywords>AI enablement; DeckFM; Practitioner</cp:keywords>
  <dc:description>Generated by scripts/generate_ai_enablement_pptx.py</dc:description>
  <cp:lastModifiedBy>DeckFM</cp:lastModifiedBy>
  <cp:revision>1</cp:revision>
  <dcterms:created xsi:type="dcterms:W3CDTF">2026-10-01T09:00:00Z</dcterms:created>
  <dcterms:modified xsi:type="dcterms:W3CDTF">2026-10-01T09:00:00Z</dcterms:modified>
  <cp:category/>
  <cp:lastPrinted>2026-10-01T09:00:00Z</cp:lastPrinted>
</cp:coreProperties>
</file>