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and welcome. Over the next few minutes, I am going to walk you through the ideas behind modern artificial intelligence in plain language, without any coding or mathematics. By the end, you will understand what a model actually is, what people mean when they talk about an agent, and how the voice you are listening to right now works. I am, in fact, a live example of several of these ideas working together: a language model choosing words, a speech system turning text into sound, and an avatar bringing it to life on screen. Treat every slide as one small, friendly piece of a bigger picture, and feel free to keep your questions for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a model, really? Think of it as a very large pattern finder. During training, it is shown enormous amounts of text or other examples, and it gradually learns statistical patterns in how those examples go together: which words tend to follow which other words, and so on. It does not store facts the way a database does. Instead, when you give it a new question, it predicts the most likely continuation based on everything it absorbed during training. That is why a model can sometimes sound confident and still be wrong, and why checking its answers against a trustworthy source remains a good habit, especially for anything that really matters.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Within AI, you will often hear two related terms: large language models and small language models. Both learn patterns from text, but they differ in size and the resources needed to run them. Large language models generally offer broader knowledge and stronger reasoning across varied tasks, but they need more computing power and can be slower or costlier to run. Small language models are more compact. They are cheaper to operate, can often run on a laptop or even a phone, and work well for focused tasks like summarizing one document or answering questions about a single topic. Neither is simply better; the right choice depends on what you are trying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models are built, or configured, to spend extra computation thinking before they answer, rather than producing the first plausible response immediately. These are often called reasoning models. Conceptually, you can picture them working through a problem in stages internally, checking different angles before committing to a final answer, somewhat like a person pausing to work through a tricky puzzle instead of blurting out a guess. This extra step tends to help with multi-stage problems, such as planning or debugging, where getting an early step wrong would derail everything after it. The trade-off is that this extra thinking takes more time and more computing resources, so reasoning models are usually reserved for harder problems rather than everyday quick questions.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type a question, that text is called a prompt. Before the model can process it, your prompt is broken into small chunks called tokens, which might be whole words, parts of words, or punctuation. The model reads and writes one token at a time. Every model also has a context window, the maximum number of tokens it can consider at once, covering your prompt, any earlier conversation, and its own reply. If a conversation grows longer than that window, older parts have to be dropped or summarized, so the model can genuinely forget earlier details in a long chat. Understanding this helps explain why being clear and concise in a prompt usually gets better 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its own, a language model only produces text. An agent is what you get when you connect that model to tools, such as a calculator, a search engine, or a company database, and let it decide when to use them. A simple agent works in a loop: it thinks about what to do next, acts by calling a tool, observes the result, and then decides whether it is done or needs another step. This loop can repeat several times before the agent gives you a final answer. That is the key difference between a chatbot that only talks and an agent that can actually look things up or take action on your behalf.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give a model the ability to do something beyond generating text, like searching the web, reading a file, or sending a message. For any tool to work, the AI application and the tool need to speak a common language. The Model Context Protocol, usually shortened to MCP, is an open standard that defines that shared language, so any compatible application can connect to any compatible tool without custom, one-off wiring for every pair. People sometimes describe it as being a bit like a universal plug for AI applications, the same way one cable standard lets many devices connect to many accessories. It is purely a connector; it does not decide how the AI uses what it receives.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speech technologies work together to make a conversation like this one possible. Speech-to-text listens to spoken audio and converts it into written words a model can read. Text-to-speech does the reverse, turning written words back into natural-sounding spoken audio. When both happen quickly enough that a person can have a live back-and-forth conversation, that is called realtime voice. Finally, an avatar adds a visual layer, a synthesized face and body that moves and speaks in time with the generated audio, which is exactly how I am appearing to you right now. Each of these pieces can also be used on its own, for example captioning a video or reading a document aloud.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model is available the same way. A closed model is only reachable through a hosted service, where you send a request and receive a response, without ever seeing its internal files. An open-weight model is different: the organization that built it publishes the trained parameters, so anyone can download and run a copy themselves, though the training data and code may still be kept private. A smaller group of models go further and qualify as Open Source AI, meaning the data information, training code, and parameters are all shared under open terms, matching a formal definition published by the Open Source Initiative. These are different points on a spectrum of openness, not a simple yes-or-no choice.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helpful as these systems are, using them responsibly takes a little care. Models can sound completely confident while still being factually wrong, so it is worth double-checking anything important against a trustworthy source. Be thoughtful about what information you share in a prompt, especially sensitive personal or business data, since that content may be processed or stored by the service you are using. For decisions that really matter, such as medical, legal, or financial choices, keep a qualified person reviewing the output rather than acting on it automatically. Organizations such as Microsoft publish public responsible AI principles precisely to help guide these kinds of everyday judgment calls.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connect the pieces we have covered. A model is the prediction engine at the core. An agent wraps that model with tools and a loop so it can take action, not just talk. The Model Context Protocol is the connector that lets agents reach a growing ecosystem of tools in a standard way. Speech technology, including speech-to-text, text-to-speech, and avatars, is simply another layer on top that makes the interaction feel like a natural conversation instead of typed messages. None of these ideas are mysterious on their own; they are straightforward building blocks that combine into the AI products you may already be using every 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covered a lot of ground together: what a model is and how it predicts rather than recalls, the difference between large and small language models, what makes a reasoning model different, how prompts, tokens, and the context window shape a conversation, what an agent is and how tools and the Model Context Protocol let it act, how speech and avatars work, the spectrum from closed to open-weight to Open Source AI, and some responsible habits worth carrying forward. If you want to go deeper into actually building with these tools, the next session in this series walks through that from a practitioner's point of view. Thank you for listening, and please keep your questions coming.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1051560"/>
            <a:ext cx="5943600" cy="1417320"/>
          </a:xfrm>
        </p:spPr>
        <p:txBody>
          <a:bodyPr wrap="square" lIns="18288" rIns="18288" tIns="10973" bIns="10973" anchor="t">
            <a:noAutofit/>
          </a:bodyPr>
          <a:lstStyle/>
          <a:p>
            <a:pPr algn="l">
              <a:lnSpc>
                <a:spcPct val="95000"/>
              </a:lnSpc>
            </a:pPr>
            <a:r>
              <a:rPr sz="4600" b="1" i="0">
                <a:solidFill>
                  <a:srgbClr val="16202F"/>
                </a:solidFill>
                <a:latin typeface="Calibri"/>
              </a:rPr>
              <a:t>AI, Demystified</a:t>
            </a:r>
          </a:p>
        </p:txBody>
      </p:sp>
      <p:sp>
        <p:nvSpPr>
          <p:cNvPr id="3" name="eyebrow"/>
          <p:cNvSpPr txBox="1"/>
          <p:nvPr/>
        </p:nvSpPr>
        <p:spPr>
          <a:xfrm>
            <a:off x="502920" y="457200"/>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OZ RADIO · AI ENABLEMENT SERIES · PART 1 OF 3</a:t>
            </a:r>
          </a:p>
        </p:txBody>
      </p:sp>
      <p:sp>
        <p:nvSpPr>
          <p:cNvPr id="4" name="TextBox 3"/>
          <p:cNvSpPr txBox="1"/>
          <p:nvPr/>
        </p:nvSpPr>
        <p:spPr>
          <a:xfrm>
            <a:off x="502920" y="2487168"/>
            <a:ext cx="5943600" cy="457200"/>
          </a:xfrm>
          <a:prstGeom prst="rect">
            <a:avLst/>
          </a:prstGeom>
          <a:noFill/>
        </p:spPr>
        <p:txBody>
          <a:bodyPr wrap="square" lIns="18288" rIns="18288" tIns="10973" bIns="10973" anchor="t">
            <a:noAutofit/>
          </a:bodyPr>
          <a:lstStyle/>
          <a:p>
            <a:pPr algn="l"/>
            <a:r>
              <a:rPr sz="2000" b="0" i="0">
                <a:solidFill>
                  <a:srgbClr val="0F6CBD"/>
                </a:solidFill>
                <a:latin typeface="Calibri"/>
              </a:rPr>
              <a:t>Models, agents, tools and voice in plain language</a:t>
            </a:r>
          </a:p>
        </p:txBody>
      </p:sp>
      <p:sp>
        <p:nvSpPr>
          <p:cNvPr id="5" name="Beginner · no prior AI knowledge"/>
          <p:cNvSpPr/>
          <p:nvPr/>
        </p:nvSpPr>
        <p:spPr>
          <a:xfrm>
            <a:off x="502920" y="3063240"/>
            <a:ext cx="3657600" cy="402336"/>
          </a:xfrm>
          <a:prstGeom prst="roundRect">
            <a:avLst>
              <a:gd name="adj" fmla="val 50000"/>
            </a:avLst>
          </a:prstGeom>
          <a:solidFill>
            <a:srgbClr val="FFF4E4"/>
          </a:solidFill>
          <a:ln w="15875">
            <a:solidFill>
              <a:srgbClr val="E8A855"/>
            </a:solidFill>
          </a:ln>
          <a:effectLst/>
        </p:spPr>
        <p:txBody>
          <a:bodyPr rtlCol="0" anchor="ctr" wrap="square" lIns="45720" rIns="45720" tIns="27432" bIns="27432">
            <a:noAutofit/>
          </a:bodyPr>
          <a:lstStyle/>
          <a:p>
            <a:pPr algn="ctr"/>
            <a:r>
              <a:rPr sz="1400" b="1" i="0">
                <a:solidFill>
                  <a:srgbClr val="16202F"/>
                </a:solidFill>
                <a:latin typeface="Calibri"/>
              </a:rPr>
              <a:t>Beginner · no prior AI knowledge</a:t>
            </a:r>
          </a:p>
        </p:txBody>
      </p:sp>
      <p:sp>
        <p:nvSpPr>
          <p:cNvPr id="6" name="bullets"/>
          <p:cNvSpPr txBox="1"/>
          <p:nvPr/>
        </p:nvSpPr>
        <p:spPr>
          <a:xfrm>
            <a:off x="502920" y="3749040"/>
            <a:ext cx="5760720" cy="2286000"/>
          </a:xfrm>
          <a:prstGeom prst="rect">
            <a:avLst/>
          </a:prstGeom>
          <a:noFill/>
        </p:spPr>
        <p:txBody>
          <a:bodyPr wrap="square" lIns="18288" rIns="18288" tIns="10973" bIns="10973" anchor="t">
            <a:noAutofit/>
          </a:bodyPr>
          <a:lstStyle/>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A plain-language tour of AI today</a:t>
            </a:r>
          </a:p>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No coding or math required</a:t>
            </a:r>
          </a:p>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Ask questions anytime</a:t>
            </a:r>
          </a:p>
        </p:txBody>
      </p:sp>
      <p:sp>
        <p:nvSpPr>
          <p:cNvPr id="7" name="visual panel"/>
          <p:cNvSpPr/>
          <p:nvPr/>
        </p:nvSpPr>
        <p:spPr>
          <a:xfrm>
            <a:off x="6720840" y="1097280"/>
            <a:ext cx="4965192" cy="4937760"/>
          </a:xfrm>
          <a:prstGeom prst="roundRect">
            <a:avLst>
              <a:gd name="adj" fmla="val 3333"/>
            </a:avLst>
          </a:prstGeom>
          <a:solidFill>
            <a:srgbClr val="F7F9FC"/>
          </a:solidFill>
          <a:ln w="15875">
            <a:solidFill>
              <a:srgbClr val="E2E8F2"/>
            </a:solidFill>
          </a:ln>
          <a:effectLst/>
        </p:spPr>
        <p:txBody>
          <a:bodyPr rtlCol="0" anchor="ctr"/>
          <a:lstStyle/>
          <a:p>
            <a:pPr algn="ctr"/>
          </a:p>
        </p:txBody>
      </p:sp>
      <p:sp>
        <p:nvSpPr>
          <p:cNvPr id="8" name="AI, Demystified"/>
          <p:cNvSpPr/>
          <p:nvPr/>
        </p:nvSpPr>
        <p:spPr>
          <a:xfrm>
            <a:off x="7269480" y="3017520"/>
            <a:ext cx="3931920" cy="1325880"/>
          </a:xfrm>
          <a:prstGeom prst="roundRect">
            <a:avLst>
              <a:gd name="adj" fmla="val 8275"/>
            </a:avLst>
          </a:prstGeom>
          <a:solidFill>
            <a:srgbClr val="0F6CBD"/>
          </a:solidFill>
          <a:ln w="15875">
            <a:solidFill>
              <a:srgbClr val="0F6CBD"/>
            </a:solidFill>
          </a:ln>
          <a:effectLst/>
        </p:spPr>
        <p:txBody>
          <a:bodyPr rtlCol="0" anchor="ctr" wrap="square" lIns="73152" rIns="73152" tIns="43891" bIns="43891">
            <a:noAutofit/>
          </a:bodyPr>
          <a:lstStyle/>
          <a:p>
            <a:pPr algn="ctr"/>
            <a:r>
              <a:rPr sz="2800" b="1" i="0">
                <a:solidFill>
                  <a:srgbClr val="FFFFFF"/>
                </a:solidFill>
                <a:latin typeface="Calibri"/>
              </a:rPr>
              <a:t>AI, Demystified</a:t>
            </a:r>
          </a:p>
          <a:p>
            <a:pPr algn="ctr"/>
            <a:r>
              <a:rPr sz="1500" b="0" i="0">
                <a:solidFill>
                  <a:srgbClr val="FFFFFF"/>
                </a:solidFill>
                <a:latin typeface="Calibri"/>
              </a:rPr>
              <a:t>models · agents · tools · voice</a:t>
            </a:r>
          </a:p>
        </p:txBody>
      </p:sp>
      <p:sp>
        <p:nvSpPr>
          <p:cNvPr id="9" name="chat bubble"/>
          <p:cNvSpPr/>
          <p:nvPr/>
        </p:nvSpPr>
        <p:spPr>
          <a:xfrm>
            <a:off x="7086600" y="1600200"/>
            <a:ext cx="1325880" cy="868680"/>
          </a:xfrm>
          <a:prstGeom prst="wedgeEllipseCallout">
            <a:avLst/>
          </a:prstGeom>
          <a:solidFill>
            <a:srgbClr val="FFFFFF"/>
          </a:solidFill>
          <a:ln w="19050">
            <a:solidFill>
              <a:srgbClr val="8DBBE6"/>
            </a:solidFill>
          </a:ln>
          <a:effectLst/>
        </p:spPr>
        <p:txBody>
          <a:bodyPr rtlCol="0" anchor="ctr"/>
          <a:lstStyle/>
          <a:p>
            <a:pPr algn="ctr"/>
          </a:p>
        </p:txBody>
      </p:sp>
      <p:sp>
        <p:nvSpPr>
          <p:cNvPr id="10" name="Freeform 9"/>
          <p:cNvSpPr/>
          <p:nvPr/>
        </p:nvSpPr>
        <p:spPr>
          <a:xfrm>
            <a:off x="7418070" y="1924007"/>
            <a:ext cx="662940" cy="186318"/>
          </a:xfrm>
          <a:custGeom>
            <a:avLst/>
            <a:gdLst/>
            <a:ahLst/>
            <a:cxnLst/>
            <a:rect l="l" t="t" r="r" b="b"/>
            <a:pathLst>
              <a:path w="662940" h="186318">
                <a:moveTo>
                  <a:pt x="0" y="93159"/>
                </a:moveTo>
                <a:lnTo>
                  <a:pt x="23676" y="134619"/>
                </a:lnTo>
                <a:lnTo>
                  <a:pt x="47353" y="167867"/>
                </a:lnTo>
                <a:lnTo>
                  <a:pt x="71029" y="186318"/>
                </a:lnTo>
                <a:lnTo>
                  <a:pt x="94706" y="186318"/>
                </a:lnTo>
                <a:lnTo>
                  <a:pt x="118382" y="167867"/>
                </a:lnTo>
                <a:lnTo>
                  <a:pt x="142059" y="134619"/>
                </a:lnTo>
                <a:lnTo>
                  <a:pt x="165735" y="93159"/>
                </a:lnTo>
                <a:lnTo>
                  <a:pt x="189411" y="51700"/>
                </a:lnTo>
                <a:lnTo>
                  <a:pt x="213088" y="18452"/>
                </a:lnTo>
                <a:lnTo>
                  <a:pt x="236764" y="0"/>
                </a:lnTo>
                <a:lnTo>
                  <a:pt x="260441" y="0"/>
                </a:lnTo>
                <a:lnTo>
                  <a:pt x="284117" y="18452"/>
                </a:lnTo>
                <a:lnTo>
                  <a:pt x="307794" y="51700"/>
                </a:lnTo>
                <a:lnTo>
                  <a:pt x="331470" y="93159"/>
                </a:lnTo>
                <a:lnTo>
                  <a:pt x="355146" y="134619"/>
                </a:lnTo>
                <a:lnTo>
                  <a:pt x="378823" y="167867"/>
                </a:lnTo>
                <a:lnTo>
                  <a:pt x="402499" y="186318"/>
                </a:lnTo>
                <a:lnTo>
                  <a:pt x="426176" y="186318"/>
                </a:lnTo>
                <a:lnTo>
                  <a:pt x="449852" y="167867"/>
                </a:lnTo>
                <a:lnTo>
                  <a:pt x="473529" y="134619"/>
                </a:lnTo>
                <a:lnTo>
                  <a:pt x="497205" y="93159"/>
                </a:lnTo>
                <a:lnTo>
                  <a:pt x="520881" y="51700"/>
                </a:lnTo>
                <a:lnTo>
                  <a:pt x="544558" y="18452"/>
                </a:lnTo>
                <a:lnTo>
                  <a:pt x="568234" y="0"/>
                </a:lnTo>
                <a:lnTo>
                  <a:pt x="591911" y="0"/>
                </a:lnTo>
                <a:lnTo>
                  <a:pt x="615587" y="18452"/>
                </a:lnTo>
                <a:lnTo>
                  <a:pt x="639264" y="51700"/>
                </a:lnTo>
                <a:lnTo>
                  <a:pt x="662940" y="93159"/>
                </a:lnTo>
              </a:path>
            </a:pathLst>
          </a:custGeom>
          <a:noFill/>
          <a:ln w="25400">
            <a:solidFill>
              <a:srgbClr val="0F6CBD"/>
            </a:solidFill>
          </a:ln>
          <a:effectLst/>
        </p:spPr>
        <p:txBody>
          <a:bodyPr rtlCol="0" anchor="ctr"/>
          <a:lstStyle/>
          <a:p>
            <a:pPr algn="ctr"/>
          </a:p>
        </p:txBody>
      </p:sp>
      <p:sp>
        <p:nvSpPr>
          <p:cNvPr id="11" name="chat bubble"/>
          <p:cNvSpPr/>
          <p:nvPr/>
        </p:nvSpPr>
        <p:spPr>
          <a:xfrm>
            <a:off x="10012680" y="1783080"/>
            <a:ext cx="1325880" cy="868680"/>
          </a:xfrm>
          <a:prstGeom prst="wedgeEllipseCallout">
            <a:avLst/>
          </a:prstGeom>
          <a:solidFill>
            <a:srgbClr val="FFFFFF"/>
          </a:solidFill>
          <a:ln w="19050">
            <a:solidFill>
              <a:srgbClr val="8DBBE6"/>
            </a:solidFill>
          </a:ln>
          <a:effectLst/>
        </p:spPr>
        <p:txBody>
          <a:bodyPr rtlCol="0" anchor="ctr"/>
          <a:lstStyle/>
          <a:p>
            <a:pPr algn="ctr"/>
          </a:p>
        </p:txBody>
      </p:sp>
      <p:sp>
        <p:nvSpPr>
          <p:cNvPr id="12" name="Freeform 11"/>
          <p:cNvSpPr/>
          <p:nvPr/>
        </p:nvSpPr>
        <p:spPr>
          <a:xfrm>
            <a:off x="10344150" y="2106887"/>
            <a:ext cx="662940" cy="186318"/>
          </a:xfrm>
          <a:custGeom>
            <a:avLst/>
            <a:gdLst/>
            <a:ahLst/>
            <a:cxnLst/>
            <a:rect l="l" t="t" r="r" b="b"/>
            <a:pathLst>
              <a:path w="662940" h="186318">
                <a:moveTo>
                  <a:pt x="0" y="93159"/>
                </a:moveTo>
                <a:lnTo>
                  <a:pt x="23676" y="134619"/>
                </a:lnTo>
                <a:lnTo>
                  <a:pt x="47353" y="167867"/>
                </a:lnTo>
                <a:lnTo>
                  <a:pt x="71029" y="186318"/>
                </a:lnTo>
                <a:lnTo>
                  <a:pt x="94706" y="186318"/>
                </a:lnTo>
                <a:lnTo>
                  <a:pt x="118382" y="167867"/>
                </a:lnTo>
                <a:lnTo>
                  <a:pt x="142059" y="134619"/>
                </a:lnTo>
                <a:lnTo>
                  <a:pt x="165735" y="93159"/>
                </a:lnTo>
                <a:lnTo>
                  <a:pt x="189411" y="51700"/>
                </a:lnTo>
                <a:lnTo>
                  <a:pt x="213088" y="18452"/>
                </a:lnTo>
                <a:lnTo>
                  <a:pt x="236764" y="0"/>
                </a:lnTo>
                <a:lnTo>
                  <a:pt x="260441" y="0"/>
                </a:lnTo>
                <a:lnTo>
                  <a:pt x="284117" y="18452"/>
                </a:lnTo>
                <a:lnTo>
                  <a:pt x="307794" y="51700"/>
                </a:lnTo>
                <a:lnTo>
                  <a:pt x="331470" y="93159"/>
                </a:lnTo>
                <a:lnTo>
                  <a:pt x="355146" y="134619"/>
                </a:lnTo>
                <a:lnTo>
                  <a:pt x="378823" y="167867"/>
                </a:lnTo>
                <a:lnTo>
                  <a:pt x="402499" y="186318"/>
                </a:lnTo>
                <a:lnTo>
                  <a:pt x="426176" y="186318"/>
                </a:lnTo>
                <a:lnTo>
                  <a:pt x="449852" y="167867"/>
                </a:lnTo>
                <a:lnTo>
                  <a:pt x="473529" y="134619"/>
                </a:lnTo>
                <a:lnTo>
                  <a:pt x="497205" y="93159"/>
                </a:lnTo>
                <a:lnTo>
                  <a:pt x="520881" y="51700"/>
                </a:lnTo>
                <a:lnTo>
                  <a:pt x="544558" y="18452"/>
                </a:lnTo>
                <a:lnTo>
                  <a:pt x="568234" y="0"/>
                </a:lnTo>
                <a:lnTo>
                  <a:pt x="591911" y="0"/>
                </a:lnTo>
                <a:lnTo>
                  <a:pt x="615587" y="18452"/>
                </a:lnTo>
                <a:lnTo>
                  <a:pt x="639264" y="51700"/>
                </a:lnTo>
                <a:lnTo>
                  <a:pt x="662940" y="93159"/>
                </a:lnTo>
              </a:path>
            </a:pathLst>
          </a:custGeom>
          <a:noFill/>
          <a:ln w="25400">
            <a:solidFill>
              <a:srgbClr val="0F6CBD"/>
            </a:solidFill>
          </a:ln>
          <a:effectLst/>
        </p:spPr>
        <p:txBody>
          <a:bodyPr rtlCol="0" anchor="ctr"/>
          <a:lstStyle/>
          <a:p>
            <a:pPr algn="ctr"/>
          </a:p>
        </p:txBody>
      </p:sp>
      <p:sp>
        <p:nvSpPr>
          <p:cNvPr id="13" name="chat bubble"/>
          <p:cNvSpPr/>
          <p:nvPr/>
        </p:nvSpPr>
        <p:spPr>
          <a:xfrm>
            <a:off x="8549640" y="4800600"/>
            <a:ext cx="1325880" cy="868680"/>
          </a:xfrm>
          <a:prstGeom prst="wedgeEllipseCallout">
            <a:avLst/>
          </a:prstGeom>
          <a:solidFill>
            <a:srgbClr val="FFFFFF"/>
          </a:solidFill>
          <a:ln w="19050">
            <a:solidFill>
              <a:srgbClr val="8DBBE6"/>
            </a:solidFill>
          </a:ln>
          <a:effectLst/>
        </p:spPr>
        <p:txBody>
          <a:bodyPr rtlCol="0" anchor="ctr"/>
          <a:lstStyle/>
          <a:p>
            <a:pPr algn="ctr"/>
          </a:p>
        </p:txBody>
      </p:sp>
      <p:sp>
        <p:nvSpPr>
          <p:cNvPr id="14" name="Freeform 13"/>
          <p:cNvSpPr/>
          <p:nvPr/>
        </p:nvSpPr>
        <p:spPr>
          <a:xfrm>
            <a:off x="8881110" y="5124407"/>
            <a:ext cx="662940" cy="186318"/>
          </a:xfrm>
          <a:custGeom>
            <a:avLst/>
            <a:gdLst/>
            <a:ahLst/>
            <a:cxnLst/>
            <a:rect l="l" t="t" r="r" b="b"/>
            <a:pathLst>
              <a:path w="662940" h="186318">
                <a:moveTo>
                  <a:pt x="0" y="93159"/>
                </a:moveTo>
                <a:lnTo>
                  <a:pt x="23676" y="134619"/>
                </a:lnTo>
                <a:lnTo>
                  <a:pt x="47353" y="167867"/>
                </a:lnTo>
                <a:lnTo>
                  <a:pt x="71029" y="186318"/>
                </a:lnTo>
                <a:lnTo>
                  <a:pt x="94706" y="186318"/>
                </a:lnTo>
                <a:lnTo>
                  <a:pt x="118382" y="167867"/>
                </a:lnTo>
                <a:lnTo>
                  <a:pt x="142059" y="134619"/>
                </a:lnTo>
                <a:lnTo>
                  <a:pt x="165735" y="93159"/>
                </a:lnTo>
                <a:lnTo>
                  <a:pt x="189411" y="51700"/>
                </a:lnTo>
                <a:lnTo>
                  <a:pt x="213088" y="18452"/>
                </a:lnTo>
                <a:lnTo>
                  <a:pt x="236764" y="0"/>
                </a:lnTo>
                <a:lnTo>
                  <a:pt x="260441" y="0"/>
                </a:lnTo>
                <a:lnTo>
                  <a:pt x="284117" y="18452"/>
                </a:lnTo>
                <a:lnTo>
                  <a:pt x="307794" y="51700"/>
                </a:lnTo>
                <a:lnTo>
                  <a:pt x="331470" y="93159"/>
                </a:lnTo>
                <a:lnTo>
                  <a:pt x="355146" y="134619"/>
                </a:lnTo>
                <a:lnTo>
                  <a:pt x="378823" y="167867"/>
                </a:lnTo>
                <a:lnTo>
                  <a:pt x="402499" y="186318"/>
                </a:lnTo>
                <a:lnTo>
                  <a:pt x="426176" y="186318"/>
                </a:lnTo>
                <a:lnTo>
                  <a:pt x="449852" y="167867"/>
                </a:lnTo>
                <a:lnTo>
                  <a:pt x="473529" y="134619"/>
                </a:lnTo>
                <a:lnTo>
                  <a:pt x="497205" y="93159"/>
                </a:lnTo>
                <a:lnTo>
                  <a:pt x="520881" y="51700"/>
                </a:lnTo>
                <a:lnTo>
                  <a:pt x="544558" y="18452"/>
                </a:lnTo>
                <a:lnTo>
                  <a:pt x="568234" y="0"/>
                </a:lnTo>
                <a:lnTo>
                  <a:pt x="591911" y="0"/>
                </a:lnTo>
                <a:lnTo>
                  <a:pt x="615587" y="18452"/>
                </a:lnTo>
                <a:lnTo>
                  <a:pt x="639264" y="51700"/>
                </a:lnTo>
                <a:lnTo>
                  <a:pt x="662940" y="93159"/>
                </a:lnTo>
              </a:path>
            </a:pathLst>
          </a:custGeom>
          <a:noFill/>
          <a:ln w="25400">
            <a:solidFill>
              <a:srgbClr val="0F6CBD"/>
            </a:solidFill>
          </a:ln>
          <a:effectLst/>
        </p:spPr>
        <p:txBody>
          <a:bodyPr rtlCol="0" anchor="ctr"/>
          <a:lstStyle/>
          <a:p>
            <a:pPr algn="ctr"/>
          </a:p>
        </p:txBody>
      </p:sp>
      <p:sp>
        <p:nvSpPr>
          <p:cNvPr id="15" name="Freeform 14"/>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6"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Beginner</a:t>
            </a:r>
          </a:p>
        </p:txBody>
      </p:sp>
      <p:sp>
        <p:nvSpPr>
          <p:cNvPr id="17"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What is a model?</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 FOUNDATIONS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Pattern-matching built from huge examples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Learns statistics, not facts directly</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Predicts the most likely next output</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Lots of examples"/>
          <p:cNvSpPr/>
          <p:nvPr/>
        </p:nvSpPr>
        <p:spPr>
          <a:xfrm>
            <a:off x="5212080" y="2606040"/>
            <a:ext cx="1752600" cy="1463040"/>
          </a:xfrm>
          <a:prstGeom prst="roundRect">
            <a:avLst>
              <a:gd name="adj" fmla="val 7500"/>
            </a:avLst>
          </a:prstGeom>
          <a:solidFill>
            <a:srgbClr val="FFFFFF"/>
          </a:solidFill>
          <a:ln w="15875">
            <a:solidFill>
              <a:srgbClr val="B8C4D6"/>
            </a:solidFill>
          </a:ln>
          <a:effectLst/>
        </p:spPr>
        <p:txBody>
          <a:bodyPr rtlCol="0" anchor="ctr" wrap="square" lIns="73152" rIns="73152" tIns="43891" bIns="43891">
            <a:noAutofit/>
          </a:bodyPr>
          <a:lstStyle/>
          <a:p>
            <a:pPr algn="ctr"/>
            <a:r>
              <a:rPr sz="1700" b="1" i="0">
                <a:solidFill>
                  <a:srgbClr val="16202F"/>
                </a:solidFill>
                <a:latin typeface="Calibri"/>
              </a:rPr>
              <a:t>Lots of examples</a:t>
            </a:r>
          </a:p>
          <a:p>
            <a:pPr algn="ctr"/>
            <a:r>
              <a:rPr sz="1300" b="0" i="0">
                <a:solidFill>
                  <a:srgbClr val="53617A"/>
                </a:solidFill>
                <a:latin typeface="Calibri"/>
              </a:rPr>
              <a:t>text, images</a:t>
            </a:r>
          </a:p>
        </p:txBody>
      </p:sp>
      <p:sp>
        <p:nvSpPr>
          <p:cNvPr id="7" name="Model"/>
          <p:cNvSpPr/>
          <p:nvPr/>
        </p:nvSpPr>
        <p:spPr>
          <a:xfrm>
            <a:off x="7421880" y="2606040"/>
            <a:ext cx="1752600" cy="1463040"/>
          </a:xfrm>
          <a:prstGeom prst="roundRect">
            <a:avLst>
              <a:gd name="adj" fmla="val 7500"/>
            </a:avLst>
          </a:prstGeom>
          <a:solidFill>
            <a:srgbClr val="0F6CBD"/>
          </a:solidFill>
          <a:ln w="15875">
            <a:solidFill>
              <a:srgbClr val="0F6CBD"/>
            </a:solidFill>
          </a:ln>
          <a:effectLst/>
        </p:spPr>
        <p:txBody>
          <a:bodyPr rtlCol="0" anchor="ctr" wrap="square" lIns="73152" rIns="73152" tIns="43891" bIns="43891">
            <a:noAutofit/>
          </a:bodyPr>
          <a:lstStyle/>
          <a:p>
            <a:pPr algn="ctr"/>
            <a:r>
              <a:rPr sz="1700" b="1" i="0">
                <a:solidFill>
                  <a:srgbClr val="FFFFFF"/>
                </a:solidFill>
                <a:latin typeface="Calibri"/>
              </a:rPr>
              <a:t>Model</a:t>
            </a:r>
          </a:p>
          <a:p>
            <a:pPr algn="ctr"/>
            <a:r>
              <a:rPr sz="1300" b="0" i="0">
                <a:solidFill>
                  <a:srgbClr val="FFFFFF"/>
                </a:solidFill>
                <a:latin typeface="Calibri"/>
              </a:rPr>
              <a:t>learned patterns</a:t>
            </a:r>
          </a:p>
        </p:txBody>
      </p:sp>
      <p:sp>
        <p:nvSpPr>
          <p:cNvPr id="8" name="Prediction"/>
          <p:cNvSpPr/>
          <p:nvPr/>
        </p:nvSpPr>
        <p:spPr>
          <a:xfrm>
            <a:off x="9631680" y="2606040"/>
            <a:ext cx="1752600" cy="1463040"/>
          </a:xfrm>
          <a:prstGeom prst="roundRect">
            <a:avLst>
              <a:gd name="adj" fmla="val 7500"/>
            </a:avLst>
          </a:prstGeom>
          <a:solidFill>
            <a:srgbClr val="FFFFFF"/>
          </a:solidFill>
          <a:ln w="15875">
            <a:solidFill>
              <a:srgbClr val="B8C4D6"/>
            </a:solidFill>
          </a:ln>
          <a:effectLst/>
        </p:spPr>
        <p:txBody>
          <a:bodyPr rtlCol="0" anchor="ctr" wrap="square" lIns="73152" rIns="73152" tIns="43891" bIns="43891">
            <a:noAutofit/>
          </a:bodyPr>
          <a:lstStyle/>
          <a:p>
            <a:pPr algn="ctr"/>
            <a:r>
              <a:rPr sz="1700" b="1" i="0">
                <a:solidFill>
                  <a:srgbClr val="16202F"/>
                </a:solidFill>
                <a:latin typeface="Calibri"/>
              </a:rPr>
              <a:t>Prediction</a:t>
            </a:r>
          </a:p>
          <a:p>
            <a:pPr algn="ctr"/>
            <a:r>
              <a:rPr sz="1300" b="0" i="0">
                <a:solidFill>
                  <a:srgbClr val="53617A"/>
                </a:solidFill>
                <a:latin typeface="Calibri"/>
              </a:rPr>
              <a:t>most likely output</a:t>
            </a:r>
          </a:p>
        </p:txBody>
      </p:sp>
      <p:cxnSp>
        <p:nvCxnSpPr>
          <p:cNvPr id="9" name="Connector 8"/>
          <p:cNvCxnSpPr/>
          <p:nvPr/>
        </p:nvCxnSpPr>
        <p:spPr>
          <a:xfrm>
            <a:off x="7001256" y="3337560"/>
            <a:ext cx="384048" cy="0"/>
          </a:xfrm>
          <a:prstGeom prst="line">
            <a:avLst/>
          </a:prstGeom>
          <a:ln w="22225">
            <a:solidFill>
              <a:srgbClr val="0F6CBD"/>
            </a:solidFill>
            <a:tailEnd type="triangle" w="med" len="med"/>
          </a:ln>
        </p:spPr>
      </p:cxnSp>
      <p:cxnSp>
        <p:nvCxnSpPr>
          <p:cNvPr id="10" name="Connector 9"/>
          <p:cNvCxnSpPr/>
          <p:nvPr/>
        </p:nvCxnSpPr>
        <p:spPr>
          <a:xfrm>
            <a:off x="9211056" y="3337560"/>
            <a:ext cx="384048" cy="0"/>
          </a:xfrm>
          <a:prstGeom prst="line">
            <a:avLst/>
          </a:prstGeom>
          <a:ln w="22225">
            <a:solidFill>
              <a:srgbClr val="0F6CBD"/>
            </a:solidFill>
            <a:tailEnd type="triangle" w="med" len="med"/>
          </a:ln>
        </p:spPr>
      </p:cxnSp>
      <p:sp>
        <p:nvSpPr>
          <p:cNvPr id="11" name="TextBox 10"/>
          <p:cNvSpPr txBox="1"/>
          <p:nvPr/>
        </p:nvSpPr>
        <p:spPr>
          <a:xfrm>
            <a:off x="6416040" y="4160520"/>
            <a:ext cx="1554480" cy="320040"/>
          </a:xfrm>
          <a:prstGeom prst="rect">
            <a:avLst/>
          </a:prstGeom>
          <a:noFill/>
        </p:spPr>
        <p:txBody>
          <a:bodyPr wrap="square" lIns="18288" rIns="18288" tIns="10973" bIns="10973" anchor="t">
            <a:noAutofit/>
          </a:bodyPr>
          <a:lstStyle/>
          <a:p>
            <a:pPr algn="ctr"/>
            <a:r>
              <a:rPr sz="1300" b="0" i="1">
                <a:solidFill>
                  <a:srgbClr val="53617A"/>
                </a:solidFill>
                <a:latin typeface="Calibri"/>
              </a:rPr>
              <a:t>training</a:t>
            </a:r>
          </a:p>
        </p:txBody>
      </p:sp>
      <p:sp>
        <p:nvSpPr>
          <p:cNvPr id="12" name="TextBox 11"/>
          <p:cNvSpPr txBox="1"/>
          <p:nvPr/>
        </p:nvSpPr>
        <p:spPr>
          <a:xfrm>
            <a:off x="8625840" y="4160520"/>
            <a:ext cx="1554480" cy="320040"/>
          </a:xfrm>
          <a:prstGeom prst="rect">
            <a:avLst/>
          </a:prstGeom>
          <a:noFill/>
        </p:spPr>
        <p:txBody>
          <a:bodyPr wrap="square" lIns="18288" rIns="18288" tIns="10973" bIns="10973" anchor="t">
            <a:noAutofit/>
          </a:bodyPr>
          <a:lstStyle/>
          <a:p>
            <a:pPr algn="ctr"/>
            <a:r>
              <a:rPr sz="1300" b="0" i="1">
                <a:solidFill>
                  <a:srgbClr val="53617A"/>
                </a:solidFill>
                <a:latin typeface="Calibri"/>
              </a:rPr>
              <a:t>your question</a:t>
            </a:r>
          </a:p>
        </p:txBody>
      </p:sp>
      <p:sp>
        <p:nvSpPr>
          <p:cNvPr id="13" name="Learns statistics, not a database of facts"/>
          <p:cNvSpPr/>
          <p:nvPr/>
        </p:nvSpPr>
        <p:spPr>
          <a:xfrm>
            <a:off x="5166360" y="5074920"/>
            <a:ext cx="6245352" cy="475488"/>
          </a:xfrm>
          <a:prstGeom prst="roundRect">
            <a:avLst>
              <a:gd name="adj" fmla="val 19230"/>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Learns statistics, not a database of facts</a:t>
            </a:r>
          </a:p>
        </p:txBody>
      </p:sp>
      <p:sp>
        <p:nvSpPr>
          <p:cNvPr id="14" name="Freeform 13"/>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5"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Beginner</a:t>
            </a:r>
          </a:p>
        </p:txBody>
      </p:sp>
      <p:sp>
        <p:nvSpPr>
          <p:cNvPr id="16"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Large language models vs. small language models</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 MODELS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Large models: broad knowledge, more resources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Small models: compact, efficient, focused</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Trade-off: capability vs. cost and speed</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Choice depends on the task</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Rounded Rectangle 5"/>
          <p:cNvSpPr/>
          <p:nvPr/>
        </p:nvSpPr>
        <p:spPr>
          <a:xfrm>
            <a:off x="7470648" y="5010912"/>
            <a:ext cx="1645920" cy="128016"/>
          </a:xfrm>
          <a:prstGeom prst="roundRect">
            <a:avLst>
              <a:gd name="adj" fmla="val 35714"/>
            </a:avLst>
          </a:prstGeom>
          <a:solidFill>
            <a:srgbClr val="53617A"/>
          </a:solidFill>
          <a:ln w="15875">
            <a:solidFill>
              <a:srgbClr val="B8C4D6"/>
            </a:solidFill>
          </a:ln>
          <a:effectLst/>
        </p:spPr>
        <p:txBody>
          <a:bodyPr rtlCol="0" anchor="ctr"/>
          <a:lstStyle/>
          <a:p>
            <a:pPr algn="ctr"/>
          </a:p>
        </p:txBody>
      </p:sp>
      <p:sp>
        <p:nvSpPr>
          <p:cNvPr id="7" name="Isosceles Triangle 6"/>
          <p:cNvSpPr/>
          <p:nvPr/>
        </p:nvSpPr>
        <p:spPr>
          <a:xfrm>
            <a:off x="7882128" y="4261104"/>
            <a:ext cx="822960" cy="768096"/>
          </a:xfrm>
          <a:prstGeom prst="triangle">
            <a:avLst/>
          </a:prstGeom>
          <a:solidFill>
            <a:srgbClr val="53617A"/>
          </a:solidFill>
          <a:ln w="15875">
            <a:solidFill>
              <a:srgbClr val="B8C4D6"/>
            </a:solidFill>
          </a:ln>
          <a:effectLst/>
        </p:spPr>
        <p:txBody>
          <a:bodyPr rtlCol="0" anchor="ctr"/>
          <a:lstStyle/>
          <a:p>
            <a:pPr algn="ctr"/>
          </a:p>
        </p:txBody>
      </p:sp>
      <p:sp>
        <p:nvSpPr>
          <p:cNvPr id="8" name="Rounded Rectangle 7"/>
          <p:cNvSpPr/>
          <p:nvPr/>
        </p:nvSpPr>
        <p:spPr>
          <a:xfrm rot="21180000">
            <a:off x="5916168" y="4169664"/>
            <a:ext cx="4754880" cy="109728"/>
          </a:xfrm>
          <a:prstGeom prst="roundRect">
            <a:avLst>
              <a:gd name="adj" fmla="val 41666"/>
            </a:avLst>
          </a:prstGeom>
          <a:solidFill>
            <a:srgbClr val="16202F"/>
          </a:solidFill>
          <a:ln w="15875">
            <a:solidFill>
              <a:srgbClr val="B8C4D6"/>
            </a:solidFill>
          </a:ln>
          <a:effectLst/>
        </p:spPr>
        <p:txBody>
          <a:bodyPr rtlCol="0" anchor="ctr"/>
          <a:lstStyle/>
          <a:p>
            <a:pPr algn="ctr"/>
          </a:p>
        </p:txBody>
      </p:sp>
      <p:sp>
        <p:nvSpPr>
          <p:cNvPr id="9" name="Large language model"/>
          <p:cNvSpPr/>
          <p:nvPr/>
        </p:nvSpPr>
        <p:spPr>
          <a:xfrm>
            <a:off x="5166360" y="2816352"/>
            <a:ext cx="2331720" cy="1417320"/>
          </a:xfrm>
          <a:prstGeom prst="roundRect">
            <a:avLst>
              <a:gd name="adj" fmla="val 7741"/>
            </a:avLst>
          </a:prstGeom>
          <a:solidFill>
            <a:srgbClr val="0F6CBD"/>
          </a:solidFill>
          <a:ln w="15875">
            <a:solidFill>
              <a:srgbClr val="0F6CBD"/>
            </a:solidFill>
          </a:ln>
          <a:effectLst/>
        </p:spPr>
        <p:txBody>
          <a:bodyPr rtlCol="0" anchor="ctr" wrap="square" lIns="73152" rIns="73152" tIns="43891" bIns="43891">
            <a:noAutofit/>
          </a:bodyPr>
          <a:lstStyle/>
          <a:p>
            <a:pPr algn="ctr"/>
            <a:r>
              <a:rPr sz="1600" b="1" i="0">
                <a:solidFill>
                  <a:srgbClr val="FFFFFF"/>
                </a:solidFill>
                <a:latin typeface="Calibri"/>
              </a:rPr>
              <a:t>Large language model</a:t>
            </a:r>
          </a:p>
          <a:p>
            <a:pPr algn="ctr"/>
            <a:r>
              <a:rPr sz="1300" b="0" i="0">
                <a:solidFill>
                  <a:srgbClr val="FFFFFF"/>
                </a:solidFill>
                <a:latin typeface="Calibri"/>
              </a:rPr>
              <a:t>broad knowledge,</a:t>
            </a:r>
          </a:p>
          <a:p>
            <a:pPr algn="ctr"/>
            <a:r>
              <a:rPr sz="1300" b="0" i="0">
                <a:solidFill>
                  <a:srgbClr val="FFFFFF"/>
                </a:solidFill>
                <a:latin typeface="Calibri"/>
              </a:rPr>
              <a:t>more resources</a:t>
            </a:r>
          </a:p>
        </p:txBody>
      </p:sp>
      <p:sp>
        <p:nvSpPr>
          <p:cNvPr id="10" name="Small language model"/>
          <p:cNvSpPr/>
          <p:nvPr/>
        </p:nvSpPr>
        <p:spPr>
          <a:xfrm>
            <a:off x="9372600" y="2487168"/>
            <a:ext cx="2011680" cy="1097280"/>
          </a:xfrm>
          <a:prstGeom prst="roundRect">
            <a:avLst>
              <a:gd name="adj" fmla="val 10000"/>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Small language model</a:t>
            </a:r>
          </a:p>
          <a:p>
            <a:pPr algn="ctr"/>
            <a:r>
              <a:rPr sz="1300" b="0" i="0">
                <a:solidFill>
                  <a:srgbClr val="53617A"/>
                </a:solidFill>
                <a:latin typeface="Calibri"/>
              </a:rPr>
              <a:t>compact, fast, focused</a:t>
            </a:r>
          </a:p>
        </p:txBody>
      </p:sp>
      <p:sp>
        <p:nvSpPr>
          <p:cNvPr id="11" name="TextBox 10"/>
          <p:cNvSpPr txBox="1"/>
          <p:nvPr/>
        </p:nvSpPr>
        <p:spPr>
          <a:xfrm>
            <a:off x="9372600" y="2057400"/>
            <a:ext cx="2011680" cy="365760"/>
          </a:xfrm>
          <a:prstGeom prst="rect">
            <a:avLst/>
          </a:prstGeom>
          <a:noFill/>
        </p:spPr>
        <p:txBody>
          <a:bodyPr wrap="square" lIns="18288" rIns="18288" tIns="10973" bIns="10973" anchor="t">
            <a:noAutofit/>
          </a:bodyPr>
          <a:lstStyle/>
          <a:p>
            <a:pPr algn="ctr"/>
            <a:r>
              <a:rPr sz="1200" b="0" i="1">
                <a:solidFill>
                  <a:srgbClr val="53617A"/>
                </a:solidFill>
                <a:latin typeface="Calibri"/>
              </a:rPr>
              <a:t>lighter, rises faster</a:t>
            </a:r>
          </a:p>
        </p:txBody>
      </p:sp>
      <p:sp>
        <p:nvSpPr>
          <p:cNvPr id="12" name="Trade-off: capability vs. cost and speed"/>
          <p:cNvSpPr/>
          <p:nvPr/>
        </p:nvSpPr>
        <p:spPr>
          <a:xfrm>
            <a:off x="5166360" y="5349240"/>
            <a:ext cx="6245352" cy="475488"/>
          </a:xfrm>
          <a:prstGeom prst="roundRect">
            <a:avLst>
              <a:gd name="adj" fmla="val 19230"/>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Trade-off: capability vs. cost and speed</a:t>
            </a:r>
          </a:p>
        </p:txBody>
      </p:sp>
      <p:sp>
        <p:nvSpPr>
          <p:cNvPr id="13" name="Freeform 12"/>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4"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Beginner</a:t>
            </a:r>
          </a:p>
        </p:txBody>
      </p:sp>
      <p:sp>
        <p:nvSpPr>
          <p:cNvPr id="15"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Reasoning models, conceptually</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 MODELS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Extra "thinking" before answering</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Better for multi-step problems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Slower and costlier per answer</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Question"/>
          <p:cNvSpPr/>
          <p:nvPr/>
        </p:nvSpPr>
        <p:spPr>
          <a:xfrm>
            <a:off x="5212080" y="3017520"/>
            <a:ext cx="1371600" cy="868680"/>
          </a:xfrm>
          <a:prstGeom prst="roundRect">
            <a:avLst>
              <a:gd name="adj" fmla="val 12631"/>
            </a:avLst>
          </a:prstGeom>
          <a:solidFill>
            <a:srgbClr val="FFFFFF"/>
          </a:solidFill>
          <a:ln w="15875">
            <a:solidFill>
              <a:srgbClr val="B8C4D6"/>
            </a:solidFill>
          </a:ln>
          <a:effectLst/>
        </p:spPr>
        <p:txBody>
          <a:bodyPr rtlCol="0" anchor="ctr" wrap="square" lIns="73152" rIns="73152" tIns="43891" bIns="43891">
            <a:noAutofit/>
          </a:bodyPr>
          <a:lstStyle/>
          <a:p>
            <a:pPr algn="ctr"/>
            <a:r>
              <a:rPr sz="1600" b="1" i="0">
                <a:solidFill>
                  <a:srgbClr val="16202F"/>
                </a:solidFill>
                <a:latin typeface="Calibri"/>
              </a:rPr>
              <a:t>Question</a:t>
            </a:r>
          </a:p>
        </p:txBody>
      </p:sp>
      <p:sp>
        <p:nvSpPr>
          <p:cNvPr id="7" name="Answer"/>
          <p:cNvSpPr/>
          <p:nvPr/>
        </p:nvSpPr>
        <p:spPr>
          <a:xfrm>
            <a:off x="10058400" y="3017520"/>
            <a:ext cx="1371600" cy="868680"/>
          </a:xfrm>
          <a:prstGeom prst="roundRect">
            <a:avLst>
              <a:gd name="adj" fmla="val 12631"/>
            </a:avLst>
          </a:prstGeom>
          <a:solidFill>
            <a:srgbClr val="0F6CBD"/>
          </a:solidFill>
          <a:ln w="15875">
            <a:solidFill>
              <a:srgbClr val="0F6CBD"/>
            </a:solidFill>
          </a:ln>
          <a:effectLst/>
        </p:spPr>
        <p:txBody>
          <a:bodyPr rtlCol="0" anchor="ctr" wrap="square" lIns="73152" rIns="73152" tIns="43891" bIns="43891">
            <a:noAutofit/>
          </a:bodyPr>
          <a:lstStyle/>
          <a:p>
            <a:pPr algn="ctr"/>
            <a:r>
              <a:rPr sz="1600" b="1" i="0">
                <a:solidFill>
                  <a:srgbClr val="FFFFFF"/>
                </a:solidFill>
                <a:latin typeface="Calibri"/>
              </a:rPr>
              <a:t>Answer</a:t>
            </a:r>
          </a:p>
        </p:txBody>
      </p:sp>
      <p:cxnSp>
        <p:nvCxnSpPr>
          <p:cNvPr id="8" name="Connector 7"/>
          <p:cNvCxnSpPr/>
          <p:nvPr/>
        </p:nvCxnSpPr>
        <p:spPr>
          <a:xfrm>
            <a:off x="6620256" y="3246120"/>
            <a:ext cx="3401568" cy="0"/>
          </a:xfrm>
          <a:prstGeom prst="line">
            <a:avLst/>
          </a:prstGeom>
          <a:ln w="28575">
            <a:solidFill>
              <a:srgbClr val="0F6CBD"/>
            </a:solidFill>
            <a:tailEnd type="triangle" w="med" len="med"/>
          </a:ln>
        </p:spPr>
      </p:cxnSp>
      <p:sp>
        <p:nvSpPr>
          <p:cNvPr id="9" name="quick model"/>
          <p:cNvSpPr/>
          <p:nvPr/>
        </p:nvSpPr>
        <p:spPr>
          <a:xfrm>
            <a:off x="7589520" y="2697480"/>
            <a:ext cx="1463040" cy="365760"/>
          </a:xfrm>
          <a:prstGeom prst="roundRect">
            <a:avLst>
              <a:gd name="adj" fmla="val 50000"/>
            </a:avLst>
          </a:prstGeom>
          <a:solidFill>
            <a:srgbClr val="EAF3FC"/>
          </a:solidFill>
          <a:ln w="15875">
            <a:solidFill>
              <a:srgbClr val="8DBBE6"/>
            </a:solidFill>
          </a:ln>
          <a:effectLst/>
        </p:spPr>
        <p:txBody>
          <a:bodyPr rtlCol="0" anchor="ctr" wrap="square" lIns="45720" rIns="45720" tIns="27432" bIns="27432">
            <a:noAutofit/>
          </a:bodyPr>
          <a:lstStyle/>
          <a:p>
            <a:pPr algn="ctr"/>
            <a:r>
              <a:rPr sz="1300" b="1" i="0">
                <a:solidFill>
                  <a:srgbClr val="16202F"/>
                </a:solidFill>
                <a:latin typeface="Calibri"/>
              </a:rPr>
              <a:t>quick model</a:t>
            </a:r>
          </a:p>
        </p:txBody>
      </p:sp>
      <p:sp>
        <p:nvSpPr>
          <p:cNvPr id="10" name="Freeform 9"/>
          <p:cNvSpPr/>
          <p:nvPr/>
        </p:nvSpPr>
        <p:spPr>
          <a:xfrm>
            <a:off x="5897880" y="3904488"/>
            <a:ext cx="4846320" cy="1170432"/>
          </a:xfrm>
          <a:custGeom>
            <a:avLst/>
            <a:gdLst/>
            <a:ahLst/>
            <a:cxnLst/>
            <a:rect l="l" t="t" r="r" b="b"/>
            <a:pathLst>
              <a:path w="4846320" h="1170432">
                <a:moveTo>
                  <a:pt x="0" y="0"/>
                </a:moveTo>
                <a:lnTo>
                  <a:pt x="0" y="576072"/>
                </a:lnTo>
                <a:lnTo>
                  <a:pt x="685800" y="1170432"/>
                </a:lnTo>
                <a:lnTo>
                  <a:pt x="1371600" y="576072"/>
                </a:lnTo>
                <a:lnTo>
                  <a:pt x="2057400" y="1170432"/>
                </a:lnTo>
                <a:lnTo>
                  <a:pt x="2743200" y="576072"/>
                </a:lnTo>
                <a:lnTo>
                  <a:pt x="3429000" y="1170432"/>
                </a:lnTo>
                <a:lnTo>
                  <a:pt x="4846320" y="1170432"/>
                </a:lnTo>
                <a:lnTo>
                  <a:pt x="4846320" y="45720"/>
                </a:lnTo>
              </a:path>
            </a:pathLst>
          </a:custGeom>
          <a:noFill/>
          <a:ln w="28575">
            <a:solidFill>
              <a:srgbClr val="C2620A"/>
            </a:solidFill>
            <a:tailEnd type="triangle" w="med" len="med"/>
          </a:ln>
          <a:effectLst/>
        </p:spPr>
        <p:txBody>
          <a:bodyPr rtlCol="0" anchor="ctr"/>
          <a:lstStyle/>
          <a:p>
            <a:pPr algn="ctr"/>
          </a:p>
        </p:txBody>
      </p:sp>
      <p:sp>
        <p:nvSpPr>
          <p:cNvPr id="11" name="1"/>
          <p:cNvSpPr/>
          <p:nvPr/>
        </p:nvSpPr>
        <p:spPr>
          <a:xfrm>
            <a:off x="6409944" y="4901184"/>
            <a:ext cx="347472" cy="347472"/>
          </a:xfrm>
          <a:prstGeom prst="ellipse">
            <a:avLst/>
          </a:prstGeom>
          <a:solidFill>
            <a:srgbClr val="C2620A"/>
          </a:solidFill>
          <a:ln w="15875">
            <a:solidFill>
              <a:srgbClr val="C2620A"/>
            </a:solidFill>
          </a:ln>
          <a:effectLst/>
        </p:spPr>
        <p:txBody>
          <a:bodyPr rtlCol="0" anchor="ctr" wrap="square" lIns="0" rIns="0" tIns="0" bIns="0">
            <a:noAutofit/>
          </a:bodyPr>
          <a:lstStyle/>
          <a:p>
            <a:pPr algn="ctr"/>
            <a:r>
              <a:rPr sz="1200" b="1" i="0">
                <a:solidFill>
                  <a:srgbClr val="FFFFFF"/>
                </a:solidFill>
                <a:latin typeface="Calibri"/>
              </a:rPr>
              <a:t>1</a:t>
            </a:r>
          </a:p>
        </p:txBody>
      </p:sp>
      <p:sp>
        <p:nvSpPr>
          <p:cNvPr id="12" name="2"/>
          <p:cNvSpPr/>
          <p:nvPr/>
        </p:nvSpPr>
        <p:spPr>
          <a:xfrm>
            <a:off x="7781544" y="4901184"/>
            <a:ext cx="347472" cy="347472"/>
          </a:xfrm>
          <a:prstGeom prst="ellipse">
            <a:avLst/>
          </a:prstGeom>
          <a:solidFill>
            <a:srgbClr val="C2620A"/>
          </a:solidFill>
          <a:ln w="15875">
            <a:solidFill>
              <a:srgbClr val="C2620A"/>
            </a:solidFill>
          </a:ln>
          <a:effectLst/>
        </p:spPr>
        <p:txBody>
          <a:bodyPr rtlCol="0" anchor="ctr" wrap="square" lIns="0" rIns="0" tIns="0" bIns="0">
            <a:noAutofit/>
          </a:bodyPr>
          <a:lstStyle/>
          <a:p>
            <a:pPr algn="ctr"/>
            <a:r>
              <a:rPr sz="1200" b="1" i="0">
                <a:solidFill>
                  <a:srgbClr val="FFFFFF"/>
                </a:solidFill>
                <a:latin typeface="Calibri"/>
              </a:rPr>
              <a:t>2</a:t>
            </a:r>
          </a:p>
        </p:txBody>
      </p:sp>
      <p:sp>
        <p:nvSpPr>
          <p:cNvPr id="13" name="3"/>
          <p:cNvSpPr/>
          <p:nvPr/>
        </p:nvSpPr>
        <p:spPr>
          <a:xfrm>
            <a:off x="9153144" y="4901184"/>
            <a:ext cx="347472" cy="347472"/>
          </a:xfrm>
          <a:prstGeom prst="ellipse">
            <a:avLst/>
          </a:prstGeom>
          <a:solidFill>
            <a:srgbClr val="C2620A"/>
          </a:solidFill>
          <a:ln w="15875">
            <a:solidFill>
              <a:srgbClr val="C2620A"/>
            </a:solidFill>
          </a:ln>
          <a:effectLst/>
        </p:spPr>
        <p:txBody>
          <a:bodyPr rtlCol="0" anchor="ctr" wrap="square" lIns="0" rIns="0" tIns="0" bIns="0">
            <a:noAutofit/>
          </a:bodyPr>
          <a:lstStyle/>
          <a:p>
            <a:pPr algn="ctr"/>
            <a:r>
              <a:rPr sz="1200" b="1" i="0">
                <a:solidFill>
                  <a:srgbClr val="FFFFFF"/>
                </a:solidFill>
                <a:latin typeface="Calibri"/>
              </a:rPr>
              <a:t>3</a:t>
            </a:r>
          </a:p>
        </p:txBody>
      </p:sp>
      <p:sp>
        <p:nvSpPr>
          <p:cNvPr id="14" name="reasoning model: extra internal steps"/>
          <p:cNvSpPr/>
          <p:nvPr/>
        </p:nvSpPr>
        <p:spPr>
          <a:xfrm>
            <a:off x="6720840" y="5440680"/>
            <a:ext cx="3383280" cy="384048"/>
          </a:xfrm>
          <a:prstGeom prst="roundRect">
            <a:avLst>
              <a:gd name="adj" fmla="val 50000"/>
            </a:avLst>
          </a:prstGeom>
          <a:solidFill>
            <a:srgbClr val="FFF4E4"/>
          </a:solidFill>
          <a:ln w="15875">
            <a:solidFill>
              <a:srgbClr val="E8A855"/>
            </a:solidFill>
          </a:ln>
          <a:effectLst/>
        </p:spPr>
        <p:txBody>
          <a:bodyPr rtlCol="0" anchor="ctr" wrap="square" lIns="45720" rIns="45720" tIns="27432" bIns="27432">
            <a:noAutofit/>
          </a:bodyPr>
          <a:lstStyle/>
          <a:p>
            <a:pPr algn="ctr"/>
            <a:r>
              <a:rPr sz="1300" b="1" i="0">
                <a:solidFill>
                  <a:srgbClr val="16202F"/>
                </a:solidFill>
                <a:latin typeface="Calibri"/>
              </a:rPr>
              <a:t>reasoning model: extra internal steps</a:t>
            </a:r>
          </a:p>
        </p:txBody>
      </p:sp>
      <p:sp>
        <p:nvSpPr>
          <p:cNvPr id="15" name="Freeform 14"/>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6"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Beginner</a:t>
            </a:r>
          </a:p>
        </p:txBody>
      </p:sp>
      <p:sp>
        <p:nvSpPr>
          <p:cNvPr id="17"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Prompts, tokens, and the context window</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 FOUNDATIONS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Prompt: your instructions to the model</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Tokens: small chunks of text</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Context window: how much it can see</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Prompt:  “Summarize this long report for me”"/>
          <p:cNvSpPr/>
          <p:nvPr/>
        </p:nvSpPr>
        <p:spPr>
          <a:xfrm>
            <a:off x="5212080" y="2011680"/>
            <a:ext cx="6263640" cy="566928"/>
          </a:xfrm>
          <a:prstGeom prst="roundRect">
            <a:avLst>
              <a:gd name="adj" fmla="val 19354"/>
            </a:avLst>
          </a:prstGeom>
          <a:solidFill>
            <a:srgbClr val="FFFFFF"/>
          </a:solidFill>
          <a:ln w="15875">
            <a:solidFill>
              <a:srgbClr val="B8C4D6"/>
            </a:solidFill>
          </a:ln>
          <a:effectLst/>
        </p:spPr>
        <p:txBody>
          <a:bodyPr rtlCol="0" anchor="ctr" wrap="square" lIns="164592" rIns="164592" tIns="98755" bIns="98755">
            <a:noAutofit/>
          </a:bodyPr>
          <a:lstStyle/>
          <a:p>
            <a:pPr algn="l"/>
            <a:r>
              <a:rPr sz="1600" b="0" i="0">
                <a:solidFill>
                  <a:srgbClr val="16202F"/>
                </a:solidFill>
                <a:latin typeface="Calibri"/>
              </a:rPr>
              <a:t>Prompt:  “Summarize this long report for me”</a:t>
            </a:r>
          </a:p>
        </p:txBody>
      </p:sp>
      <p:cxnSp>
        <p:nvCxnSpPr>
          <p:cNvPr id="7" name="Connector 6"/>
          <p:cNvCxnSpPr/>
          <p:nvPr/>
        </p:nvCxnSpPr>
        <p:spPr>
          <a:xfrm>
            <a:off x="6949440" y="2615184"/>
            <a:ext cx="0" cy="457200"/>
          </a:xfrm>
          <a:prstGeom prst="line">
            <a:avLst/>
          </a:prstGeom>
          <a:ln w="22225">
            <a:solidFill>
              <a:srgbClr val="0F6CBD"/>
            </a:solidFill>
            <a:tailEnd type="triangle" w="med" len="med"/>
          </a:ln>
        </p:spPr>
      </p:cxnSp>
      <p:sp>
        <p:nvSpPr>
          <p:cNvPr id="8" name="TextBox 7"/>
          <p:cNvSpPr txBox="1"/>
          <p:nvPr/>
        </p:nvSpPr>
        <p:spPr>
          <a:xfrm>
            <a:off x="7086600" y="2651760"/>
            <a:ext cx="2194560" cy="365760"/>
          </a:xfrm>
          <a:prstGeom prst="rect">
            <a:avLst/>
          </a:prstGeom>
          <a:noFill/>
        </p:spPr>
        <p:txBody>
          <a:bodyPr wrap="square" lIns="18288" rIns="18288" tIns="10973" bIns="10973" anchor="t">
            <a:noAutofit/>
          </a:bodyPr>
          <a:lstStyle/>
          <a:p>
            <a:pPr algn="l"/>
            <a:r>
              <a:rPr sz="1300" b="0" i="1">
                <a:solidFill>
                  <a:srgbClr val="53617A"/>
                </a:solidFill>
                <a:latin typeface="Calibri"/>
              </a:rPr>
              <a:t>split into tokens</a:t>
            </a:r>
          </a:p>
        </p:txBody>
      </p:sp>
      <p:sp>
        <p:nvSpPr>
          <p:cNvPr id="9" name="context window"/>
          <p:cNvSpPr/>
          <p:nvPr/>
        </p:nvSpPr>
        <p:spPr>
          <a:xfrm>
            <a:off x="5166360" y="3154680"/>
            <a:ext cx="5257800" cy="1051560"/>
          </a:xfrm>
          <a:prstGeom prst="roundRect">
            <a:avLst>
              <a:gd name="adj" fmla="val 10434"/>
            </a:avLst>
          </a:prstGeom>
          <a:noFill/>
          <a:ln w="22225">
            <a:solidFill>
              <a:srgbClr val="0F6CBD"/>
            </a:solidFill>
            <a:prstDash val="dash"/>
          </a:ln>
          <a:effectLst/>
        </p:spPr>
        <p:txBody>
          <a:bodyPr rtlCol="0" anchor="ctr"/>
          <a:lstStyle/>
          <a:p>
            <a:pPr algn="ctr"/>
          </a:p>
        </p:txBody>
      </p:sp>
      <p:sp>
        <p:nvSpPr>
          <p:cNvPr id="10" name="Sum"/>
          <p:cNvSpPr/>
          <p:nvPr/>
        </p:nvSpPr>
        <p:spPr>
          <a:xfrm>
            <a:off x="5303520" y="3401568"/>
            <a:ext cx="640080" cy="548640"/>
          </a:xfrm>
          <a:prstGeom prst="roundRect">
            <a:avLst>
              <a:gd name="adj" fmla="val 20000"/>
            </a:avLst>
          </a:prstGeom>
          <a:solidFill>
            <a:srgbClr val="EAF3FC"/>
          </a:solidFill>
          <a:ln w="15875">
            <a:solidFill>
              <a:srgbClr val="8DBBE6"/>
            </a:solidFill>
          </a:ln>
          <a:effectLst/>
        </p:spPr>
        <p:txBody>
          <a:bodyPr rtlCol="0" anchor="ctr" wrap="square" lIns="18288" rIns="18288" tIns="10973" bIns="10973">
            <a:noAutofit/>
          </a:bodyPr>
          <a:lstStyle/>
          <a:p>
            <a:pPr algn="ctr"/>
            <a:r>
              <a:rPr sz="1400" b="0" i="0">
                <a:solidFill>
                  <a:srgbClr val="16202F"/>
                </a:solidFill>
                <a:latin typeface="Calibri"/>
              </a:rPr>
              <a:t>Sum</a:t>
            </a:r>
          </a:p>
        </p:txBody>
      </p:sp>
      <p:sp>
        <p:nvSpPr>
          <p:cNvPr id="11" name="mar"/>
          <p:cNvSpPr/>
          <p:nvPr/>
        </p:nvSpPr>
        <p:spPr>
          <a:xfrm>
            <a:off x="6025896" y="3401568"/>
            <a:ext cx="640080" cy="548640"/>
          </a:xfrm>
          <a:prstGeom prst="roundRect">
            <a:avLst>
              <a:gd name="adj" fmla="val 20000"/>
            </a:avLst>
          </a:prstGeom>
          <a:solidFill>
            <a:srgbClr val="EAF3FC"/>
          </a:solidFill>
          <a:ln w="15875">
            <a:solidFill>
              <a:srgbClr val="8DBBE6"/>
            </a:solidFill>
          </a:ln>
          <a:effectLst/>
        </p:spPr>
        <p:txBody>
          <a:bodyPr rtlCol="0" anchor="ctr" wrap="square" lIns="18288" rIns="18288" tIns="10973" bIns="10973">
            <a:noAutofit/>
          </a:bodyPr>
          <a:lstStyle/>
          <a:p>
            <a:pPr algn="ctr"/>
            <a:r>
              <a:rPr sz="1400" b="0" i="0">
                <a:solidFill>
                  <a:srgbClr val="16202F"/>
                </a:solidFill>
                <a:latin typeface="Calibri"/>
              </a:rPr>
              <a:t>mar</a:t>
            </a:r>
          </a:p>
        </p:txBody>
      </p:sp>
      <p:sp>
        <p:nvSpPr>
          <p:cNvPr id="12" name="ize"/>
          <p:cNvSpPr/>
          <p:nvPr/>
        </p:nvSpPr>
        <p:spPr>
          <a:xfrm>
            <a:off x="6748272" y="3401568"/>
            <a:ext cx="640080" cy="548640"/>
          </a:xfrm>
          <a:prstGeom prst="roundRect">
            <a:avLst>
              <a:gd name="adj" fmla="val 20000"/>
            </a:avLst>
          </a:prstGeom>
          <a:solidFill>
            <a:srgbClr val="EAF3FC"/>
          </a:solidFill>
          <a:ln w="15875">
            <a:solidFill>
              <a:srgbClr val="8DBBE6"/>
            </a:solidFill>
          </a:ln>
          <a:effectLst/>
        </p:spPr>
        <p:txBody>
          <a:bodyPr rtlCol="0" anchor="ctr" wrap="square" lIns="18288" rIns="18288" tIns="10973" bIns="10973">
            <a:noAutofit/>
          </a:bodyPr>
          <a:lstStyle/>
          <a:p>
            <a:pPr algn="ctr"/>
            <a:r>
              <a:rPr sz="1400" b="0" i="0">
                <a:solidFill>
                  <a:srgbClr val="16202F"/>
                </a:solidFill>
                <a:latin typeface="Calibri"/>
              </a:rPr>
              <a:t>ize</a:t>
            </a:r>
          </a:p>
        </p:txBody>
      </p:sp>
      <p:sp>
        <p:nvSpPr>
          <p:cNvPr id="13" name="this"/>
          <p:cNvSpPr/>
          <p:nvPr/>
        </p:nvSpPr>
        <p:spPr>
          <a:xfrm>
            <a:off x="7470648" y="3401568"/>
            <a:ext cx="640080" cy="548640"/>
          </a:xfrm>
          <a:prstGeom prst="roundRect">
            <a:avLst>
              <a:gd name="adj" fmla="val 20000"/>
            </a:avLst>
          </a:prstGeom>
          <a:solidFill>
            <a:srgbClr val="EAF3FC"/>
          </a:solidFill>
          <a:ln w="15875">
            <a:solidFill>
              <a:srgbClr val="8DBBE6"/>
            </a:solidFill>
          </a:ln>
          <a:effectLst/>
        </p:spPr>
        <p:txBody>
          <a:bodyPr rtlCol="0" anchor="ctr" wrap="square" lIns="18288" rIns="18288" tIns="10973" bIns="10973">
            <a:noAutofit/>
          </a:bodyPr>
          <a:lstStyle/>
          <a:p>
            <a:pPr algn="ctr"/>
            <a:r>
              <a:rPr sz="1400" b="0" i="0">
                <a:solidFill>
                  <a:srgbClr val="16202F"/>
                </a:solidFill>
                <a:latin typeface="Calibri"/>
              </a:rPr>
              <a:t>this</a:t>
            </a:r>
          </a:p>
        </p:txBody>
      </p:sp>
      <p:sp>
        <p:nvSpPr>
          <p:cNvPr id="14" name="long"/>
          <p:cNvSpPr/>
          <p:nvPr/>
        </p:nvSpPr>
        <p:spPr>
          <a:xfrm>
            <a:off x="8193024" y="3401568"/>
            <a:ext cx="640080" cy="548640"/>
          </a:xfrm>
          <a:prstGeom prst="roundRect">
            <a:avLst>
              <a:gd name="adj" fmla="val 20000"/>
            </a:avLst>
          </a:prstGeom>
          <a:solidFill>
            <a:srgbClr val="EAF3FC"/>
          </a:solidFill>
          <a:ln w="15875">
            <a:solidFill>
              <a:srgbClr val="8DBBE6"/>
            </a:solidFill>
          </a:ln>
          <a:effectLst/>
        </p:spPr>
        <p:txBody>
          <a:bodyPr rtlCol="0" anchor="ctr" wrap="square" lIns="18288" rIns="18288" tIns="10973" bIns="10973">
            <a:noAutofit/>
          </a:bodyPr>
          <a:lstStyle/>
          <a:p>
            <a:pPr algn="ctr"/>
            <a:r>
              <a:rPr sz="1400" b="0" i="0">
                <a:solidFill>
                  <a:srgbClr val="16202F"/>
                </a:solidFill>
                <a:latin typeface="Calibri"/>
              </a:rPr>
              <a:t>long</a:t>
            </a:r>
          </a:p>
        </p:txBody>
      </p:sp>
      <p:sp>
        <p:nvSpPr>
          <p:cNvPr id="15" name="report"/>
          <p:cNvSpPr/>
          <p:nvPr/>
        </p:nvSpPr>
        <p:spPr>
          <a:xfrm>
            <a:off x="8915400" y="3401568"/>
            <a:ext cx="640080" cy="548640"/>
          </a:xfrm>
          <a:prstGeom prst="roundRect">
            <a:avLst>
              <a:gd name="adj" fmla="val 20000"/>
            </a:avLst>
          </a:prstGeom>
          <a:solidFill>
            <a:srgbClr val="EAF3FC"/>
          </a:solidFill>
          <a:ln w="15875">
            <a:solidFill>
              <a:srgbClr val="8DBBE6"/>
            </a:solidFill>
          </a:ln>
          <a:effectLst/>
        </p:spPr>
        <p:txBody>
          <a:bodyPr rtlCol="0" anchor="ctr" wrap="square" lIns="18288" rIns="18288" tIns="10973" bIns="10973">
            <a:noAutofit/>
          </a:bodyPr>
          <a:lstStyle/>
          <a:p>
            <a:pPr algn="ctr"/>
            <a:r>
              <a:rPr sz="1400" b="0" i="0">
                <a:solidFill>
                  <a:srgbClr val="16202F"/>
                </a:solidFill>
                <a:latin typeface="Calibri"/>
              </a:rPr>
              <a:t>report</a:t>
            </a:r>
          </a:p>
        </p:txBody>
      </p:sp>
      <p:sp>
        <p:nvSpPr>
          <p:cNvPr id="16" name="for"/>
          <p:cNvSpPr/>
          <p:nvPr/>
        </p:nvSpPr>
        <p:spPr>
          <a:xfrm>
            <a:off x="9637776" y="3401568"/>
            <a:ext cx="640080" cy="548640"/>
          </a:xfrm>
          <a:prstGeom prst="roundRect">
            <a:avLst>
              <a:gd name="adj" fmla="val 20000"/>
            </a:avLst>
          </a:prstGeom>
          <a:solidFill>
            <a:srgbClr val="EAF3FC"/>
          </a:solidFill>
          <a:ln w="15875">
            <a:solidFill>
              <a:srgbClr val="8DBBE6"/>
            </a:solidFill>
          </a:ln>
          <a:effectLst/>
        </p:spPr>
        <p:txBody>
          <a:bodyPr rtlCol="0" anchor="ctr" wrap="square" lIns="18288" rIns="18288" tIns="10973" bIns="10973">
            <a:noAutofit/>
          </a:bodyPr>
          <a:lstStyle/>
          <a:p>
            <a:pPr algn="ctr"/>
            <a:r>
              <a:rPr sz="1400" b="0" i="0">
                <a:solidFill>
                  <a:srgbClr val="16202F"/>
                </a:solidFill>
                <a:latin typeface="Calibri"/>
              </a:rPr>
              <a:t>for</a:t>
            </a:r>
          </a:p>
        </p:txBody>
      </p:sp>
      <p:sp>
        <p:nvSpPr>
          <p:cNvPr id="17" name="me"/>
          <p:cNvSpPr/>
          <p:nvPr/>
        </p:nvSpPr>
        <p:spPr>
          <a:xfrm rot="840000">
            <a:off x="10561320" y="3611880"/>
            <a:ext cx="548640" cy="502920"/>
          </a:xfrm>
          <a:prstGeom prst="roundRect">
            <a:avLst>
              <a:gd name="adj" fmla="val 21818"/>
            </a:avLst>
          </a:prstGeom>
          <a:noFill/>
          <a:ln w="15875">
            <a:solidFill>
              <a:srgbClr val="B8C4D6"/>
            </a:solidFill>
            <a:prstDash val="dash"/>
          </a:ln>
          <a:effectLst/>
        </p:spPr>
        <p:txBody>
          <a:bodyPr rtlCol="0" anchor="ctr" wrap="square" lIns="0" rIns="0" tIns="0" bIns="0">
            <a:noAutofit/>
          </a:bodyPr>
          <a:lstStyle/>
          <a:p>
            <a:pPr algn="ctr"/>
            <a:r>
              <a:rPr sz="1400" b="0" i="0">
                <a:solidFill>
                  <a:srgbClr val="53617A"/>
                </a:solidFill>
                <a:latin typeface="Calibri"/>
              </a:rPr>
              <a:t>me</a:t>
            </a:r>
          </a:p>
        </p:txBody>
      </p:sp>
      <p:sp>
        <p:nvSpPr>
          <p:cNvPr id="18" name="…"/>
          <p:cNvSpPr/>
          <p:nvPr/>
        </p:nvSpPr>
        <p:spPr>
          <a:xfrm rot="1920000">
            <a:off x="10972800" y="4206240"/>
            <a:ext cx="502920" cy="457200"/>
          </a:xfrm>
          <a:prstGeom prst="roundRect">
            <a:avLst>
              <a:gd name="adj" fmla="val 24000"/>
            </a:avLst>
          </a:prstGeom>
          <a:noFill/>
          <a:ln w="15875">
            <a:solidFill>
              <a:srgbClr val="B8C4D6"/>
            </a:solidFill>
            <a:prstDash val="dash"/>
          </a:ln>
          <a:effectLst/>
        </p:spPr>
        <p:txBody>
          <a:bodyPr rtlCol="0" anchor="ctr" wrap="square" lIns="0" rIns="0" tIns="0" bIns="0">
            <a:noAutofit/>
          </a:bodyPr>
          <a:lstStyle/>
          <a:p>
            <a:pPr algn="ctr"/>
            <a:r>
              <a:rPr sz="1400" b="0" i="0">
                <a:solidFill>
                  <a:srgbClr val="53617A"/>
                </a:solidFill>
                <a:latin typeface="Calibri"/>
              </a:rPr>
              <a:t>…</a:t>
            </a:r>
          </a:p>
        </p:txBody>
      </p:sp>
      <p:sp>
        <p:nvSpPr>
          <p:cNvPr id="19" name="TextBox 18"/>
          <p:cNvSpPr txBox="1"/>
          <p:nvPr/>
        </p:nvSpPr>
        <p:spPr>
          <a:xfrm>
            <a:off x="5166360" y="4261104"/>
            <a:ext cx="5257800" cy="365760"/>
          </a:xfrm>
          <a:prstGeom prst="rect">
            <a:avLst/>
          </a:prstGeom>
          <a:noFill/>
        </p:spPr>
        <p:txBody>
          <a:bodyPr wrap="square" lIns="18288" rIns="18288" tIns="10973" bIns="10973" anchor="t">
            <a:noAutofit/>
          </a:bodyPr>
          <a:lstStyle/>
          <a:p>
            <a:pPr algn="ctr"/>
            <a:r>
              <a:rPr sz="1300" b="0" i="0">
                <a:solidFill>
                  <a:srgbClr val="53617A"/>
                </a:solidFill>
                <a:latin typeface="Calibri"/>
              </a:rPr>
              <a:t>Context window: the most tokens the model can see at once</a:t>
            </a:r>
          </a:p>
        </p:txBody>
      </p:sp>
      <p:sp>
        <p:nvSpPr>
          <p:cNvPr id="20" name="TextBox 19"/>
          <p:cNvSpPr txBox="1"/>
          <p:nvPr/>
        </p:nvSpPr>
        <p:spPr>
          <a:xfrm>
            <a:off x="10378440" y="4709160"/>
            <a:ext cx="1188720" cy="365760"/>
          </a:xfrm>
          <a:prstGeom prst="rect">
            <a:avLst/>
          </a:prstGeom>
          <a:noFill/>
        </p:spPr>
        <p:txBody>
          <a:bodyPr wrap="square" lIns="18288" rIns="18288" tIns="10973" bIns="10973" anchor="t">
            <a:noAutofit/>
          </a:bodyPr>
          <a:lstStyle/>
          <a:p>
            <a:pPr algn="ctr"/>
            <a:r>
              <a:rPr sz="1300" b="0" i="1">
                <a:solidFill>
                  <a:srgbClr val="C2620A"/>
                </a:solidFill>
                <a:latin typeface="Calibri"/>
              </a:rPr>
              <a:t>cut off</a:t>
            </a:r>
          </a:p>
        </p:txBody>
      </p:sp>
      <p:sp>
        <p:nvSpPr>
          <p:cNvPr id="21" name="Long chats can push earlier details out of the window"/>
          <p:cNvSpPr/>
          <p:nvPr/>
        </p:nvSpPr>
        <p:spPr>
          <a:xfrm>
            <a:off x="5166360" y="5212080"/>
            <a:ext cx="6245352" cy="475488"/>
          </a:xfrm>
          <a:prstGeom prst="roundRect">
            <a:avLst>
              <a:gd name="adj" fmla="val 19230"/>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Long chats can push earlier details out of the window</a:t>
            </a:r>
          </a:p>
        </p:txBody>
      </p:sp>
      <p:sp>
        <p:nvSpPr>
          <p:cNvPr id="22" name="Freeform 21"/>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23"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Beginner</a:t>
            </a:r>
          </a:p>
        </p:txBody>
      </p:sp>
      <p:sp>
        <p:nvSpPr>
          <p:cNvPr id="24"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What is an agent? Model + tools + loop</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 AGENTS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Agent: a model that can act</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Uses tools to fetch or change things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Loops: think, act, observe, repeat</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Think"/>
          <p:cNvSpPr/>
          <p:nvPr/>
        </p:nvSpPr>
        <p:spPr>
          <a:xfrm>
            <a:off x="7630668" y="2034540"/>
            <a:ext cx="1325880" cy="1325880"/>
          </a:xfrm>
          <a:prstGeom prst="ellipse">
            <a:avLst/>
          </a:prstGeom>
          <a:solidFill>
            <a:srgbClr val="0F6CBD"/>
          </a:solidFill>
          <a:ln w="15875">
            <a:solidFill>
              <a:srgbClr val="0F6CBD"/>
            </a:solidFill>
          </a:ln>
          <a:effectLst/>
        </p:spPr>
        <p:txBody>
          <a:bodyPr rtlCol="0" anchor="ctr" wrap="square" lIns="45720" rIns="45720" tIns="27432" bIns="27432">
            <a:noAutofit/>
          </a:bodyPr>
          <a:lstStyle/>
          <a:p>
            <a:pPr algn="ctr"/>
            <a:r>
              <a:rPr sz="1700" b="1" i="0">
                <a:solidFill>
                  <a:srgbClr val="FFFFFF"/>
                </a:solidFill>
                <a:latin typeface="Calibri"/>
              </a:rPr>
              <a:t>Think</a:t>
            </a:r>
          </a:p>
        </p:txBody>
      </p:sp>
      <p:sp>
        <p:nvSpPr>
          <p:cNvPr id="7" name="Act"/>
          <p:cNvSpPr/>
          <p:nvPr/>
        </p:nvSpPr>
        <p:spPr>
          <a:xfrm>
            <a:off x="9505188" y="4320540"/>
            <a:ext cx="1325880" cy="1325880"/>
          </a:xfrm>
          <a:prstGeom prst="ellipse">
            <a:avLst/>
          </a:prstGeom>
          <a:solidFill>
            <a:srgbClr val="EAF3FC"/>
          </a:solidFill>
          <a:ln w="15875">
            <a:solidFill>
              <a:srgbClr val="8DBBE6"/>
            </a:solidFill>
          </a:ln>
          <a:effectLst/>
        </p:spPr>
        <p:txBody>
          <a:bodyPr rtlCol="0" anchor="ctr" wrap="square" lIns="45720" rIns="45720" tIns="27432" bIns="27432">
            <a:noAutofit/>
          </a:bodyPr>
          <a:lstStyle/>
          <a:p>
            <a:pPr algn="ctr"/>
            <a:r>
              <a:rPr sz="1700" b="1" i="0">
                <a:solidFill>
                  <a:srgbClr val="16202F"/>
                </a:solidFill>
                <a:latin typeface="Calibri"/>
              </a:rPr>
              <a:t>Act</a:t>
            </a:r>
          </a:p>
          <a:p>
            <a:pPr algn="ctr"/>
            <a:r>
              <a:rPr sz="1300" b="0" i="0">
                <a:solidFill>
                  <a:srgbClr val="53617A"/>
                </a:solidFill>
                <a:latin typeface="Calibri"/>
              </a:rPr>
              <a:t>use a tool</a:t>
            </a:r>
          </a:p>
        </p:txBody>
      </p:sp>
      <p:sp>
        <p:nvSpPr>
          <p:cNvPr id="8" name="Observe"/>
          <p:cNvSpPr/>
          <p:nvPr/>
        </p:nvSpPr>
        <p:spPr>
          <a:xfrm>
            <a:off x="5756148" y="4320540"/>
            <a:ext cx="1325880" cy="1325880"/>
          </a:xfrm>
          <a:prstGeom prst="ellipse">
            <a:avLst/>
          </a:prstGeom>
          <a:solidFill>
            <a:srgbClr val="FFFFFF"/>
          </a:solidFill>
          <a:ln w="15875">
            <a:solidFill>
              <a:srgbClr val="B8C4D6"/>
            </a:solidFill>
          </a:ln>
          <a:effectLst/>
        </p:spPr>
        <p:txBody>
          <a:bodyPr rtlCol="0" anchor="ctr" wrap="square" lIns="45720" rIns="45720" tIns="27432" bIns="27432">
            <a:noAutofit/>
          </a:bodyPr>
          <a:lstStyle/>
          <a:p>
            <a:pPr algn="ctr"/>
            <a:r>
              <a:rPr sz="1700" b="1" i="0">
                <a:solidFill>
                  <a:srgbClr val="16202F"/>
                </a:solidFill>
                <a:latin typeface="Calibri"/>
              </a:rPr>
              <a:t>Observe</a:t>
            </a:r>
          </a:p>
          <a:p>
            <a:pPr algn="ctr"/>
            <a:r>
              <a:rPr sz="1300" b="0" i="0">
                <a:solidFill>
                  <a:srgbClr val="53617A"/>
                </a:solidFill>
                <a:latin typeface="Calibri"/>
              </a:rPr>
              <a:t>the result</a:t>
            </a:r>
          </a:p>
        </p:txBody>
      </p:sp>
      <p:cxnSp>
        <p:nvCxnSpPr>
          <p:cNvPr id="9" name="Connector 8"/>
          <p:cNvCxnSpPr/>
          <p:nvPr/>
        </p:nvCxnSpPr>
        <p:spPr>
          <a:xfrm>
            <a:off x="8748753" y="3252535"/>
            <a:ext cx="941038" cy="1147607"/>
          </a:xfrm>
          <a:prstGeom prst="line">
            <a:avLst/>
          </a:prstGeom>
          <a:ln w="28575">
            <a:solidFill>
              <a:srgbClr val="0F6CBD"/>
            </a:solidFill>
            <a:tailEnd type="triangle" w="med" len="med"/>
          </a:ln>
        </p:spPr>
      </p:cxnSp>
      <p:cxnSp>
        <p:nvCxnSpPr>
          <p:cNvPr id="10" name="Connector 9"/>
          <p:cNvCxnSpPr/>
          <p:nvPr/>
        </p:nvCxnSpPr>
        <p:spPr>
          <a:xfrm flipH="1">
            <a:off x="7173468" y="4983480"/>
            <a:ext cx="2276856" cy="0"/>
          </a:xfrm>
          <a:prstGeom prst="line">
            <a:avLst/>
          </a:prstGeom>
          <a:ln w="28575">
            <a:solidFill>
              <a:srgbClr val="0F6CBD"/>
            </a:solidFill>
            <a:tailEnd type="triangle" w="med" len="med"/>
          </a:ln>
        </p:spPr>
      </p:cxnSp>
      <p:cxnSp>
        <p:nvCxnSpPr>
          <p:cNvPr id="11" name="Connector 10"/>
          <p:cNvCxnSpPr/>
          <p:nvPr/>
        </p:nvCxnSpPr>
        <p:spPr>
          <a:xfrm flipV="1">
            <a:off x="6874233" y="3280818"/>
            <a:ext cx="941038" cy="1147607"/>
          </a:xfrm>
          <a:prstGeom prst="line">
            <a:avLst/>
          </a:prstGeom>
          <a:ln w="28575">
            <a:solidFill>
              <a:srgbClr val="0F6CBD"/>
            </a:solidFill>
            <a:tailEnd type="triangle" w="med" len="med"/>
          </a:ln>
        </p:spPr>
      </p:cxnSp>
      <p:sp>
        <p:nvSpPr>
          <p:cNvPr id="12" name="TextBox 11"/>
          <p:cNvSpPr txBox="1"/>
          <p:nvPr/>
        </p:nvSpPr>
        <p:spPr>
          <a:xfrm>
            <a:off x="7287768" y="4069080"/>
            <a:ext cx="2011680" cy="365760"/>
          </a:xfrm>
          <a:prstGeom prst="rect">
            <a:avLst/>
          </a:prstGeom>
          <a:noFill/>
        </p:spPr>
        <p:txBody>
          <a:bodyPr wrap="square" lIns="18288" rIns="18288" tIns="10973" bIns="10973" anchor="t">
            <a:noAutofit/>
          </a:bodyPr>
          <a:lstStyle/>
          <a:p>
            <a:pPr algn="ctr"/>
            <a:r>
              <a:rPr sz="1300" b="0" i="1">
                <a:solidFill>
                  <a:srgbClr val="53617A"/>
                </a:solidFill>
                <a:latin typeface="Calibri"/>
              </a:rPr>
              <a:t>repeat until done</a:t>
            </a:r>
          </a:p>
        </p:txBody>
      </p:sp>
      <p:sp>
        <p:nvSpPr>
          <p:cNvPr id="13" name="Freeform 12"/>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4"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Beginner</a:t>
            </a:r>
          </a:p>
        </p:txBody>
      </p:sp>
      <p:sp>
        <p:nvSpPr>
          <p:cNvPr id="15"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Tools and MCP, explained simply</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 AGENTS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Tools: specific jobs a model can call</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MCP: a common way to connect tools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Like a universal plug for AI apps</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AI application"/>
          <p:cNvSpPr/>
          <p:nvPr/>
        </p:nvSpPr>
        <p:spPr>
          <a:xfrm>
            <a:off x="5212080" y="3364992"/>
            <a:ext cx="1965960" cy="1005840"/>
          </a:xfrm>
          <a:prstGeom prst="roundRect">
            <a:avLst>
              <a:gd name="adj" fmla="val 10909"/>
            </a:avLst>
          </a:prstGeom>
          <a:solidFill>
            <a:srgbClr val="0F6CBD"/>
          </a:solidFill>
          <a:ln w="15875">
            <a:solidFill>
              <a:srgbClr val="0F6CBD"/>
            </a:solidFill>
          </a:ln>
          <a:effectLst/>
        </p:spPr>
        <p:txBody>
          <a:bodyPr rtlCol="0" anchor="ctr" wrap="square" lIns="73152" rIns="73152" tIns="43891" bIns="43891">
            <a:noAutofit/>
          </a:bodyPr>
          <a:lstStyle/>
          <a:p>
            <a:pPr algn="ctr"/>
            <a:r>
              <a:rPr sz="1700" b="1" i="0">
                <a:solidFill>
                  <a:srgbClr val="FFFFFF"/>
                </a:solidFill>
                <a:latin typeface="Calibri"/>
              </a:rPr>
              <a:t>AI application</a:t>
            </a:r>
          </a:p>
        </p:txBody>
      </p:sp>
      <p:sp>
        <p:nvSpPr>
          <p:cNvPr id="7" name="TextBox 6"/>
          <p:cNvSpPr txBox="1"/>
          <p:nvPr/>
        </p:nvSpPr>
        <p:spPr>
          <a:xfrm>
            <a:off x="5120640" y="4480560"/>
            <a:ext cx="2148840" cy="640080"/>
          </a:xfrm>
          <a:prstGeom prst="rect">
            <a:avLst/>
          </a:prstGeom>
          <a:noFill/>
        </p:spPr>
        <p:txBody>
          <a:bodyPr wrap="square" lIns="18288" rIns="18288" tIns="10973" bIns="10973" anchor="t">
            <a:noAutofit/>
          </a:bodyPr>
          <a:lstStyle/>
          <a:p>
            <a:pPr algn="ctr"/>
            <a:r>
              <a:rPr sz="1300" b="0" i="1">
                <a:solidFill>
                  <a:srgbClr val="53617A"/>
                </a:solidFill>
                <a:latin typeface="Calibri"/>
              </a:rPr>
              <a:t>one standard,</a:t>
            </a:r>
          </a:p>
          <a:p>
            <a:pPr algn="ctr"/>
            <a:r>
              <a:rPr sz="1300" b="0" i="1">
                <a:solidFill>
                  <a:srgbClr val="53617A"/>
                </a:solidFill>
                <a:latin typeface="Calibri"/>
              </a:rPr>
              <a:t>many tools</a:t>
            </a:r>
          </a:p>
        </p:txBody>
      </p:sp>
      <p:cxnSp>
        <p:nvCxnSpPr>
          <p:cNvPr id="8" name="Connector 7"/>
          <p:cNvCxnSpPr/>
          <p:nvPr/>
        </p:nvCxnSpPr>
        <p:spPr>
          <a:xfrm flipV="1">
            <a:off x="7223760" y="2505456"/>
            <a:ext cx="2286000" cy="1362456"/>
          </a:xfrm>
          <a:prstGeom prst="line">
            <a:avLst/>
          </a:prstGeom>
          <a:ln w="22225">
            <a:solidFill>
              <a:srgbClr val="53617A"/>
            </a:solidFill>
          </a:ln>
        </p:spPr>
      </p:cxnSp>
      <p:sp>
        <p:nvSpPr>
          <p:cNvPr id="9" name="MCP"/>
          <p:cNvSpPr/>
          <p:nvPr/>
        </p:nvSpPr>
        <p:spPr>
          <a:xfrm>
            <a:off x="8142732" y="2944825"/>
            <a:ext cx="676656" cy="347472"/>
          </a:xfrm>
          <a:prstGeom prst="roundRect">
            <a:avLst>
              <a:gd name="adj" fmla="val 50000"/>
            </a:avLst>
          </a:prstGeom>
          <a:solidFill>
            <a:srgbClr val="FFF4E4"/>
          </a:solidFill>
          <a:ln w="15875">
            <a:solidFill>
              <a:srgbClr val="E8A855"/>
            </a:solidFill>
          </a:ln>
          <a:effectLst/>
        </p:spPr>
        <p:txBody>
          <a:bodyPr rtlCol="0" anchor="ctr" wrap="square" lIns="45720" rIns="45720" tIns="27432" bIns="27432">
            <a:noAutofit/>
          </a:bodyPr>
          <a:lstStyle/>
          <a:p>
            <a:pPr algn="ctr"/>
            <a:r>
              <a:rPr sz="1200" b="1" i="0">
                <a:solidFill>
                  <a:srgbClr val="16202F"/>
                </a:solidFill>
                <a:latin typeface="Calibri"/>
              </a:rPr>
              <a:t>MCP</a:t>
            </a:r>
          </a:p>
        </p:txBody>
      </p:sp>
      <p:sp>
        <p:nvSpPr>
          <p:cNvPr id="10" name="Files"/>
          <p:cNvSpPr/>
          <p:nvPr/>
        </p:nvSpPr>
        <p:spPr>
          <a:xfrm>
            <a:off x="9509760" y="2148840"/>
            <a:ext cx="1920240" cy="713232"/>
          </a:xfrm>
          <a:prstGeom prst="roundRect">
            <a:avLst>
              <a:gd name="adj" fmla="val 15384"/>
            </a:avLst>
          </a:prstGeom>
          <a:solidFill>
            <a:srgbClr val="FFFFFF"/>
          </a:solidFill>
          <a:ln w="15875">
            <a:solidFill>
              <a:srgbClr val="B8C4D6"/>
            </a:solidFill>
          </a:ln>
          <a:effectLst/>
        </p:spPr>
        <p:txBody>
          <a:bodyPr rtlCol="0" anchor="ctr" wrap="square" lIns="73152" rIns="73152" tIns="43891" bIns="43891">
            <a:noAutofit/>
          </a:bodyPr>
          <a:lstStyle/>
          <a:p>
            <a:pPr algn="ctr"/>
            <a:r>
              <a:rPr sz="1600" b="1" i="0">
                <a:solidFill>
                  <a:srgbClr val="16202F"/>
                </a:solidFill>
                <a:latin typeface="Calibri"/>
              </a:rPr>
              <a:t>Files</a:t>
            </a:r>
          </a:p>
        </p:txBody>
      </p:sp>
      <p:cxnSp>
        <p:nvCxnSpPr>
          <p:cNvPr id="11" name="Connector 10"/>
          <p:cNvCxnSpPr/>
          <p:nvPr/>
        </p:nvCxnSpPr>
        <p:spPr>
          <a:xfrm>
            <a:off x="7223760" y="3867912"/>
            <a:ext cx="2286000" cy="0"/>
          </a:xfrm>
          <a:prstGeom prst="line">
            <a:avLst/>
          </a:prstGeom>
          <a:ln w="22225">
            <a:solidFill>
              <a:srgbClr val="53617A"/>
            </a:solidFill>
          </a:ln>
        </p:spPr>
      </p:cxnSp>
      <p:sp>
        <p:nvSpPr>
          <p:cNvPr id="12" name="MCP"/>
          <p:cNvSpPr/>
          <p:nvPr/>
        </p:nvSpPr>
        <p:spPr>
          <a:xfrm>
            <a:off x="8142732" y="3694176"/>
            <a:ext cx="676656" cy="347472"/>
          </a:xfrm>
          <a:prstGeom prst="roundRect">
            <a:avLst>
              <a:gd name="adj" fmla="val 50000"/>
            </a:avLst>
          </a:prstGeom>
          <a:solidFill>
            <a:srgbClr val="FFF4E4"/>
          </a:solidFill>
          <a:ln w="15875">
            <a:solidFill>
              <a:srgbClr val="E8A855"/>
            </a:solidFill>
          </a:ln>
          <a:effectLst/>
        </p:spPr>
        <p:txBody>
          <a:bodyPr rtlCol="0" anchor="ctr" wrap="square" lIns="45720" rIns="45720" tIns="27432" bIns="27432">
            <a:noAutofit/>
          </a:bodyPr>
          <a:lstStyle/>
          <a:p>
            <a:pPr algn="ctr"/>
            <a:r>
              <a:rPr sz="1200" b="1" i="0">
                <a:solidFill>
                  <a:srgbClr val="16202F"/>
                </a:solidFill>
                <a:latin typeface="Calibri"/>
              </a:rPr>
              <a:t>MCP</a:t>
            </a:r>
          </a:p>
        </p:txBody>
      </p:sp>
      <p:sp>
        <p:nvSpPr>
          <p:cNvPr id="13" name="Calendar"/>
          <p:cNvSpPr/>
          <p:nvPr/>
        </p:nvSpPr>
        <p:spPr>
          <a:xfrm>
            <a:off x="9509760" y="3511296"/>
            <a:ext cx="1920240" cy="713232"/>
          </a:xfrm>
          <a:prstGeom prst="roundRect">
            <a:avLst>
              <a:gd name="adj" fmla="val 15384"/>
            </a:avLst>
          </a:prstGeom>
          <a:solidFill>
            <a:srgbClr val="FFFFFF"/>
          </a:solidFill>
          <a:ln w="15875">
            <a:solidFill>
              <a:srgbClr val="B8C4D6"/>
            </a:solidFill>
          </a:ln>
          <a:effectLst/>
        </p:spPr>
        <p:txBody>
          <a:bodyPr rtlCol="0" anchor="ctr" wrap="square" lIns="73152" rIns="73152" tIns="43891" bIns="43891">
            <a:noAutofit/>
          </a:bodyPr>
          <a:lstStyle/>
          <a:p>
            <a:pPr algn="ctr"/>
            <a:r>
              <a:rPr sz="1600" b="1" i="0">
                <a:solidFill>
                  <a:srgbClr val="16202F"/>
                </a:solidFill>
                <a:latin typeface="Calibri"/>
              </a:rPr>
              <a:t>Calendar</a:t>
            </a:r>
          </a:p>
        </p:txBody>
      </p:sp>
      <p:cxnSp>
        <p:nvCxnSpPr>
          <p:cNvPr id="14" name="Connector 13"/>
          <p:cNvCxnSpPr/>
          <p:nvPr/>
        </p:nvCxnSpPr>
        <p:spPr>
          <a:xfrm>
            <a:off x="7223760" y="3867912"/>
            <a:ext cx="2286000" cy="1362456"/>
          </a:xfrm>
          <a:prstGeom prst="line">
            <a:avLst/>
          </a:prstGeom>
          <a:ln w="22225">
            <a:solidFill>
              <a:srgbClr val="53617A"/>
            </a:solidFill>
          </a:ln>
        </p:spPr>
      </p:cxnSp>
      <p:sp>
        <p:nvSpPr>
          <p:cNvPr id="15" name="MCP"/>
          <p:cNvSpPr/>
          <p:nvPr/>
        </p:nvSpPr>
        <p:spPr>
          <a:xfrm>
            <a:off x="8142732" y="4443527"/>
            <a:ext cx="676656" cy="347472"/>
          </a:xfrm>
          <a:prstGeom prst="roundRect">
            <a:avLst>
              <a:gd name="adj" fmla="val 50000"/>
            </a:avLst>
          </a:prstGeom>
          <a:solidFill>
            <a:srgbClr val="FFF4E4"/>
          </a:solidFill>
          <a:ln w="15875">
            <a:solidFill>
              <a:srgbClr val="E8A855"/>
            </a:solidFill>
          </a:ln>
          <a:effectLst/>
        </p:spPr>
        <p:txBody>
          <a:bodyPr rtlCol="0" anchor="ctr" wrap="square" lIns="45720" rIns="45720" tIns="27432" bIns="27432">
            <a:noAutofit/>
          </a:bodyPr>
          <a:lstStyle/>
          <a:p>
            <a:pPr algn="ctr"/>
            <a:r>
              <a:rPr sz="1200" b="1" i="0">
                <a:solidFill>
                  <a:srgbClr val="16202F"/>
                </a:solidFill>
                <a:latin typeface="Calibri"/>
              </a:rPr>
              <a:t>MCP</a:t>
            </a:r>
          </a:p>
        </p:txBody>
      </p:sp>
      <p:sp>
        <p:nvSpPr>
          <p:cNvPr id="16" name="Database"/>
          <p:cNvSpPr/>
          <p:nvPr/>
        </p:nvSpPr>
        <p:spPr>
          <a:xfrm>
            <a:off x="9509760" y="4873752"/>
            <a:ext cx="1920240" cy="713232"/>
          </a:xfrm>
          <a:prstGeom prst="roundRect">
            <a:avLst>
              <a:gd name="adj" fmla="val 15384"/>
            </a:avLst>
          </a:prstGeom>
          <a:solidFill>
            <a:srgbClr val="FFFFFF"/>
          </a:solidFill>
          <a:ln w="15875">
            <a:solidFill>
              <a:srgbClr val="B8C4D6"/>
            </a:solidFill>
          </a:ln>
          <a:effectLst/>
        </p:spPr>
        <p:txBody>
          <a:bodyPr rtlCol="0" anchor="ctr" wrap="square" lIns="73152" rIns="73152" tIns="43891" bIns="43891">
            <a:noAutofit/>
          </a:bodyPr>
          <a:lstStyle/>
          <a:p>
            <a:pPr algn="ctr"/>
            <a:r>
              <a:rPr sz="1600" b="1" i="0">
                <a:solidFill>
                  <a:srgbClr val="16202F"/>
                </a:solidFill>
                <a:latin typeface="Calibri"/>
              </a:rPr>
              <a:t>Database</a:t>
            </a:r>
          </a:p>
        </p:txBody>
      </p:sp>
      <p:sp>
        <p:nvSpPr>
          <p:cNvPr id="17" name="Freeform 16"/>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8"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Beginner</a:t>
            </a:r>
          </a:p>
        </p:txBody>
      </p:sp>
      <p:sp>
        <p:nvSpPr>
          <p:cNvPr id="19"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2700" b="1" i="0">
                <a:solidFill>
                  <a:srgbClr val="16202F"/>
                </a:solidFill>
                <a:latin typeface="Calibri"/>
              </a:rPr>
              <a:t>Speech: speech-to-text, text-to-speech, realtime voice, avatars</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 SPEECH</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Speech-to-text: turns speech into words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Text-to-speech: turns words into speech</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Realtime voice: both happen live, together</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Avatars: a face and voice combined</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Microphone"/>
          <p:cNvSpPr/>
          <p:nvPr/>
        </p:nvSpPr>
        <p:spPr>
          <a:xfrm>
            <a:off x="5212080" y="3246120"/>
            <a:ext cx="1255014" cy="1051560"/>
          </a:xfrm>
          <a:prstGeom prst="roundRect">
            <a:avLst>
              <a:gd name="adj" fmla="val 10434"/>
            </a:avLst>
          </a:prstGeom>
          <a:solidFill>
            <a:srgbClr val="FFFFFF"/>
          </a:solidFill>
          <a:ln w="15875">
            <a:solidFill>
              <a:srgbClr val="B8C4D6"/>
            </a:solidFill>
          </a:ln>
          <a:effectLst/>
        </p:spPr>
        <p:txBody>
          <a:bodyPr rtlCol="0" anchor="ctr" wrap="square" lIns="73152" rIns="73152" tIns="43891" bIns="43891">
            <a:noAutofit/>
          </a:bodyPr>
          <a:lstStyle/>
          <a:p>
            <a:pPr algn="ctr"/>
            <a:r>
              <a:rPr sz="1600" b="1" i="0">
                <a:solidFill>
                  <a:srgbClr val="16202F"/>
                </a:solidFill>
                <a:latin typeface="Calibri"/>
              </a:rPr>
              <a:t>Microphone</a:t>
            </a:r>
          </a:p>
        </p:txBody>
      </p:sp>
      <p:sp>
        <p:nvSpPr>
          <p:cNvPr id="7" name="Speech to text"/>
          <p:cNvSpPr/>
          <p:nvPr/>
        </p:nvSpPr>
        <p:spPr>
          <a:xfrm>
            <a:off x="6851142" y="3246120"/>
            <a:ext cx="1255014" cy="1051560"/>
          </a:xfrm>
          <a:prstGeom prst="roundRect">
            <a:avLst>
              <a:gd name="adj" fmla="val 10434"/>
            </a:avLst>
          </a:prstGeom>
          <a:solidFill>
            <a:srgbClr val="EAF3FC"/>
          </a:solidFill>
          <a:ln w="15875">
            <a:solidFill>
              <a:srgbClr val="8DBBE6"/>
            </a:solidFill>
          </a:ln>
          <a:effectLst/>
        </p:spPr>
        <p:txBody>
          <a:bodyPr rtlCol="0" anchor="ctr" wrap="square" lIns="73152" rIns="73152" tIns="43891" bIns="43891">
            <a:noAutofit/>
          </a:bodyPr>
          <a:lstStyle/>
          <a:p>
            <a:pPr algn="ctr"/>
            <a:r>
              <a:rPr sz="1600" b="1" i="0">
                <a:solidFill>
                  <a:srgbClr val="16202F"/>
                </a:solidFill>
                <a:latin typeface="Calibri"/>
              </a:rPr>
              <a:t>Speech</a:t>
            </a:r>
          </a:p>
          <a:p>
            <a:pPr algn="ctr"/>
            <a:r>
              <a:rPr sz="1600" b="1" i="0">
                <a:solidFill>
                  <a:srgbClr val="16202F"/>
                </a:solidFill>
                <a:latin typeface="Calibri"/>
              </a:rPr>
              <a:t>to text</a:t>
            </a:r>
          </a:p>
        </p:txBody>
      </p:sp>
      <p:sp>
        <p:nvSpPr>
          <p:cNvPr id="8" name="Text to speech"/>
          <p:cNvSpPr/>
          <p:nvPr/>
        </p:nvSpPr>
        <p:spPr>
          <a:xfrm>
            <a:off x="8490204" y="3246120"/>
            <a:ext cx="1255014" cy="1051560"/>
          </a:xfrm>
          <a:prstGeom prst="roundRect">
            <a:avLst>
              <a:gd name="adj" fmla="val 10434"/>
            </a:avLst>
          </a:prstGeom>
          <a:solidFill>
            <a:srgbClr val="EAF3FC"/>
          </a:solidFill>
          <a:ln w="15875">
            <a:solidFill>
              <a:srgbClr val="8DBBE6"/>
            </a:solidFill>
          </a:ln>
          <a:effectLst/>
        </p:spPr>
        <p:txBody>
          <a:bodyPr rtlCol="0" anchor="ctr" wrap="square" lIns="73152" rIns="73152" tIns="43891" bIns="43891">
            <a:noAutofit/>
          </a:bodyPr>
          <a:lstStyle/>
          <a:p>
            <a:pPr algn="ctr"/>
            <a:r>
              <a:rPr sz="1600" b="1" i="0">
                <a:solidFill>
                  <a:srgbClr val="16202F"/>
                </a:solidFill>
                <a:latin typeface="Calibri"/>
              </a:rPr>
              <a:t>Text</a:t>
            </a:r>
          </a:p>
          <a:p>
            <a:pPr algn="ctr"/>
            <a:r>
              <a:rPr sz="1600" b="1" i="0">
                <a:solidFill>
                  <a:srgbClr val="16202F"/>
                </a:solidFill>
                <a:latin typeface="Calibri"/>
              </a:rPr>
              <a:t>to speech</a:t>
            </a:r>
          </a:p>
        </p:txBody>
      </p:sp>
      <p:sp>
        <p:nvSpPr>
          <p:cNvPr id="9" name="Avatar face"/>
          <p:cNvSpPr/>
          <p:nvPr/>
        </p:nvSpPr>
        <p:spPr>
          <a:xfrm>
            <a:off x="10129266" y="3246120"/>
            <a:ext cx="1255014" cy="1051560"/>
          </a:xfrm>
          <a:prstGeom prst="roundRect">
            <a:avLst>
              <a:gd name="adj" fmla="val 10434"/>
            </a:avLst>
          </a:prstGeom>
          <a:solidFill>
            <a:srgbClr val="0F6CBD"/>
          </a:solidFill>
          <a:ln w="15875">
            <a:solidFill>
              <a:srgbClr val="0F6CBD"/>
            </a:solidFill>
          </a:ln>
          <a:effectLst/>
        </p:spPr>
        <p:txBody>
          <a:bodyPr rtlCol="0" anchor="ctr" wrap="square" lIns="73152" rIns="73152" tIns="43891" bIns="43891">
            <a:noAutofit/>
          </a:bodyPr>
          <a:lstStyle/>
          <a:p>
            <a:pPr algn="ctr"/>
            <a:r>
              <a:rPr sz="1600" b="1" i="0">
                <a:solidFill>
                  <a:srgbClr val="FFFFFF"/>
                </a:solidFill>
                <a:latin typeface="Calibri"/>
              </a:rPr>
              <a:t>Avatar</a:t>
            </a:r>
          </a:p>
          <a:p>
            <a:pPr algn="ctr"/>
            <a:r>
              <a:rPr sz="1600" b="1" i="0">
                <a:solidFill>
                  <a:srgbClr val="FFFFFF"/>
                </a:solidFill>
                <a:latin typeface="Calibri"/>
              </a:rPr>
              <a:t>face</a:t>
            </a:r>
          </a:p>
        </p:txBody>
      </p:sp>
      <p:cxnSp>
        <p:nvCxnSpPr>
          <p:cNvPr id="10" name="Connector 9"/>
          <p:cNvCxnSpPr/>
          <p:nvPr/>
        </p:nvCxnSpPr>
        <p:spPr>
          <a:xfrm>
            <a:off x="6503670" y="3771900"/>
            <a:ext cx="310896" cy="0"/>
          </a:xfrm>
          <a:prstGeom prst="line">
            <a:avLst/>
          </a:prstGeom>
          <a:ln w="22225">
            <a:solidFill>
              <a:srgbClr val="0F6CBD"/>
            </a:solidFill>
            <a:tailEnd type="triangle" w="med" len="med"/>
          </a:ln>
        </p:spPr>
      </p:cxnSp>
      <p:cxnSp>
        <p:nvCxnSpPr>
          <p:cNvPr id="11" name="Connector 10"/>
          <p:cNvCxnSpPr/>
          <p:nvPr/>
        </p:nvCxnSpPr>
        <p:spPr>
          <a:xfrm>
            <a:off x="8142732" y="3771900"/>
            <a:ext cx="310896" cy="0"/>
          </a:xfrm>
          <a:prstGeom prst="line">
            <a:avLst/>
          </a:prstGeom>
          <a:ln w="22225">
            <a:solidFill>
              <a:srgbClr val="0F6CBD"/>
            </a:solidFill>
            <a:tailEnd type="triangle" w="med" len="med"/>
          </a:ln>
        </p:spPr>
      </p:cxnSp>
      <p:cxnSp>
        <p:nvCxnSpPr>
          <p:cNvPr id="12" name="Connector 11"/>
          <p:cNvCxnSpPr/>
          <p:nvPr/>
        </p:nvCxnSpPr>
        <p:spPr>
          <a:xfrm>
            <a:off x="9781794" y="3771900"/>
            <a:ext cx="310896" cy="0"/>
          </a:xfrm>
          <a:prstGeom prst="line">
            <a:avLst/>
          </a:prstGeom>
          <a:ln w="22225">
            <a:solidFill>
              <a:srgbClr val="0F6CBD"/>
            </a:solidFill>
            <a:tailEnd type="triangle" w="med" len="med"/>
          </a:ln>
        </p:spPr>
      </p:cxnSp>
      <p:sp>
        <p:nvSpPr>
          <p:cNvPr id="13" name="TextBox 12"/>
          <p:cNvSpPr txBox="1"/>
          <p:nvPr/>
        </p:nvSpPr>
        <p:spPr>
          <a:xfrm>
            <a:off x="7694676" y="4389120"/>
            <a:ext cx="1188720" cy="320040"/>
          </a:xfrm>
          <a:prstGeom prst="rect">
            <a:avLst/>
          </a:prstGeom>
          <a:noFill/>
        </p:spPr>
        <p:txBody>
          <a:bodyPr wrap="square" lIns="18288" rIns="18288" tIns="10973" bIns="10973" anchor="t">
            <a:noAutofit/>
          </a:bodyPr>
          <a:lstStyle/>
          <a:p>
            <a:pPr algn="ctr"/>
            <a:r>
              <a:rPr sz="1200" b="0" i="1">
                <a:solidFill>
                  <a:srgbClr val="53617A"/>
                </a:solidFill>
                <a:latin typeface="Calibri"/>
              </a:rPr>
              <a:t>via a model</a:t>
            </a:r>
          </a:p>
        </p:txBody>
      </p:sp>
      <p:sp>
        <p:nvSpPr>
          <p:cNvPr id="14" name="Freeform 13"/>
          <p:cNvSpPr/>
          <p:nvPr/>
        </p:nvSpPr>
        <p:spPr>
          <a:xfrm>
            <a:off x="5839587" y="2286000"/>
            <a:ext cx="4917186" cy="914400"/>
          </a:xfrm>
          <a:custGeom>
            <a:avLst/>
            <a:gdLst/>
            <a:ahLst/>
            <a:cxnLst/>
            <a:rect l="l" t="t" r="r" b="b"/>
            <a:pathLst>
              <a:path w="4917186" h="914400">
                <a:moveTo>
                  <a:pt x="0" y="914400"/>
                </a:moveTo>
                <a:lnTo>
                  <a:pt x="21034" y="795047"/>
                </a:lnTo>
                <a:lnTo>
                  <a:pt x="83775" y="677736"/>
                </a:lnTo>
                <a:lnTo>
                  <a:pt x="187149" y="564474"/>
                </a:lnTo>
                <a:lnTo>
                  <a:pt x="329389" y="457200"/>
                </a:lnTo>
                <a:lnTo>
                  <a:pt x="508060" y="357749"/>
                </a:lnTo>
                <a:lnTo>
                  <a:pt x="720105" y="267822"/>
                </a:lnTo>
                <a:lnTo>
                  <a:pt x="961896" y="188958"/>
                </a:lnTo>
                <a:lnTo>
                  <a:pt x="1229296" y="122506"/>
                </a:lnTo>
                <a:lnTo>
                  <a:pt x="1517730" y="69605"/>
                </a:lnTo>
                <a:lnTo>
                  <a:pt x="1822262" y="31157"/>
                </a:lnTo>
                <a:lnTo>
                  <a:pt x="2137682" y="7823"/>
                </a:lnTo>
                <a:lnTo>
                  <a:pt x="2458593" y="0"/>
                </a:lnTo>
                <a:lnTo>
                  <a:pt x="2779504" y="7823"/>
                </a:lnTo>
                <a:lnTo>
                  <a:pt x="3094924" y="31157"/>
                </a:lnTo>
                <a:lnTo>
                  <a:pt x="3399456" y="69605"/>
                </a:lnTo>
                <a:lnTo>
                  <a:pt x="3687889" y="122506"/>
                </a:lnTo>
                <a:lnTo>
                  <a:pt x="3955290" y="188958"/>
                </a:lnTo>
                <a:lnTo>
                  <a:pt x="4197081" y="267822"/>
                </a:lnTo>
                <a:lnTo>
                  <a:pt x="4409126" y="357749"/>
                </a:lnTo>
                <a:lnTo>
                  <a:pt x="4587797" y="457200"/>
                </a:lnTo>
                <a:lnTo>
                  <a:pt x="4730037" y="564474"/>
                </a:lnTo>
                <a:lnTo>
                  <a:pt x="4833411" y="677736"/>
                </a:lnTo>
                <a:lnTo>
                  <a:pt x="4896152" y="795047"/>
                </a:lnTo>
                <a:lnTo>
                  <a:pt x="4917186" y="914400"/>
                </a:lnTo>
              </a:path>
            </a:pathLst>
          </a:custGeom>
          <a:noFill/>
          <a:ln w="25400">
            <a:solidFill>
              <a:srgbClr val="C2620A"/>
            </a:solidFill>
            <a:prstDash val="dash"/>
            <a:tailEnd type="triangle" w="med" len="med"/>
          </a:ln>
          <a:effectLst/>
        </p:spPr>
        <p:txBody>
          <a:bodyPr rtlCol="0" anchor="ctr"/>
          <a:lstStyle/>
          <a:p>
            <a:pPr algn="ctr"/>
          </a:p>
        </p:txBody>
      </p:sp>
      <p:sp>
        <p:nvSpPr>
          <p:cNvPr id="15" name="realtime: all live, together"/>
          <p:cNvSpPr/>
          <p:nvPr/>
        </p:nvSpPr>
        <p:spPr>
          <a:xfrm>
            <a:off x="7063740" y="2093976"/>
            <a:ext cx="2468880" cy="384048"/>
          </a:xfrm>
          <a:prstGeom prst="roundRect">
            <a:avLst>
              <a:gd name="adj" fmla="val 50000"/>
            </a:avLst>
          </a:prstGeom>
          <a:solidFill>
            <a:srgbClr val="FFF4E4"/>
          </a:solidFill>
          <a:ln w="15875">
            <a:solidFill>
              <a:srgbClr val="E8A855"/>
            </a:solidFill>
          </a:ln>
          <a:effectLst/>
        </p:spPr>
        <p:txBody>
          <a:bodyPr rtlCol="0" anchor="ctr" wrap="square" lIns="45720" rIns="45720" tIns="27432" bIns="27432">
            <a:noAutofit/>
          </a:bodyPr>
          <a:lstStyle/>
          <a:p>
            <a:pPr algn="ctr"/>
            <a:r>
              <a:rPr sz="1300" b="1" i="0">
                <a:solidFill>
                  <a:srgbClr val="16202F"/>
                </a:solidFill>
                <a:latin typeface="Calibri"/>
              </a:rPr>
              <a:t>realtime: all live, together</a:t>
            </a:r>
          </a:p>
        </p:txBody>
      </p:sp>
      <p:sp>
        <p:nvSpPr>
          <p:cNvPr id="16" name="Each piece also works alone: captions, read-aloud"/>
          <p:cNvSpPr/>
          <p:nvPr/>
        </p:nvSpPr>
        <p:spPr>
          <a:xfrm>
            <a:off x="5166360" y="5120640"/>
            <a:ext cx="6245352" cy="475488"/>
          </a:xfrm>
          <a:prstGeom prst="roundRect">
            <a:avLst>
              <a:gd name="adj" fmla="val 19230"/>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Each piece also works alone: captions, read-aloud</a:t>
            </a:r>
          </a:p>
        </p:txBody>
      </p:sp>
      <p:sp>
        <p:nvSpPr>
          <p:cNvPr id="17" name="Freeform 16"/>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8"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Beginner</a:t>
            </a:r>
          </a:p>
        </p:txBody>
      </p:sp>
      <p:sp>
        <p:nvSpPr>
          <p:cNvPr id="19"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Open vs. closed models, and “open-weight”</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 MODELS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Closed: access via a hosted service only</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Open-weight: downloadable model files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Open Source AI: also open data and code</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Rounded Rectangle 5"/>
          <p:cNvSpPr/>
          <p:nvPr/>
        </p:nvSpPr>
        <p:spPr>
          <a:xfrm>
            <a:off x="5166360" y="1965960"/>
            <a:ext cx="6309360" cy="3931920"/>
          </a:xfrm>
          <a:prstGeom prst="roundRect">
            <a:avLst>
              <a:gd name="adj" fmla="val 4186"/>
            </a:avLst>
          </a:prstGeom>
          <a:solidFill>
            <a:srgbClr val="FFF4E4"/>
          </a:solidFill>
          <a:ln w="15875">
            <a:solidFill>
              <a:srgbClr val="E8A855"/>
            </a:solidFill>
          </a:ln>
          <a:effectLst/>
        </p:spPr>
        <p:txBody>
          <a:bodyPr rtlCol="0" anchor="ctr"/>
          <a:lstStyle/>
          <a:p>
            <a:pPr algn="ctr"/>
          </a:p>
        </p:txBody>
      </p:sp>
      <p:sp>
        <p:nvSpPr>
          <p:cNvPr id="7" name="TextBox 6"/>
          <p:cNvSpPr txBox="1"/>
          <p:nvPr/>
        </p:nvSpPr>
        <p:spPr>
          <a:xfrm>
            <a:off x="5394960" y="2075688"/>
            <a:ext cx="5852160" cy="365760"/>
          </a:xfrm>
          <a:prstGeom prst="rect">
            <a:avLst/>
          </a:prstGeom>
          <a:noFill/>
        </p:spPr>
        <p:txBody>
          <a:bodyPr wrap="square" lIns="18288" rIns="18288" tIns="10973" bIns="10973" anchor="t">
            <a:noAutofit/>
          </a:bodyPr>
          <a:lstStyle/>
          <a:p>
            <a:pPr algn="l"/>
            <a:r>
              <a:rPr sz="1500" b="1" i="0">
                <a:solidFill>
                  <a:srgbClr val="16202F"/>
                </a:solidFill>
                <a:latin typeface="Calibri"/>
              </a:rPr>
              <a:t>Open Source AI  ·  data information + code + weights</a:t>
            </a:r>
          </a:p>
        </p:txBody>
      </p:sp>
      <p:sp>
        <p:nvSpPr>
          <p:cNvPr id="8" name="Rounded Rectangle 7"/>
          <p:cNvSpPr/>
          <p:nvPr/>
        </p:nvSpPr>
        <p:spPr>
          <a:xfrm>
            <a:off x="5532120" y="2606040"/>
            <a:ext cx="5577840" cy="2743200"/>
          </a:xfrm>
          <a:prstGeom prst="roundRect">
            <a:avLst>
              <a:gd name="adj" fmla="val 5333"/>
            </a:avLst>
          </a:prstGeom>
          <a:solidFill>
            <a:srgbClr val="FFFFFF"/>
          </a:solidFill>
          <a:ln w="15875">
            <a:solidFill>
              <a:srgbClr val="8DBBE6"/>
            </a:solidFill>
          </a:ln>
          <a:effectLst/>
        </p:spPr>
        <p:txBody>
          <a:bodyPr rtlCol="0" anchor="ctr"/>
          <a:lstStyle/>
          <a:p>
            <a:pPr algn="ctr"/>
          </a:p>
        </p:txBody>
      </p:sp>
      <p:sp>
        <p:nvSpPr>
          <p:cNvPr id="9" name="TextBox 8"/>
          <p:cNvSpPr txBox="1"/>
          <p:nvPr/>
        </p:nvSpPr>
        <p:spPr>
          <a:xfrm>
            <a:off x="5760720" y="2715768"/>
            <a:ext cx="5120640" cy="365760"/>
          </a:xfrm>
          <a:prstGeom prst="rect">
            <a:avLst/>
          </a:prstGeom>
          <a:noFill/>
        </p:spPr>
        <p:txBody>
          <a:bodyPr wrap="square" lIns="18288" rIns="18288" tIns="10973" bIns="10973" anchor="t">
            <a:noAutofit/>
          </a:bodyPr>
          <a:lstStyle/>
          <a:p>
            <a:pPr algn="l"/>
            <a:r>
              <a:rPr sz="1500" b="1" i="0">
                <a:solidFill>
                  <a:srgbClr val="16202F"/>
                </a:solidFill>
                <a:latin typeface="Calibri"/>
              </a:rPr>
              <a:t>Open-weight  ·  downloadable model files</a:t>
            </a:r>
          </a:p>
        </p:txBody>
      </p:sp>
      <p:sp>
        <p:nvSpPr>
          <p:cNvPr id="10" name="Closed"/>
          <p:cNvSpPr/>
          <p:nvPr/>
        </p:nvSpPr>
        <p:spPr>
          <a:xfrm>
            <a:off x="5897880" y="3246120"/>
            <a:ext cx="4846320" cy="1737360"/>
          </a:xfrm>
          <a:prstGeom prst="roundRect">
            <a:avLst>
              <a:gd name="adj" fmla="val 6315"/>
            </a:avLst>
          </a:prstGeom>
          <a:solidFill>
            <a:srgbClr val="EAF3FC"/>
          </a:solidFill>
          <a:ln w="15875">
            <a:solidFill>
              <a:srgbClr val="8DBBE6"/>
            </a:solidFill>
          </a:ln>
          <a:effectLst/>
        </p:spPr>
        <p:txBody>
          <a:bodyPr rtlCol="0" anchor="ctr" wrap="square" lIns="73152" rIns="73152" tIns="43891" bIns="43891">
            <a:noAutofit/>
          </a:bodyPr>
          <a:lstStyle/>
          <a:p>
            <a:pPr algn="ctr"/>
            <a:r>
              <a:rPr sz="1700" b="1" i="0">
                <a:solidFill>
                  <a:srgbClr val="16202F"/>
                </a:solidFill>
                <a:latin typeface="Calibri"/>
              </a:rPr>
              <a:t>Closed</a:t>
            </a:r>
          </a:p>
          <a:p>
            <a:pPr algn="ctr"/>
            <a:r>
              <a:rPr sz="1300" b="0" i="0">
                <a:solidFill>
                  <a:srgbClr val="53617A"/>
                </a:solidFill>
                <a:latin typeface="Calibri"/>
              </a:rPr>
              <a:t>service access only:</a:t>
            </a:r>
          </a:p>
          <a:p>
            <a:pPr algn="ctr"/>
            <a:r>
              <a:rPr sz="1300" b="0" i="0">
                <a:solidFill>
                  <a:srgbClr val="53617A"/>
                </a:solidFill>
                <a:latin typeface="Calibri"/>
              </a:rPr>
              <a:t>send a request, get a response</a:t>
            </a:r>
          </a:p>
        </p:txBody>
      </p:sp>
      <p:sp>
        <p:nvSpPr>
          <p:cNvPr id="11" name="TextBox 10"/>
          <p:cNvSpPr txBox="1"/>
          <p:nvPr/>
        </p:nvSpPr>
        <p:spPr>
          <a:xfrm>
            <a:off x="5394960" y="5422392"/>
            <a:ext cx="5852160" cy="365760"/>
          </a:xfrm>
          <a:prstGeom prst="rect">
            <a:avLst/>
          </a:prstGeom>
          <a:noFill/>
        </p:spPr>
        <p:txBody>
          <a:bodyPr wrap="square" lIns="18288" rIns="18288" tIns="10973" bIns="10973" anchor="t">
            <a:noAutofit/>
          </a:bodyPr>
          <a:lstStyle/>
          <a:p>
            <a:pPr algn="ctr"/>
            <a:r>
              <a:rPr sz="1300" b="0" i="1">
                <a:solidFill>
                  <a:srgbClr val="53617A"/>
                </a:solidFill>
                <a:latin typeface="Calibri"/>
              </a:rPr>
              <a:t>Openness grows outward: a spectrum, not yes or no</a:t>
            </a:r>
          </a:p>
        </p:txBody>
      </p:sp>
      <p:sp>
        <p:nvSpPr>
          <p:cNvPr id="12" name="Freeform 11"/>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3"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Beginner</a:t>
            </a:r>
          </a:p>
        </p:txBody>
      </p:sp>
      <p:sp>
        <p:nvSpPr>
          <p:cNvPr id="14"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Safe and responsible use</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 RESPONSIBLE AI</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Check important facts independently</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Watch for confident-sounding mistakes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Avoid sharing sensitive data carelessly</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Keep a person reviewing key decisions</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shield"/>
          <p:cNvSpPr/>
          <p:nvPr/>
        </p:nvSpPr>
        <p:spPr>
          <a:xfrm>
            <a:off x="7498080" y="2468880"/>
            <a:ext cx="1600200" cy="1965960"/>
          </a:xfrm>
          <a:custGeom>
            <a:avLst/>
            <a:gdLst/>
            <a:ahLst/>
            <a:cxnLst/>
            <a:rect l="l" t="t" r="r" b="b"/>
            <a:pathLst>
              <a:path w="1600200" h="1965960">
                <a:moveTo>
                  <a:pt x="0" y="255575"/>
                </a:moveTo>
                <a:lnTo>
                  <a:pt x="800100" y="0"/>
                </a:lnTo>
                <a:lnTo>
                  <a:pt x="1600200" y="255575"/>
                </a:lnTo>
                <a:lnTo>
                  <a:pt x="1600200" y="982980"/>
                </a:lnTo>
                <a:lnTo>
                  <a:pt x="1440180" y="1415491"/>
                </a:lnTo>
                <a:lnTo>
                  <a:pt x="1152144" y="1730045"/>
                </a:lnTo>
                <a:lnTo>
                  <a:pt x="800100" y="1965960"/>
                </a:lnTo>
                <a:lnTo>
                  <a:pt x="448056" y="1730045"/>
                </a:lnTo>
                <a:lnTo>
                  <a:pt x="160020" y="1415491"/>
                </a:lnTo>
                <a:lnTo>
                  <a:pt x="0" y="982980"/>
                </a:lnTo>
                <a:close/>
              </a:path>
            </a:pathLst>
          </a:custGeom>
          <a:solidFill>
            <a:srgbClr val="EAF3FC"/>
          </a:solidFill>
          <a:ln w="25400">
            <a:solidFill>
              <a:srgbClr val="0F6CBD"/>
            </a:solidFill>
          </a:ln>
          <a:effectLst/>
        </p:spPr>
        <p:txBody>
          <a:bodyPr rtlCol="0" anchor="ctr"/>
          <a:lstStyle/>
          <a:p>
            <a:pPr algn="ctr"/>
          </a:p>
        </p:txBody>
      </p:sp>
      <p:sp>
        <p:nvSpPr>
          <p:cNvPr id="7" name="TextBox 6"/>
          <p:cNvSpPr txBox="1"/>
          <p:nvPr/>
        </p:nvSpPr>
        <p:spPr>
          <a:xfrm>
            <a:off x="7498080" y="2971800"/>
            <a:ext cx="1600200" cy="731520"/>
          </a:xfrm>
          <a:prstGeom prst="rect">
            <a:avLst/>
          </a:prstGeom>
          <a:noFill/>
        </p:spPr>
        <p:txBody>
          <a:bodyPr wrap="square" lIns="18288" rIns="18288" tIns="10973" bIns="10973" anchor="ctr">
            <a:noAutofit/>
          </a:bodyPr>
          <a:lstStyle/>
          <a:p>
            <a:pPr algn="ctr"/>
            <a:r>
              <a:rPr sz="1700" b="1" i="0">
                <a:solidFill>
                  <a:srgbClr val="16202F"/>
                </a:solidFill>
                <a:latin typeface="Calibri"/>
              </a:rPr>
              <a:t>Safe</a:t>
            </a:r>
          </a:p>
          <a:p>
            <a:pPr algn="ctr"/>
            <a:r>
              <a:rPr sz="1700" b="1" i="0">
                <a:solidFill>
                  <a:srgbClr val="16202F"/>
                </a:solidFill>
                <a:latin typeface="Calibri"/>
              </a:rPr>
              <a:t>use</a:t>
            </a:r>
          </a:p>
        </p:txBody>
      </p:sp>
      <p:sp>
        <p:nvSpPr>
          <p:cNvPr id="8" name="Verify"/>
          <p:cNvSpPr/>
          <p:nvPr/>
        </p:nvSpPr>
        <p:spPr>
          <a:xfrm>
            <a:off x="5303520" y="2651760"/>
            <a:ext cx="1188720" cy="1188720"/>
          </a:xfrm>
          <a:prstGeom prst="ellipse">
            <a:avLst/>
          </a:prstGeom>
          <a:solidFill>
            <a:srgbClr val="EAF3FC"/>
          </a:solidFill>
          <a:ln w="15875">
            <a:solidFill>
              <a:srgbClr val="8DBBE6"/>
            </a:solidFill>
          </a:ln>
          <a:effectLst/>
        </p:spPr>
        <p:txBody>
          <a:bodyPr rtlCol="0" anchor="ctr" wrap="square" lIns="27432" rIns="27432" tIns="16459" bIns="16459">
            <a:noAutofit/>
          </a:bodyPr>
          <a:lstStyle/>
          <a:p>
            <a:pPr algn="ctr"/>
            <a:r>
              <a:rPr sz="1500" b="1" i="0">
                <a:solidFill>
                  <a:srgbClr val="16202F"/>
                </a:solidFill>
                <a:latin typeface="Calibri"/>
              </a:rPr>
              <a:t>Verify</a:t>
            </a:r>
          </a:p>
        </p:txBody>
      </p:sp>
      <p:sp>
        <p:nvSpPr>
          <p:cNvPr id="9" name="TextBox 8"/>
          <p:cNvSpPr txBox="1"/>
          <p:nvPr/>
        </p:nvSpPr>
        <p:spPr>
          <a:xfrm>
            <a:off x="5074920" y="3913632"/>
            <a:ext cx="1645920" cy="320040"/>
          </a:xfrm>
          <a:prstGeom prst="rect">
            <a:avLst/>
          </a:prstGeom>
          <a:noFill/>
        </p:spPr>
        <p:txBody>
          <a:bodyPr wrap="square" lIns="18288" rIns="18288" tIns="10973" bIns="10973" anchor="t">
            <a:noAutofit/>
          </a:bodyPr>
          <a:lstStyle/>
          <a:p>
            <a:pPr algn="ctr"/>
            <a:r>
              <a:rPr sz="1300" b="0" i="1">
                <a:solidFill>
                  <a:srgbClr val="53617A"/>
                </a:solidFill>
                <a:latin typeface="Calibri"/>
              </a:rPr>
              <a:t>check key facts</a:t>
            </a:r>
          </a:p>
        </p:txBody>
      </p:sp>
      <p:sp>
        <p:nvSpPr>
          <p:cNvPr id="10" name="Privacy"/>
          <p:cNvSpPr/>
          <p:nvPr/>
        </p:nvSpPr>
        <p:spPr>
          <a:xfrm>
            <a:off x="10104120" y="2651760"/>
            <a:ext cx="1188720" cy="1188720"/>
          </a:xfrm>
          <a:prstGeom prst="ellipse">
            <a:avLst/>
          </a:prstGeom>
          <a:solidFill>
            <a:srgbClr val="EAF3FC"/>
          </a:solidFill>
          <a:ln w="15875">
            <a:solidFill>
              <a:srgbClr val="8DBBE6"/>
            </a:solidFill>
          </a:ln>
          <a:effectLst/>
        </p:spPr>
        <p:txBody>
          <a:bodyPr rtlCol="0" anchor="ctr" wrap="square" lIns="27432" rIns="27432" tIns="16459" bIns="16459">
            <a:noAutofit/>
          </a:bodyPr>
          <a:lstStyle/>
          <a:p>
            <a:pPr algn="ctr"/>
            <a:r>
              <a:rPr sz="1500" b="1" i="0">
                <a:solidFill>
                  <a:srgbClr val="16202F"/>
                </a:solidFill>
                <a:latin typeface="Calibri"/>
              </a:rPr>
              <a:t>Privacy</a:t>
            </a:r>
          </a:p>
        </p:txBody>
      </p:sp>
      <p:sp>
        <p:nvSpPr>
          <p:cNvPr id="11" name="TextBox 10"/>
          <p:cNvSpPr txBox="1"/>
          <p:nvPr/>
        </p:nvSpPr>
        <p:spPr>
          <a:xfrm>
            <a:off x="9875520" y="3913632"/>
            <a:ext cx="1645920" cy="320040"/>
          </a:xfrm>
          <a:prstGeom prst="rect">
            <a:avLst/>
          </a:prstGeom>
          <a:noFill/>
        </p:spPr>
        <p:txBody>
          <a:bodyPr wrap="square" lIns="18288" rIns="18288" tIns="10973" bIns="10973" anchor="t">
            <a:noAutofit/>
          </a:bodyPr>
          <a:lstStyle/>
          <a:p>
            <a:pPr algn="ctr"/>
            <a:r>
              <a:rPr sz="1300" b="0" i="1">
                <a:solidFill>
                  <a:srgbClr val="53617A"/>
                </a:solidFill>
                <a:latin typeface="Calibri"/>
              </a:rPr>
              <a:t>share carefully</a:t>
            </a:r>
          </a:p>
        </p:txBody>
      </p:sp>
      <p:sp>
        <p:nvSpPr>
          <p:cNvPr id="12" name="Human review"/>
          <p:cNvSpPr/>
          <p:nvPr/>
        </p:nvSpPr>
        <p:spPr>
          <a:xfrm>
            <a:off x="7749540" y="4709160"/>
            <a:ext cx="1097280" cy="1097280"/>
          </a:xfrm>
          <a:prstGeom prst="ellipse">
            <a:avLst/>
          </a:prstGeom>
          <a:solidFill>
            <a:srgbClr val="EAF3FC"/>
          </a:solidFill>
          <a:ln w="15875">
            <a:solidFill>
              <a:srgbClr val="8DBBE6"/>
            </a:solidFill>
          </a:ln>
          <a:effectLst/>
        </p:spPr>
        <p:txBody>
          <a:bodyPr rtlCol="0" anchor="ctr" wrap="square" lIns="27432" rIns="27432" tIns="16459" bIns="16459">
            <a:noAutofit/>
          </a:bodyPr>
          <a:lstStyle/>
          <a:p>
            <a:pPr algn="ctr"/>
            <a:r>
              <a:rPr sz="1500" b="1" i="0">
                <a:solidFill>
                  <a:srgbClr val="16202F"/>
                </a:solidFill>
                <a:latin typeface="Calibri"/>
              </a:rPr>
              <a:t>Human</a:t>
            </a:r>
          </a:p>
          <a:p>
            <a:pPr algn="ctr"/>
            <a:r>
              <a:rPr sz="1500" b="1" i="0">
                <a:solidFill>
                  <a:srgbClr val="16202F"/>
                </a:solidFill>
                <a:latin typeface="Calibri"/>
              </a:rPr>
              <a:t>review</a:t>
            </a:r>
          </a:p>
        </p:txBody>
      </p:sp>
      <p:cxnSp>
        <p:nvCxnSpPr>
          <p:cNvPr id="13" name="Connector 12"/>
          <p:cNvCxnSpPr/>
          <p:nvPr/>
        </p:nvCxnSpPr>
        <p:spPr>
          <a:xfrm flipH="1">
            <a:off x="6528816" y="3246120"/>
            <a:ext cx="950976" cy="0"/>
          </a:xfrm>
          <a:prstGeom prst="line">
            <a:avLst/>
          </a:prstGeom>
          <a:ln w="22225">
            <a:solidFill>
              <a:srgbClr val="53617A"/>
            </a:solidFill>
          </a:ln>
        </p:spPr>
      </p:cxnSp>
      <p:cxnSp>
        <p:nvCxnSpPr>
          <p:cNvPr id="14" name="Connector 13"/>
          <p:cNvCxnSpPr/>
          <p:nvPr/>
        </p:nvCxnSpPr>
        <p:spPr>
          <a:xfrm>
            <a:off x="9116568" y="3246120"/>
            <a:ext cx="969264" cy="0"/>
          </a:xfrm>
          <a:prstGeom prst="line">
            <a:avLst/>
          </a:prstGeom>
          <a:ln w="22225">
            <a:solidFill>
              <a:srgbClr val="53617A"/>
            </a:solidFill>
          </a:ln>
        </p:spPr>
      </p:cxnSp>
      <p:cxnSp>
        <p:nvCxnSpPr>
          <p:cNvPr id="15" name="Connector 14"/>
          <p:cNvCxnSpPr/>
          <p:nvPr/>
        </p:nvCxnSpPr>
        <p:spPr>
          <a:xfrm>
            <a:off x="8298180" y="4453128"/>
            <a:ext cx="0" cy="237744"/>
          </a:xfrm>
          <a:prstGeom prst="line">
            <a:avLst/>
          </a:prstGeom>
          <a:ln w="22225">
            <a:solidFill>
              <a:srgbClr val="53617A"/>
            </a:solidFill>
          </a:ln>
        </p:spPr>
      </p:cxnSp>
      <p:sp>
        <p:nvSpPr>
          <p:cNvPr id="16" name="Freeform 15"/>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7"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Beginner</a:t>
            </a:r>
          </a:p>
        </p:txBody>
      </p:sp>
      <p:sp>
        <p:nvSpPr>
          <p:cNvPr id="18"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Where this fits together</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 BIG PICTURE</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Models predict; agents act</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Tools and MCP connect the two</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Speech makes it conversational</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Agent"/>
          <p:cNvSpPr/>
          <p:nvPr/>
        </p:nvSpPr>
        <p:spPr>
          <a:xfrm>
            <a:off x="5212080" y="2103120"/>
            <a:ext cx="4297680" cy="868680"/>
          </a:xfrm>
          <a:prstGeom prst="roundRect">
            <a:avLst>
              <a:gd name="adj" fmla="val 12631"/>
            </a:avLst>
          </a:prstGeom>
          <a:solidFill>
            <a:srgbClr val="0F6CBD"/>
          </a:solidFill>
          <a:ln w="15875">
            <a:solidFill>
              <a:srgbClr val="0F6CBD"/>
            </a:solidFill>
          </a:ln>
          <a:effectLst/>
        </p:spPr>
        <p:txBody>
          <a:bodyPr rtlCol="0" anchor="ctr" wrap="square" lIns="73152" rIns="73152" tIns="43891" bIns="43891">
            <a:noAutofit/>
          </a:bodyPr>
          <a:lstStyle/>
          <a:p>
            <a:pPr algn="ctr"/>
            <a:r>
              <a:rPr sz="1700" b="1" i="0">
                <a:solidFill>
                  <a:srgbClr val="FFFFFF"/>
                </a:solidFill>
                <a:latin typeface="Calibri"/>
              </a:rPr>
              <a:t>Agent</a:t>
            </a:r>
          </a:p>
          <a:p>
            <a:pPr algn="ctr"/>
            <a:r>
              <a:rPr sz="1300" b="0" i="0">
                <a:solidFill>
                  <a:srgbClr val="FFFFFF"/>
                </a:solidFill>
                <a:latin typeface="Calibri"/>
              </a:rPr>
              <a:t>acts: model + tools + loop</a:t>
            </a:r>
          </a:p>
        </p:txBody>
      </p:sp>
      <p:sp>
        <p:nvSpPr>
          <p:cNvPr id="7" name="Tools via MCP"/>
          <p:cNvSpPr/>
          <p:nvPr/>
        </p:nvSpPr>
        <p:spPr>
          <a:xfrm>
            <a:off x="5212080" y="3108960"/>
            <a:ext cx="4297680" cy="868680"/>
          </a:xfrm>
          <a:prstGeom prst="roundRect">
            <a:avLst>
              <a:gd name="adj" fmla="val 12631"/>
            </a:avLst>
          </a:prstGeom>
          <a:solidFill>
            <a:srgbClr val="FFF4E4"/>
          </a:solidFill>
          <a:ln w="15875">
            <a:solidFill>
              <a:srgbClr val="E8A855"/>
            </a:solidFill>
          </a:ln>
          <a:effectLst/>
        </p:spPr>
        <p:txBody>
          <a:bodyPr rtlCol="0" anchor="ctr" wrap="square" lIns="73152" rIns="73152" tIns="43891" bIns="43891">
            <a:noAutofit/>
          </a:bodyPr>
          <a:lstStyle/>
          <a:p>
            <a:pPr algn="ctr"/>
            <a:r>
              <a:rPr sz="1700" b="1" i="0">
                <a:solidFill>
                  <a:srgbClr val="16202F"/>
                </a:solidFill>
                <a:latin typeface="Calibri"/>
              </a:rPr>
              <a:t>Tools via MCP</a:t>
            </a:r>
          </a:p>
          <a:p>
            <a:pPr algn="ctr"/>
            <a:r>
              <a:rPr sz="1300" b="0" i="0">
                <a:solidFill>
                  <a:srgbClr val="53617A"/>
                </a:solidFill>
                <a:latin typeface="Calibri"/>
              </a:rPr>
              <a:t>the standard connector</a:t>
            </a:r>
          </a:p>
        </p:txBody>
      </p:sp>
      <p:sp>
        <p:nvSpPr>
          <p:cNvPr id="8" name="Model"/>
          <p:cNvSpPr/>
          <p:nvPr/>
        </p:nvSpPr>
        <p:spPr>
          <a:xfrm>
            <a:off x="5212080" y="4114800"/>
            <a:ext cx="4297680" cy="868680"/>
          </a:xfrm>
          <a:prstGeom prst="roundRect">
            <a:avLst>
              <a:gd name="adj" fmla="val 12631"/>
            </a:avLst>
          </a:prstGeom>
          <a:solidFill>
            <a:srgbClr val="FFFFFF"/>
          </a:solidFill>
          <a:ln w="15875">
            <a:solidFill>
              <a:srgbClr val="B8C4D6"/>
            </a:solidFill>
          </a:ln>
          <a:effectLst/>
        </p:spPr>
        <p:txBody>
          <a:bodyPr rtlCol="0" anchor="ctr" wrap="square" lIns="73152" rIns="73152" tIns="43891" bIns="43891">
            <a:noAutofit/>
          </a:bodyPr>
          <a:lstStyle/>
          <a:p>
            <a:pPr algn="ctr"/>
            <a:r>
              <a:rPr sz="1700" b="1" i="0">
                <a:solidFill>
                  <a:srgbClr val="16202F"/>
                </a:solidFill>
                <a:latin typeface="Calibri"/>
              </a:rPr>
              <a:t>Model</a:t>
            </a:r>
          </a:p>
          <a:p>
            <a:pPr algn="ctr"/>
            <a:r>
              <a:rPr sz="1300" b="0" i="0">
                <a:solidFill>
                  <a:srgbClr val="53617A"/>
                </a:solidFill>
                <a:latin typeface="Calibri"/>
              </a:rPr>
              <a:t>the prediction engine</a:t>
            </a:r>
          </a:p>
        </p:txBody>
      </p:sp>
      <p:sp>
        <p:nvSpPr>
          <p:cNvPr id="9" name="chat bubble"/>
          <p:cNvSpPr/>
          <p:nvPr/>
        </p:nvSpPr>
        <p:spPr>
          <a:xfrm>
            <a:off x="9784080" y="2057400"/>
            <a:ext cx="1691640" cy="960120"/>
          </a:xfrm>
          <a:prstGeom prst="wedgeEllipseCallout">
            <a:avLst/>
          </a:prstGeom>
          <a:solidFill>
            <a:srgbClr val="FFFFFF"/>
          </a:solidFill>
          <a:ln w="19050">
            <a:solidFill>
              <a:srgbClr val="8DBBE6"/>
            </a:solidFill>
          </a:ln>
          <a:effectLst/>
        </p:spPr>
        <p:txBody>
          <a:bodyPr rtlCol="0" anchor="ctr"/>
          <a:lstStyle/>
          <a:p>
            <a:pPr algn="ctr"/>
          </a:p>
        </p:txBody>
      </p:sp>
      <p:sp>
        <p:nvSpPr>
          <p:cNvPr id="10" name="Freeform 9"/>
          <p:cNvSpPr/>
          <p:nvPr/>
        </p:nvSpPr>
        <p:spPr>
          <a:xfrm>
            <a:off x="10206990" y="2415292"/>
            <a:ext cx="845820" cy="205931"/>
          </a:xfrm>
          <a:custGeom>
            <a:avLst/>
            <a:gdLst/>
            <a:ahLst/>
            <a:cxnLst/>
            <a:rect l="l" t="t" r="r" b="b"/>
            <a:pathLst>
              <a:path w="845820" h="205931">
                <a:moveTo>
                  <a:pt x="0" y="102966"/>
                </a:moveTo>
                <a:lnTo>
                  <a:pt x="30208" y="148789"/>
                </a:lnTo>
                <a:lnTo>
                  <a:pt x="60416" y="185537"/>
                </a:lnTo>
                <a:lnTo>
                  <a:pt x="90624" y="205931"/>
                </a:lnTo>
                <a:lnTo>
                  <a:pt x="120831" y="205931"/>
                </a:lnTo>
                <a:lnTo>
                  <a:pt x="151039" y="185537"/>
                </a:lnTo>
                <a:lnTo>
                  <a:pt x="181247" y="148789"/>
                </a:lnTo>
                <a:lnTo>
                  <a:pt x="211455" y="102966"/>
                </a:lnTo>
                <a:lnTo>
                  <a:pt x="241663" y="57142"/>
                </a:lnTo>
                <a:lnTo>
                  <a:pt x="271871" y="20394"/>
                </a:lnTo>
                <a:lnTo>
                  <a:pt x="302079" y="0"/>
                </a:lnTo>
                <a:lnTo>
                  <a:pt x="332286" y="0"/>
                </a:lnTo>
                <a:lnTo>
                  <a:pt x="362494" y="20394"/>
                </a:lnTo>
                <a:lnTo>
                  <a:pt x="392702" y="57142"/>
                </a:lnTo>
                <a:lnTo>
                  <a:pt x="422910" y="102966"/>
                </a:lnTo>
                <a:lnTo>
                  <a:pt x="453118" y="148789"/>
                </a:lnTo>
                <a:lnTo>
                  <a:pt x="483326" y="185537"/>
                </a:lnTo>
                <a:lnTo>
                  <a:pt x="513534" y="205931"/>
                </a:lnTo>
                <a:lnTo>
                  <a:pt x="543741" y="205931"/>
                </a:lnTo>
                <a:lnTo>
                  <a:pt x="573949" y="185537"/>
                </a:lnTo>
                <a:lnTo>
                  <a:pt x="604157" y="148789"/>
                </a:lnTo>
                <a:lnTo>
                  <a:pt x="634365" y="102966"/>
                </a:lnTo>
                <a:lnTo>
                  <a:pt x="664573" y="57142"/>
                </a:lnTo>
                <a:lnTo>
                  <a:pt x="694781" y="20394"/>
                </a:lnTo>
                <a:lnTo>
                  <a:pt x="724989" y="0"/>
                </a:lnTo>
                <a:lnTo>
                  <a:pt x="755196" y="0"/>
                </a:lnTo>
                <a:lnTo>
                  <a:pt x="785404" y="20394"/>
                </a:lnTo>
                <a:lnTo>
                  <a:pt x="815612" y="57142"/>
                </a:lnTo>
                <a:lnTo>
                  <a:pt x="845820" y="102966"/>
                </a:lnTo>
              </a:path>
            </a:pathLst>
          </a:custGeom>
          <a:noFill/>
          <a:ln w="25400">
            <a:solidFill>
              <a:srgbClr val="0F6CBD"/>
            </a:solidFill>
          </a:ln>
          <a:effectLst/>
        </p:spPr>
        <p:txBody>
          <a:bodyPr rtlCol="0" anchor="ctr"/>
          <a:lstStyle/>
          <a:p>
            <a:pPr algn="ctr"/>
          </a:p>
        </p:txBody>
      </p:sp>
      <p:sp>
        <p:nvSpPr>
          <p:cNvPr id="11" name="TextBox 10"/>
          <p:cNvSpPr txBox="1"/>
          <p:nvPr/>
        </p:nvSpPr>
        <p:spPr>
          <a:xfrm>
            <a:off x="9692640" y="3200400"/>
            <a:ext cx="1874520" cy="365760"/>
          </a:xfrm>
          <a:prstGeom prst="rect">
            <a:avLst/>
          </a:prstGeom>
          <a:noFill/>
        </p:spPr>
        <p:txBody>
          <a:bodyPr wrap="square" lIns="18288" rIns="18288" tIns="10973" bIns="10973" anchor="t">
            <a:noAutofit/>
          </a:bodyPr>
          <a:lstStyle/>
          <a:p>
            <a:pPr algn="ctr"/>
            <a:r>
              <a:rPr sz="1500" b="1" i="0">
                <a:solidFill>
                  <a:srgbClr val="16202F"/>
                </a:solidFill>
                <a:latin typeface="Calibri"/>
              </a:rPr>
              <a:t>Voice layer</a:t>
            </a:r>
          </a:p>
        </p:txBody>
      </p:sp>
      <p:sp>
        <p:nvSpPr>
          <p:cNvPr id="12" name="TextBox 11"/>
          <p:cNvSpPr txBox="1"/>
          <p:nvPr/>
        </p:nvSpPr>
        <p:spPr>
          <a:xfrm>
            <a:off x="9692640" y="3538728"/>
            <a:ext cx="1874520" cy="777240"/>
          </a:xfrm>
          <a:prstGeom prst="rect">
            <a:avLst/>
          </a:prstGeom>
          <a:noFill/>
        </p:spPr>
        <p:txBody>
          <a:bodyPr wrap="square" lIns="18288" rIns="18288" tIns="10973" bIns="10973" anchor="t">
            <a:noAutofit/>
          </a:bodyPr>
          <a:lstStyle/>
          <a:p>
            <a:pPr algn="ctr"/>
            <a:r>
              <a:rPr sz="1200" b="0" i="0">
                <a:solidFill>
                  <a:srgbClr val="53617A"/>
                </a:solidFill>
                <a:latin typeface="Calibri"/>
              </a:rPr>
              <a:t>speech-to-text</a:t>
            </a:r>
          </a:p>
          <a:p>
            <a:pPr algn="ctr"/>
            <a:r>
              <a:rPr sz="1200" b="0" i="0">
                <a:solidFill>
                  <a:srgbClr val="53617A"/>
                </a:solidFill>
                <a:latin typeface="Calibri"/>
              </a:rPr>
              <a:t>text-to-speech</a:t>
            </a:r>
          </a:p>
          <a:p>
            <a:pPr algn="ctr"/>
            <a:r>
              <a:rPr sz="1200" b="0" i="0">
                <a:solidFill>
                  <a:srgbClr val="53617A"/>
                </a:solidFill>
                <a:latin typeface="Calibri"/>
              </a:rPr>
              <a:t>avatar</a:t>
            </a:r>
          </a:p>
        </p:txBody>
      </p:sp>
      <p:cxnSp>
        <p:nvCxnSpPr>
          <p:cNvPr id="13" name="Connector 12"/>
          <p:cNvCxnSpPr/>
          <p:nvPr/>
        </p:nvCxnSpPr>
        <p:spPr>
          <a:xfrm>
            <a:off x="9555480" y="2542032"/>
            <a:ext cx="192024" cy="0"/>
          </a:xfrm>
          <a:prstGeom prst="line">
            <a:avLst/>
          </a:prstGeom>
          <a:ln w="22225">
            <a:solidFill>
              <a:srgbClr val="0F6CBD"/>
            </a:solidFill>
            <a:prstDash val="dash"/>
          </a:ln>
        </p:spPr>
      </p:cxnSp>
      <p:sp>
        <p:nvSpPr>
          <p:cNvPr id="14" name="Simple building blocks that combine into everyday AI"/>
          <p:cNvSpPr/>
          <p:nvPr/>
        </p:nvSpPr>
        <p:spPr>
          <a:xfrm>
            <a:off x="5166360" y="5257800"/>
            <a:ext cx="6245352" cy="475488"/>
          </a:xfrm>
          <a:prstGeom prst="roundRect">
            <a:avLst>
              <a:gd name="adj" fmla="val 19230"/>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Simple building blocks that combine into everyday AI</a:t>
            </a:r>
          </a:p>
        </p:txBody>
      </p:sp>
      <p:sp>
        <p:nvSpPr>
          <p:cNvPr id="15" name="Freeform 14"/>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6"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Beginner</a:t>
            </a:r>
          </a:p>
        </p:txBody>
      </p:sp>
      <p:sp>
        <p:nvSpPr>
          <p:cNvPr id="17"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Recap and what's next</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 RECAP</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You now know the core vocabulary</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Next deck: Building with AI (practitioner)</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Questions welcome anytime</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checklist card"/>
          <p:cNvSpPr/>
          <p:nvPr/>
        </p:nvSpPr>
        <p:spPr>
          <a:xfrm>
            <a:off x="5532120" y="1965960"/>
            <a:ext cx="5486400" cy="3840480"/>
          </a:xfrm>
          <a:prstGeom prst="roundRect">
            <a:avLst>
              <a:gd name="adj" fmla="val 3809"/>
            </a:avLst>
          </a:prstGeom>
          <a:solidFill>
            <a:srgbClr val="FFFFFF"/>
          </a:solidFill>
          <a:ln w="15875">
            <a:solidFill>
              <a:srgbClr val="8DBBE6"/>
            </a:solidFill>
          </a:ln>
          <a:effectLst/>
        </p:spPr>
        <p:txBody>
          <a:bodyPr rtlCol="0" anchor="ctr"/>
          <a:lstStyle/>
          <a:p>
            <a:pPr algn="ctr"/>
          </a:p>
        </p:txBody>
      </p:sp>
      <p:sp>
        <p:nvSpPr>
          <p:cNvPr id="7" name="TextBox 6"/>
          <p:cNvSpPr txBox="1"/>
          <p:nvPr/>
        </p:nvSpPr>
        <p:spPr>
          <a:xfrm>
            <a:off x="5852160" y="2103120"/>
            <a:ext cx="4846320" cy="411480"/>
          </a:xfrm>
          <a:prstGeom prst="rect">
            <a:avLst/>
          </a:prstGeom>
          <a:noFill/>
        </p:spPr>
        <p:txBody>
          <a:bodyPr wrap="square" lIns="18288" rIns="18288" tIns="10973" bIns="10973" anchor="t">
            <a:noAutofit/>
          </a:bodyPr>
          <a:lstStyle/>
          <a:p>
            <a:pPr algn="l"/>
            <a:r>
              <a:rPr sz="1600" b="1" i="0">
                <a:solidFill>
                  <a:srgbClr val="0F6CBD"/>
                </a:solidFill>
                <a:latin typeface="Calibri"/>
              </a:rPr>
              <a:t>You can now explain</a:t>
            </a:r>
          </a:p>
        </p:txBody>
      </p:sp>
      <p:sp>
        <p:nvSpPr>
          <p:cNvPr id="8" name="Oval 7"/>
          <p:cNvSpPr/>
          <p:nvPr/>
        </p:nvSpPr>
        <p:spPr>
          <a:xfrm>
            <a:off x="5897880" y="2697480"/>
            <a:ext cx="475488" cy="475488"/>
          </a:xfrm>
          <a:prstGeom prst="ellipse">
            <a:avLst/>
          </a:prstGeom>
          <a:solidFill>
            <a:srgbClr val="1F9D6B"/>
          </a:solidFill>
          <a:ln w="15875">
            <a:solidFill>
              <a:srgbClr val="B8C4D6"/>
            </a:solidFill>
          </a:ln>
          <a:effectLst/>
        </p:spPr>
        <p:txBody>
          <a:bodyPr rtlCol="0" anchor="ctr"/>
          <a:lstStyle/>
          <a:p>
            <a:pPr algn="ctr"/>
          </a:p>
        </p:txBody>
      </p:sp>
      <p:sp>
        <p:nvSpPr>
          <p:cNvPr id="9" name="Freeform 8"/>
          <p:cNvSpPr/>
          <p:nvPr/>
        </p:nvSpPr>
        <p:spPr>
          <a:xfrm>
            <a:off x="6031017" y="2868290"/>
            <a:ext cx="218724" cy="156911"/>
          </a:xfrm>
          <a:custGeom>
            <a:avLst/>
            <a:gdLst/>
            <a:ahLst/>
            <a:cxnLst/>
            <a:rect l="l" t="t" r="r" b="b"/>
            <a:pathLst>
              <a:path w="218724" h="156911">
                <a:moveTo>
                  <a:pt x="0" y="76078"/>
                </a:moveTo>
                <a:lnTo>
                  <a:pt x="80833" y="156911"/>
                </a:lnTo>
                <a:lnTo>
                  <a:pt x="218724" y="0"/>
                </a:lnTo>
              </a:path>
            </a:pathLst>
          </a:custGeom>
          <a:noFill/>
          <a:ln w="31750">
            <a:solidFill>
              <a:srgbClr val="FFFFFF"/>
            </a:solidFill>
          </a:ln>
          <a:effectLst/>
        </p:spPr>
        <p:txBody>
          <a:bodyPr rtlCol="0" anchor="ctr"/>
          <a:lstStyle/>
          <a:p>
            <a:pPr algn="ctr"/>
          </a:p>
        </p:txBody>
      </p:sp>
      <p:sp>
        <p:nvSpPr>
          <p:cNvPr id="10" name="TextBox 9"/>
          <p:cNvSpPr txBox="1"/>
          <p:nvPr/>
        </p:nvSpPr>
        <p:spPr>
          <a:xfrm>
            <a:off x="6537960" y="2715768"/>
            <a:ext cx="4297680" cy="457200"/>
          </a:xfrm>
          <a:prstGeom prst="rect">
            <a:avLst/>
          </a:prstGeom>
          <a:noFill/>
        </p:spPr>
        <p:txBody>
          <a:bodyPr wrap="square" lIns="18288" rIns="18288" tIns="10973" bIns="10973" anchor="ctr">
            <a:noAutofit/>
          </a:bodyPr>
          <a:lstStyle/>
          <a:p>
            <a:pPr algn="l"/>
            <a:r>
              <a:rPr sz="1900" b="1" i="0">
                <a:solidFill>
                  <a:srgbClr val="16202F"/>
                </a:solidFill>
                <a:latin typeface="Calibri"/>
              </a:rPr>
              <a:t>Models</a:t>
            </a:r>
            <a:r>
              <a:rPr sz="1500" b="0" i="0">
                <a:solidFill>
                  <a:srgbClr val="53617A"/>
                </a:solidFill>
                <a:latin typeface="Calibri"/>
              </a:rPr>
              <a:t>   predict, not recall</a:t>
            </a:r>
          </a:p>
        </p:txBody>
      </p:sp>
      <p:sp>
        <p:nvSpPr>
          <p:cNvPr id="11" name="Oval 10"/>
          <p:cNvSpPr/>
          <p:nvPr/>
        </p:nvSpPr>
        <p:spPr>
          <a:xfrm>
            <a:off x="5897880" y="3429000"/>
            <a:ext cx="475488" cy="475488"/>
          </a:xfrm>
          <a:prstGeom prst="ellipse">
            <a:avLst/>
          </a:prstGeom>
          <a:solidFill>
            <a:srgbClr val="1F9D6B"/>
          </a:solidFill>
          <a:ln w="15875">
            <a:solidFill>
              <a:srgbClr val="B8C4D6"/>
            </a:solidFill>
          </a:ln>
          <a:effectLst/>
        </p:spPr>
        <p:txBody>
          <a:bodyPr rtlCol="0" anchor="ctr"/>
          <a:lstStyle/>
          <a:p>
            <a:pPr algn="ctr"/>
          </a:p>
        </p:txBody>
      </p:sp>
      <p:sp>
        <p:nvSpPr>
          <p:cNvPr id="12" name="Freeform 11"/>
          <p:cNvSpPr/>
          <p:nvPr/>
        </p:nvSpPr>
        <p:spPr>
          <a:xfrm>
            <a:off x="6031017" y="3599810"/>
            <a:ext cx="218724" cy="156911"/>
          </a:xfrm>
          <a:custGeom>
            <a:avLst/>
            <a:gdLst/>
            <a:ahLst/>
            <a:cxnLst/>
            <a:rect l="l" t="t" r="r" b="b"/>
            <a:pathLst>
              <a:path w="218724" h="156911">
                <a:moveTo>
                  <a:pt x="0" y="76078"/>
                </a:moveTo>
                <a:lnTo>
                  <a:pt x="80833" y="156911"/>
                </a:lnTo>
                <a:lnTo>
                  <a:pt x="218724" y="0"/>
                </a:lnTo>
              </a:path>
            </a:pathLst>
          </a:custGeom>
          <a:noFill/>
          <a:ln w="31750">
            <a:solidFill>
              <a:srgbClr val="FFFFFF"/>
            </a:solidFill>
          </a:ln>
          <a:effectLst/>
        </p:spPr>
        <p:txBody>
          <a:bodyPr rtlCol="0" anchor="ctr"/>
          <a:lstStyle/>
          <a:p>
            <a:pPr algn="ctr"/>
          </a:p>
        </p:txBody>
      </p:sp>
      <p:sp>
        <p:nvSpPr>
          <p:cNvPr id="13" name="TextBox 12"/>
          <p:cNvSpPr txBox="1"/>
          <p:nvPr/>
        </p:nvSpPr>
        <p:spPr>
          <a:xfrm>
            <a:off x="6537960" y="3447288"/>
            <a:ext cx="4297680" cy="457200"/>
          </a:xfrm>
          <a:prstGeom prst="rect">
            <a:avLst/>
          </a:prstGeom>
          <a:noFill/>
        </p:spPr>
        <p:txBody>
          <a:bodyPr wrap="square" lIns="18288" rIns="18288" tIns="10973" bIns="10973" anchor="ctr">
            <a:noAutofit/>
          </a:bodyPr>
          <a:lstStyle/>
          <a:p>
            <a:pPr algn="l"/>
            <a:r>
              <a:rPr sz="1900" b="1" i="0">
                <a:solidFill>
                  <a:srgbClr val="16202F"/>
                </a:solidFill>
                <a:latin typeface="Calibri"/>
              </a:rPr>
              <a:t>Agents</a:t>
            </a:r>
            <a:r>
              <a:rPr sz="1500" b="0" i="0">
                <a:solidFill>
                  <a:srgbClr val="53617A"/>
                </a:solidFill>
                <a:latin typeface="Calibri"/>
              </a:rPr>
              <a:t>   model + tools + loop</a:t>
            </a:r>
          </a:p>
        </p:txBody>
      </p:sp>
      <p:sp>
        <p:nvSpPr>
          <p:cNvPr id="14" name="Oval 13"/>
          <p:cNvSpPr/>
          <p:nvPr/>
        </p:nvSpPr>
        <p:spPr>
          <a:xfrm>
            <a:off x="5897880" y="4160520"/>
            <a:ext cx="475488" cy="475488"/>
          </a:xfrm>
          <a:prstGeom prst="ellipse">
            <a:avLst/>
          </a:prstGeom>
          <a:solidFill>
            <a:srgbClr val="1F9D6B"/>
          </a:solidFill>
          <a:ln w="15875">
            <a:solidFill>
              <a:srgbClr val="B8C4D6"/>
            </a:solidFill>
          </a:ln>
          <a:effectLst/>
        </p:spPr>
        <p:txBody>
          <a:bodyPr rtlCol="0" anchor="ctr"/>
          <a:lstStyle/>
          <a:p>
            <a:pPr algn="ctr"/>
          </a:p>
        </p:txBody>
      </p:sp>
      <p:sp>
        <p:nvSpPr>
          <p:cNvPr id="15" name="Freeform 14"/>
          <p:cNvSpPr/>
          <p:nvPr/>
        </p:nvSpPr>
        <p:spPr>
          <a:xfrm>
            <a:off x="6031017" y="4331330"/>
            <a:ext cx="218724" cy="156911"/>
          </a:xfrm>
          <a:custGeom>
            <a:avLst/>
            <a:gdLst/>
            <a:ahLst/>
            <a:cxnLst/>
            <a:rect l="l" t="t" r="r" b="b"/>
            <a:pathLst>
              <a:path w="218724" h="156911">
                <a:moveTo>
                  <a:pt x="0" y="76078"/>
                </a:moveTo>
                <a:lnTo>
                  <a:pt x="80833" y="156911"/>
                </a:lnTo>
                <a:lnTo>
                  <a:pt x="218724" y="0"/>
                </a:lnTo>
              </a:path>
            </a:pathLst>
          </a:custGeom>
          <a:noFill/>
          <a:ln w="31750">
            <a:solidFill>
              <a:srgbClr val="FFFFFF"/>
            </a:solidFill>
          </a:ln>
          <a:effectLst/>
        </p:spPr>
        <p:txBody>
          <a:bodyPr rtlCol="0" anchor="ctr"/>
          <a:lstStyle/>
          <a:p>
            <a:pPr algn="ctr"/>
          </a:p>
        </p:txBody>
      </p:sp>
      <p:sp>
        <p:nvSpPr>
          <p:cNvPr id="16" name="TextBox 15"/>
          <p:cNvSpPr txBox="1"/>
          <p:nvPr/>
        </p:nvSpPr>
        <p:spPr>
          <a:xfrm>
            <a:off x="6537960" y="4178808"/>
            <a:ext cx="4297680" cy="457200"/>
          </a:xfrm>
          <a:prstGeom prst="rect">
            <a:avLst/>
          </a:prstGeom>
          <a:noFill/>
        </p:spPr>
        <p:txBody>
          <a:bodyPr wrap="square" lIns="18288" rIns="18288" tIns="10973" bIns="10973" anchor="ctr">
            <a:noAutofit/>
          </a:bodyPr>
          <a:lstStyle/>
          <a:p>
            <a:pPr algn="l"/>
            <a:r>
              <a:rPr sz="1900" b="1" i="0">
                <a:solidFill>
                  <a:srgbClr val="16202F"/>
                </a:solidFill>
                <a:latin typeface="Calibri"/>
              </a:rPr>
              <a:t>Tools / MCP</a:t>
            </a:r>
            <a:r>
              <a:rPr sz="1500" b="0" i="0">
                <a:solidFill>
                  <a:srgbClr val="53617A"/>
                </a:solidFill>
                <a:latin typeface="Calibri"/>
              </a:rPr>
              <a:t>   a universal plug</a:t>
            </a:r>
          </a:p>
        </p:txBody>
      </p:sp>
      <p:sp>
        <p:nvSpPr>
          <p:cNvPr id="17" name="Oval 16"/>
          <p:cNvSpPr/>
          <p:nvPr/>
        </p:nvSpPr>
        <p:spPr>
          <a:xfrm>
            <a:off x="5897880" y="4892040"/>
            <a:ext cx="475488" cy="475488"/>
          </a:xfrm>
          <a:prstGeom prst="ellipse">
            <a:avLst/>
          </a:prstGeom>
          <a:solidFill>
            <a:srgbClr val="1F9D6B"/>
          </a:solidFill>
          <a:ln w="15875">
            <a:solidFill>
              <a:srgbClr val="B8C4D6"/>
            </a:solidFill>
          </a:ln>
          <a:effectLst/>
        </p:spPr>
        <p:txBody>
          <a:bodyPr rtlCol="0" anchor="ctr"/>
          <a:lstStyle/>
          <a:p>
            <a:pPr algn="ctr"/>
          </a:p>
        </p:txBody>
      </p:sp>
      <p:sp>
        <p:nvSpPr>
          <p:cNvPr id="18" name="Freeform 17"/>
          <p:cNvSpPr/>
          <p:nvPr/>
        </p:nvSpPr>
        <p:spPr>
          <a:xfrm>
            <a:off x="6031017" y="5062850"/>
            <a:ext cx="218724" cy="156911"/>
          </a:xfrm>
          <a:custGeom>
            <a:avLst/>
            <a:gdLst/>
            <a:ahLst/>
            <a:cxnLst/>
            <a:rect l="l" t="t" r="r" b="b"/>
            <a:pathLst>
              <a:path w="218724" h="156911">
                <a:moveTo>
                  <a:pt x="0" y="76078"/>
                </a:moveTo>
                <a:lnTo>
                  <a:pt x="80833" y="156911"/>
                </a:lnTo>
                <a:lnTo>
                  <a:pt x="218724" y="0"/>
                </a:lnTo>
              </a:path>
            </a:pathLst>
          </a:custGeom>
          <a:noFill/>
          <a:ln w="31750">
            <a:solidFill>
              <a:srgbClr val="FFFFFF"/>
            </a:solidFill>
          </a:ln>
          <a:effectLst/>
        </p:spPr>
        <p:txBody>
          <a:bodyPr rtlCol="0" anchor="ctr"/>
          <a:lstStyle/>
          <a:p>
            <a:pPr algn="ctr"/>
          </a:p>
        </p:txBody>
      </p:sp>
      <p:sp>
        <p:nvSpPr>
          <p:cNvPr id="19" name="TextBox 18"/>
          <p:cNvSpPr txBox="1"/>
          <p:nvPr/>
        </p:nvSpPr>
        <p:spPr>
          <a:xfrm>
            <a:off x="6537960" y="4910328"/>
            <a:ext cx="4297680" cy="457200"/>
          </a:xfrm>
          <a:prstGeom prst="rect">
            <a:avLst/>
          </a:prstGeom>
          <a:noFill/>
        </p:spPr>
        <p:txBody>
          <a:bodyPr wrap="square" lIns="18288" rIns="18288" tIns="10973" bIns="10973" anchor="ctr">
            <a:noAutofit/>
          </a:bodyPr>
          <a:lstStyle/>
          <a:p>
            <a:pPr algn="l"/>
            <a:r>
              <a:rPr sz="1900" b="1" i="0">
                <a:solidFill>
                  <a:srgbClr val="16202F"/>
                </a:solidFill>
                <a:latin typeface="Calibri"/>
              </a:rPr>
              <a:t>Speech</a:t>
            </a:r>
            <a:r>
              <a:rPr sz="1500" b="0" i="0">
                <a:solidFill>
                  <a:srgbClr val="53617A"/>
                </a:solidFill>
                <a:latin typeface="Calibri"/>
              </a:rPr>
              <a:t>   voices and avatars</a:t>
            </a:r>
          </a:p>
        </p:txBody>
      </p:sp>
      <p:sp>
        <p:nvSpPr>
          <p:cNvPr id="20" name="Freeform 19"/>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21"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Beginner</a:t>
            </a:r>
          </a:p>
        </p:txBody>
      </p:sp>
      <p:sp>
        <p:nvSpPr>
          <p:cNvPr id="22"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enablement 1 — Beginner: AI, Demystified</dc:title>
  <dc:subject>Oz Radio AI enablement series</dc:subject>
  <dc:creator>Oz Radio</dc:creator>
  <cp:keywords>AI enablement; Oz Radio; Beginner</cp:keywords>
  <dc:description>Generated by scripts/generate_ai_enablement_pptx.py</dc:description>
  <cp:lastModifiedBy>Oz Radio</cp:lastModifiedBy>
  <cp:revision>1</cp:revision>
  <dcterms:created xsi:type="dcterms:W3CDTF">2026-10-01T09:00:00Z</dcterms:created>
  <dcterms:modified xsi:type="dcterms:W3CDTF">2026-10-01T09:00:00Z</dcterms:modified>
  <cp:category/>
  <cp:lastPrinted>2026-10-01T09:00:00Z</cp:lastPrinted>
</cp:coreProperties>
</file>