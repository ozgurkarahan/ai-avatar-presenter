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MICROSOFT  ×  SAINT-GOBAIN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RFI559 — AI Avatar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80C0FF"/>
                </a:solidFill>
              </a:rPr>
              <a:t>Progressive Cost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CDDEE"/>
                </a:solidFill>
              </a:rPr>
              <a:t>From Proof of Concept to Enterprise Scale</a:t>
            </a:r>
          </a:p>
          <a:p>
            <a:pPr algn="l">
              <a:spcAft>
                <a:spcPts val="1200"/>
              </a:spcAft>
            </a:pPr>
            <a:r>
              <a:rPr sz="8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8AACC"/>
                </a:solidFill>
              </a:rPr>
              <a:t>Azure AI Services  •  Azure OpenAI  •  VoiceLive Avatar  •  Container Apps</a:t>
            </a:r>
          </a:p>
          <a:p>
            <a:pPr algn="l">
              <a:spcAft>
                <a:spcPts val="1200"/>
              </a:spcAft>
            </a:pPr>
            <a:r>
              <a:rPr sz="8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99AA"/>
                </a:solidFill>
              </a:rPr>
              <a:t>April 2026 — Pricing estimates based on current Azure published rates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99AA"/>
                </a:solidFill>
              </a:rPr>
              <a:t>All prices in USD, West Europe region, subject to enterprise agreement discounts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Cost Model: "Batch-First" Training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612880" cy="1463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3366"/>
                </a:solidFill>
              </a:rPr>
              <a:t>Key Insight: Cost scales with CONTENT CREATED, not with NUMBER OF VIEWERS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Batch avatar videos are rendered ONCE per presentation, then stored and replayed unlimited times at zero marginal cost.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Whether 10 or 10,000 learners watch a video, the Azure cost is the same: $0 per additional 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566928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Batch Video (UC2) — Primary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7C10"/>
                </a:solidFill>
              </a:rPr>
              <a:t>How it works: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1. Author uploads PowerPoint presentation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2. System generates avatar video (one-time batch cost)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3. Video stored in Azure Blob Storage (~$0.018/GB/mo)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4. Unlimited learners stream/download at near-zero cost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</a:rPr>
              <a:t>Cost per 10-min video: $5.00 (one-time)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</a:rPr>
              <a:t>Cost per additional viewer: $0.00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34640"/>
            <a:ext cx="566928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Real-Time Avatar (UC1) — Interactive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</a:rPr>
              <a:t>When it's used: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1. Live Q&amp;A with avatar over slide content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2. On-demand interactive exploration of slides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3. Agent chat for deeper knowledge queries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4. Typically short sessions (3–5 min of avatar)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</a:rPr>
              <a:t>Cost per 5-min Q&amp;A session: $2.50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</a:rPr>
              <a:t>Used by ~10-20% of learners occasionally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8080"/>
                </a:solidFill>
              </a:rPr>
              <a:t>This model makes the solution extremely cost-effective at scale: 50 training videos serving 5,000 learners costs the same as serving 50 learners.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Progressive Deployment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6400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Phase 1: PoC /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3–6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UC1 Silver — Avatar over PPT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33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UC2 — Batch video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09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10 languages (DragonHD voices)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284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~5 new presentations/month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758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50 learners, standard avatars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Single Azure region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47472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Phase 2: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87451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6–12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UC1 Basic + Silver + 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33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UC2 + SCORM/LMS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9809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37 languages (full RFI scope)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284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~12 new presentations/month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758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500 learners, SGChat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2-region HA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188720"/>
            <a:ext cx="3474720" cy="640080"/>
          </a:xfrm>
          <a:prstGeom prst="round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Phase 3: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87451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12+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UC1 + UC2 + UC3 Podcast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33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Custom avatar (executive)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809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Full LMS/SCORM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284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~17 new presentations/month (200/yr)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6758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5,000+ learners, global rollout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→  Multi-region (3+ regions)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66666"/>
                </a:solidFill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66666"/>
                </a:solidFill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3366"/>
                </a:solidFill>
              </a:rPr>
              <a:t>Cost scales with content production, not learner count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The main cost driver is the number of NEW presentations rendered into avatar videos each month.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</a:rPr>
              <a:t>Once a video is generated, it is stored in Blob Storage and can be viewed by unlimited learners at near-zero cost.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</a:rPr>
              <a:t>Real-time avatar (live Q&amp;A) is used only occasionally and represents a small fraction of the total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Phase 1: PoC / Pilot — Monthly Cost Estimate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4389120" cy="2560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023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7C10"/>
                </a:solidFill>
              </a:rPr>
              <a:t>Assumptions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50 learners (internal Saint-Gobain pilot)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5 new presentations created/month (~60/yr)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Each presentation: ~10 slides, ~10 min video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Batch video: rendered once, watched many times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~10 live Q&amp;A sessions/month (~5 min each)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10 languages (DragonHD voices)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Standard avatars, single region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07C10"/>
                </a:solidFill>
              </a:rPr>
              <a:t>Learners primarily watch batch videos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46320" y="1005840"/>
          <a:ext cx="7040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37160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Usage/Month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 Cost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Batch Avatar Synthesis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 min (5 videos)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$0.50/min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24.3%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VoiceLive Avatar (live Q&amp;A)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 min (10 sessions)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$0.50/min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24.3%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OpenAI GPT-4.1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~300K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$0.002-0.008/1K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1.9%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OpenAI Embeddings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~200K tokens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$0.02/1M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&lt;0.1%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Container Apps (1vCPU, 2GB)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24/7 after free 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$0.000024/s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34.0%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Cosmos DB Serverless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~500K RUs + 0.5 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$0.25/1M RU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$0.25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&lt;0.1%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Blob Storage (Hot LRS)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 GB (videos+slides)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$0.018/GB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&lt;0.1%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Container Registry (Basic)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registry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$5/month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4.9%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Log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 GB 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Free 5GB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7C10"/>
                </a:solidFill>
              </a:rPr>
              <a:t>Key Insight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</a:rPr>
              <a:t>Batch video = one-time cost. A 10-min training video costs $5 to render and can be viewed by all 50 users at $0 extra.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</a:rPr>
              <a:t>Live Q&amp;A is optional and short — only a fraction of users need interactive sessions.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</a:rPr>
              <a:t>Cost per video produced: ~$5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</a:rPr>
              <a:t>Cost per learner: ~$1.86/month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3366"/>
                </a:solidFill>
              </a:rPr>
              <a:t>Annual estimate: ~$1,116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Phase 2: Production — Monthly Cost Estimate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4389120" cy="2468880"/>
          </a:xfrm>
          <a:prstGeom prst="round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78D4"/>
                </a:solidFill>
              </a:rPr>
              <a:t>Assumptions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500 learners (Saint-Gobain departments)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12 new presentations/month (~140/yr)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Each presentation: ~10 min batch video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~40 live Q&amp;A sessions/month (~5 min each)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37 languages (full RFI scope)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UC1 Gold: multi-deck AI selection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SGChat + M365 integration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2-region deployment (HA)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8D4"/>
                </a:solidFill>
              </a:rPr>
              <a:t>500 learners watch same batch videos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46320" y="1005840"/>
          <a:ext cx="7040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371600"/>
                <a:gridCol w="1097280"/>
                <a:gridCol w="1188720"/>
              </a:tblGrid>
              <a:tr h="34616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Usage/Month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 Cost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Batch Avatar Synthesis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120 min (12 videos)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$0.50/min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VoiceLive Avatar (live Q&amp;A)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200 min (40 sessions)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$0.50/min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17.5%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OpenAI GPT-4.1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~2M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$0.002-0.008/1K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1.8%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OpenAI Embeddings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~1M tokens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$0.02/1M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&lt;0.1%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AI Translator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~5M chars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$10/1M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8.8%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Container Apps (2vCPU, 4GB)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24/7, 1 replica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$0.000024/s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27.1%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Cosmos DB Serverless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~3M RUs + 3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$0.25/1M 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0.3%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Blob Storage (Hot LRS)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~10 GB (videos)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$0.018/GB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$0.20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&lt;0.1%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Container Registry (Basic)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registry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Log Analytics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 GB logs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Free 5GB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AI Search (Basic) — UC1 Gold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$73/month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12.8%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78D4"/>
                </a:solidFill>
              </a:rPr>
              <a:t>Key Insight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10x learners (50→500) but only ~5x cost. Infrastructure becomes the main cost, not avatar.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</a:rPr>
              <a:t>Translation adds $50/mo for 37 languages.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</a:rPr>
              <a:t>AI Search added for UC1 Gold multi-deck retrieval.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</a:rPr>
              <a:t>Cost per video produced: ~$5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</a:rPr>
              <a:t>Cost per learner: ~$0.91/month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3366"/>
                </a:solidFill>
              </a:rPr>
              <a:t>Annual estimate: ~$5,460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Phase 3: Enterprise Scale — Monthly Cost Estimate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4389120" cy="246888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A5010"/>
                </a:solidFill>
              </a:rPr>
              <a:t>Assumptions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5,000 learners (global Saint-Gobain)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17 new presentations/month (200/year)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Each presentation: ~10 min batch video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~100 live Q&amp;A sessions/month (~5 min)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UC3: 5 podcasts/month (20 min each)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37 languages, 1 custom avatar model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Full LMS/SCORM integration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Multi-region (3 regions)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CA5010"/>
                </a:solidFill>
              </a:rPr>
              <a:t>5,000 learners watch same video library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46320" y="1005840"/>
          <a:ext cx="70408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371600"/>
                <a:gridCol w="1097280"/>
                <a:gridCol w="1188720"/>
              </a:tblGrid>
              <a:tr h="32272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Usage/Month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 Cost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Batch Avatar Synthesis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170 min (17 videos)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$0.50/min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VoiceLive Avatar (live Q&amp;A)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500 min (100 sessions)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$0.50/min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$250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UC3 Podcast (dual avatar)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 min (5 podcasts)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$0.50/min 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4.4%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Custom Avatar Hosting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model, 24/7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$0.60/hr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$432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19.2%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OpenAI GPT-4.1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~10M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$0.002-0.008/1K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2.2%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OpenAI Embeddings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~5M tokens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$0.02/1M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&lt;0.1%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AI Translator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~20M chars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$10/1M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8.9%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Container Apps (2vCPU, 4GB x3)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24/7, 3 regions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$0.000024/s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$470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20.9%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Cosmos DB Serverless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~20M RUs + 20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$0.25/1M 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0.4%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Blob Storage (Hot LRS)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~50 GB (videos)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$0.018/GB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&lt;0.1%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AI Search (Standard S1)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$245/unit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10.9%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Container Registry (Std)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registry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$20/month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Log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 GB 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Free 5GB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Front Door + Key Vault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Global routing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~$36/month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1.6%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227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$1,899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A5010"/>
                </a:solidFill>
              </a:rPr>
              <a:t>Key Insight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100x learners (50→5,000) but only ~20x cost. Custom avatar hosting becomes the top variable cost.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</a:rPr>
              <a:t>Infrastructure (Container Apps, AI Search) is the main cost at this scale — not avatar rendering.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</a:rPr>
              <a:t>UC3 Podcast adds modest cost ($100/mo for 5 episodes).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A5010"/>
                </a:solidFill>
              </a:rPr>
              <a:t>Cost per video produced: ~$5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A5010"/>
                </a:solidFill>
              </a:rPr>
              <a:t>Cost per learner: ~$0.38/month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3366"/>
                </a:solidFill>
              </a:rPr>
              <a:t>Annual estimate: ~$22,800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Progressive Cost Summary — Phase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108960"/>
                <a:gridCol w="3108960"/>
              </a:tblGrid>
              <a:tr h="31432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1: PoC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2: Production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3: Enterprise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Learners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New Videos/Year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~60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~140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UC1 Silver + UC2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UC1 All + UC2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UC1 + UC2 + UC3</a:t>
                      </a: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Languages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Avatars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Standard + Custom</a:t>
                      </a: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Regions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07C10"/>
                          </a:solidFill>
                        </a:defRPr>
                      </a:pPr>
                      <a:r>
                        <a:t>$93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078D4"/>
                          </a:solidFill>
                        </a:defRPr>
                      </a:pPr>
                      <a:r>
                        <a:t>$455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CA5010"/>
                          </a:solidFill>
                        </a:defRPr>
                      </a:pPr>
                      <a:r>
                        <a:t>$1,899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Annual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07C10"/>
                          </a:solidFill>
                        </a:defRPr>
                      </a:pPr>
                      <a:r>
                        <a:t>$1,116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078D4"/>
                          </a:solidFill>
                        </a:defRPr>
                      </a:pPr>
                      <a:r>
                        <a:t>$5,460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CA5010"/>
                          </a:solidFill>
                        </a:defRPr>
                      </a:pPr>
                      <a:r>
                        <a:t>$22,788</a:t>
                      </a: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Per-Learner/Month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07C10"/>
                          </a:solidFill>
                        </a:defRPr>
                      </a:pPr>
                      <a:r>
                        <a:t>$1.86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078D4"/>
                          </a:solidFill>
                        </a:defRPr>
                      </a:pPr>
                      <a:r>
                        <a:t>$0.91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CA5010"/>
                          </a:solidFill>
                        </a:defRPr>
                      </a:pPr>
                      <a:r>
                        <a:t>$0.38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Per-Video Produced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07C10"/>
                          </a:solidFill>
                        </a:defRPr>
                      </a:pPr>
                      <a:r>
                        <a:t>~$5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078D4"/>
                          </a:solidFill>
                        </a:defRPr>
                      </a:pPr>
                      <a:r>
                        <a:t>~$5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CA5010"/>
                          </a:solidFill>
                        </a:defRPr>
                      </a:pPr>
                      <a:r>
                        <a:t>~$5</a:t>
                      </a: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Avatar Rendering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Infrastructure 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AI + Translation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Unit Economics: Cost per Content Piece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Cost to Produce One Training Video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45920"/>
          <a:ext cx="5669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554480"/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Cost Component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Batch avatar rendering (10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 min x $0.50/min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$5.00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GPT-4.1 translation (10 langs)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~50K chars x $0.002-0.008/1K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$0.15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Embeddings for Q&amp;A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~5K tokens x $0.02/1M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$0.0001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Cosmos DB writes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~10 RUs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$0.000003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Blob Storage (video + slides)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~200 MB stored/month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$0.004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 per video (one-time)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$5.15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Cost per viewer (streaming)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Video playback from Blob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~$0.00</a:t>
                      </a:r>
                    </a:p>
                  </a:txBody>
                  <a:tcPr anchor="ctr"/>
                </a:tc>
              </a:tr>
              <a:tr h="3325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Cost per Q&amp;A session (live)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 min avatar + GPT-4.1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~$2.55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17920" y="1097280"/>
            <a:ext cx="5669280" cy="4572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Why This Model is Cost-Effective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8080"/>
                </a:solidFill>
              </a:rPr>
              <a:t>Batch = Invest Once, Serve Forever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A $5 video can train 10,000 employees. Cost per learner approaches $0.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8080"/>
                </a:solidFill>
              </a:rPr>
              <a:t>Compare: Traditional Video Production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Professional training video: $5,000–$15,000 per video with studio, actors, editing.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</a:rPr>
              <a:t>AI Avatar: $5 per video. That's 1,000x cheaper.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8080"/>
                </a:solidFill>
              </a:rPr>
              <a:t>Update Content Instantly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Update the PPT, re-generate video for $5. No re-shooting, no re-editing.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8080"/>
                </a:solidFill>
              </a:rPr>
              <a:t>Multilingual at Marginal Cost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Generate 37-language versions of a 10-min video: ~$185 total ($5/lang).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Traditional dubbing: $2,000–$5,000 per language.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8080"/>
                </a:solidFill>
              </a:rPr>
              <a:t>Live Q&amp;A is Optional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Most learners watch batch videos. Only ~10-20% use live Q&amp;A, keeping costs 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486400"/>
            <a:ext cx="1161288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Total cost of a 10-min training video in 37 languages: ~$190  |  Traditional equivalent: ~$100,000+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Cost Optimization Scenarios (Phase 2 — 500 Users)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828800"/>
                <a:gridCol w="128016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Savings vs Base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Per-Learner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Baseline (published rates)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2 with 500 learners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EA Discount (20% on Avatar)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$423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-$32 (7%)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$0.85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Enterprise agreement pricing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Shorter videos (7 min avg)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-$18 (4%)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Optimize presentation length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TTS audio-only for Q&amp;A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-$100 (22%)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$0.71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 avatar for Q&amp;A, voice only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Scale-to-zero off-hours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-$75 (16%)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Container Apps scale to 0 at night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Combined optimistic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-$155 (34%)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$0.60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EA + audio Q&amp;A + scale-to-zero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4572000"/>
            <a:ext cx="11612880" cy="20116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3366"/>
                </a:solidFill>
              </a:rPr>
              <a:t>Recommended Cost Strategy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1. Negotiate Enterprise Agreement pricing for AI Speech Services (target: 20-30% discount on avatar)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2. Optimize presentation lengths — shorter, focused modules (7 min) reduce batch rendering costs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3. Use TTS audio-only for Q&amp;A interactions — reserve avatar rendering for batch videos only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4. Cache all translations on upload — Cosmos DB cache eliminates repeat translation costs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5. Leverage Azure Cost Management — set budgets and alerts to track actual vs. estimated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Total Cost of Ownership (3-Year View)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1828800"/>
                <a:gridCol w="2926080"/>
              </a:tblGrid>
              <a:tr h="31432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Cost Category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3-Year Total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1 Azure (6 months)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$558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$558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2 Azure (6mo Y1 + 12mo Y2)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$2,730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$5,460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$8,190</a:t>
                      </a: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3 Azure (12 months)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$22,788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$22,788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Implementation (one-time)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1→2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$80,000</a:t>
                      </a: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2→3 development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$120,000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$120,000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Integration (SGChat, LMS)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$60,000</a:t>
                      </a: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Custom avatar training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$30,000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$30,000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Support &amp; Operations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DevOps / SRE (0.25 FTE)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$75,000</a:t>
                      </a:r>
                    </a:p>
                  </a:txBody>
                  <a:tcPr anchor="ctr"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ANNUAL TOTAL</a:t>
                      </a:r>
                    </a:p>
                  </a:txBody>
                  <a:tcPr anchor="ctr"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$108,288</a:t>
                      </a:r>
                    </a:p>
                  </a:txBody>
                  <a:tcPr anchor="ctr"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$210,460</a:t>
                      </a:r>
                    </a:p>
                  </a:txBody>
                  <a:tcPr anchor="ctr"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$77,788</a:t>
                      </a:r>
                    </a:p>
                  </a:txBody>
                  <a:tcPr anchor="ctr"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$396,536</a:t>
                      </a:r>
                    </a:p>
                  </a:txBody>
                  <a:tcPr anchor="ctr">
                    <a:solidFill>
                      <a:srgbClr val="BBDE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66666"/>
                </a:solidFill>
              </a:rPr>
              <a:t>* Implementation costs are indicative estimates. Actual costs depend on team composition and project management approach.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666666"/>
                </a:solidFill>
              </a:rPr>
              <a:t>* Azure costs assume published pay-as-you-go rates. Enterprise Agreement discounts can reduce Azure costs by 20-40%.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Appendix: Azure Service Unit Pricing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828800"/>
                <a:gridCol w="1554480"/>
                <a:gridCol w="4114800"/>
              </a:tblGrid>
              <a:tr h="3592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Azure Service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SKU / Tier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Batch Avatar Synthesis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minute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One-time render per video — main content cost</a:t>
                      </a:r>
                    </a:p>
                  </a:txBody>
                  <a:tcPr anchor="ctr"/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VoiceLive Avatar (real-time)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minute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$0.50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Live interactive Q&amp;A only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Custom Avatar Hosting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Custom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model/hour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3 only — custom executive avatar</a:t>
                      </a:r>
                    </a:p>
                  </a:txBody>
                  <a:tcPr anchor="ctr"/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OpenAI — GPT-4.1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1K input tokens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Translation, Q&amp;A, Agent chat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OpenAI — GPT-4.1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1K output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Responses, generated text</a:t>
                      </a:r>
                    </a:p>
                  </a:txBody>
                  <a:tcPr anchor="ctr"/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OpenAI — text-embedding-3-small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1M input tokens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RAG embeddings (negligible cost)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AI Translator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1M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2+ for 37-language expansion</a:t>
                      </a:r>
                    </a:p>
                  </a:txBody>
                  <a:tcPr anchor="ctr"/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Cosmos DB (Serverless)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Serverless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1M RUs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$0.25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Metadata, translations cache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Cosmos DB (Serverless)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Serverless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GB/month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Storage for slide data</a:t>
                      </a:r>
                    </a:p>
                  </a:txBody>
                  <a:tcPr anchor="ctr"/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Blob Storage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Standard LRS Hot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GB/month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$0.018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Slide images, PPTX, videos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Container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vCPU-second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$0.000024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Free tier: 180K vCPU-sec/mo</a:t>
                      </a:r>
                    </a:p>
                  </a:txBody>
                  <a:tcPr anchor="ctr"/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Azure Container Registry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month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$5.00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 GB included storage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Log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 GB ingested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Free 5GB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First 5 GB/month free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* All prices USD, West Europe region, April 2026. Subject to change. Enterprise agreements may include volume discounts.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Assumptions, Notes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Key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66"/>
                </a:solidFill>
              </a:rPr>
              <a:t>Usage Assumptions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Average 4 sessions per user per month (Phase 1-2), 3 at scale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Average 10 minutes of avatar streaming per session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10 slides per presentation, ~500 words per slide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2 Q&amp;A questions per session on average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66"/>
                </a:solidFill>
              </a:rPr>
              <a:t>Pricing Assumptions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Azure published pay-as-you-go rates (April 2026)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West Europe region (France Central available)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No Enterprise Agreement discounts applied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No Azure Reserved Instances or Savings Plans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50000"/>
                </a:solidFill>
              </a:rPr>
              <a:t>Not Included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Network egress / bandwidth costs (typically &lt;1%)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Azure Entra ID / Microsoft 365 licensing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End-user devices / browsers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Project management and change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66928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</a:rPr>
              <a:t>1. Validate Usage Assumptions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Run a 2-week pilot with 10 users to measure actual session lengths and frequency.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</a:rPr>
              <a:t>2. Negotiate EA Pricing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Engage Microsoft account team for Saint-Gobain-specific Azure AI Speech pricing.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</a:rPr>
              <a:t>3. Run Azure Pricing Calculator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Configure exact workload in Azure Pricing Calculator for region-specific estimates.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</a:rPr>
              <a:t>4. Cost Monitoring Strategy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Implement Azure Cost Management budgets and alerts from day one.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</a:rPr>
              <a:t>5. Phased Go/No-Go Gates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Each phase has a cost review gate before scaling to the next tier.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