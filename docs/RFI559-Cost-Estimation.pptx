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MICROSOFT  ×  SAINT-GOBAIN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RFI559 — AI Avatar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80C0FF"/>
                </a:solidFill>
              </a:rPr>
              <a:t>Progressive Cost Estimation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CDDEE"/>
                </a:solidFill>
              </a:rPr>
              <a:t>From Proof of Concept to Enterprise Scale</a:t>
            </a:r>
          </a:p>
          <a:p>
            <a:pPr algn="l">
              <a:spcAft>
                <a:spcPts val="1200"/>
              </a:spcAft>
            </a:pPr>
            <a:r>
              <a:rPr sz="8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8AACC"/>
                </a:solidFill>
              </a:rPr>
              <a:t>Azure AI Services  •  Azure OpenAI  •  VoiceLive Avatar  •  Container Apps</a:t>
            </a:r>
          </a:p>
          <a:p>
            <a:pPr algn="l">
              <a:spcAft>
                <a:spcPts val="1200"/>
              </a:spcAft>
            </a:pPr>
            <a:r>
              <a:rPr sz="8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899AA"/>
                </a:solidFill>
              </a:rPr>
              <a:t>April 2026 — Pricing estimates based on current Azure published rates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899AA"/>
                </a:solidFill>
              </a:rPr>
              <a:t>All prices in USD, West Europe region, subject to enterprise agreement discounts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Progressive Deployment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6400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Phase 1: PoC /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</a:rPr>
              <a:t>3–6 months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UC1 Silver — Avatar over PPT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33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UC2 — Batch video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09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10 languages (DragonHD voices)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284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50 pilot 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7588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Standard Microsoft avatars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Single Azure region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188720"/>
            <a:ext cx="347472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Phase 2: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87451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</a:rPr>
              <a:t>6–12 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UC1 Basic + Silver + Gold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33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UC2 + SCORM/LMS 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9809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37 languages (full RFI scope)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3284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500 users — SGChat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67588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M365 Copilot connector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Multi-region HA (2 regions)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188720"/>
            <a:ext cx="3474720" cy="640080"/>
          </a:xfrm>
          <a:prstGeom prst="roundRect">
            <a:avLst/>
          </a:prstGeom>
          <a:solidFill>
            <a:srgbClr val="CA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Phase 3: 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187451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</a:rPr>
              <a:t>12+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UC1 + UC2 + UC3 Podcast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633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Custom avatar (executive)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9809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Full LMS/SCORM ecosystem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3284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5,000+ users — global rollout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67588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Custom voices &amp; branding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Multi-region (3+ regions)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66666"/>
                </a:solidFill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66666"/>
                </a:solidFill>
              </a:rPr>
              <a:t>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Cost Driver Insight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The dominant cost component across all phases is VoiceLive Avatar streaming (~80-90% of variable costs).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</a:rPr>
              <a:t>Infrastructure (Container Apps, Cosmos DB, Blob Storage) remains minimal due to serverless/consumption pricing.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</a:rPr>
              <a:t>OpenAI costs (GPT-4.1 + embeddings) are highly competitive and scale linearly with session count.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Azure Service Unit Pricing Reference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828800"/>
                <a:gridCol w="1554480"/>
                <a:gridCol w="4114800"/>
              </a:tblGrid>
              <a:tr h="35356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Azure Service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SKU / Tier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Unit Price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VoiceLive Avatar (real-time)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minute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Dominant cost — real-time WebRTC avatar</a:t>
                      </a:r>
                    </a:p>
                  </a:txBody>
                  <a:tcPr anchor="ctr"/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Batch Avatar Synthesis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minute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Async video generation from text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Custom Avatar Hosting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Custom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model/hour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3 only — custom executive avatar</a:t>
                      </a:r>
                    </a:p>
                  </a:txBody>
                  <a:tcPr anchor="ctr"/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OpenAI — GPT-4.1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1K input tokens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Translation, Q&amp;A, Agent chat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OpenAI — 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1K output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Responses, generated text</a:t>
                      </a:r>
                    </a:p>
                  </a:txBody>
                  <a:tcPr anchor="ctr"/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OpenAI — text-embedding-3-small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1M input tokens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RAG embeddings (negligible cost)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AI Translator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1M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2+ for 37-language expansion</a:t>
                      </a:r>
                    </a:p>
                  </a:txBody>
                  <a:tcPr anchor="ctr"/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Cosmos DB (Serverless)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Serverless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1M RUs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$0.25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Metadata, translations cache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Cosmos DB (Serverless)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Serverless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GB/month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Storage for slide data</a:t>
                      </a:r>
                    </a:p>
                  </a:txBody>
                  <a:tcPr anchor="ctr"/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Blob Storage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LRS Hot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GB/month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$0.018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Slide images, PPTX, videos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Container Apps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Consumption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vCPU-second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Free tier: 180K vCPU-sec/mo</a:t>
                      </a:r>
                    </a:p>
                  </a:txBody>
                  <a:tcPr anchor="ctr"/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Container Apps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Consumption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GiB-second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$0.000003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Free tier: 360K GiB-sec/mo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Container Registry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 GB included storage</a:t>
                      </a:r>
                    </a:p>
                  </a:txBody>
                  <a:tcPr anchor="ctr"/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Log Analytics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GB ingested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Free 5GB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First 5 GB/month free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* All prices USD, West Europe region, April 2026. Subject to change. Enterprise agreements may include volume discounts.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1: PoC / Pilot — Monthly Cost Estimate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05840"/>
            <a:ext cx="4389120" cy="2286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023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</a:rPr>
              <a:t>Assumptions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50 pilot users (internal Saint-Gobain)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~200 sessions/month (4 per user)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~10 min avg avatar time per session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10 batch videos/month (10 min avg)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10 languages (DragonHD voices)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Standard Microsoft avatars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Single region (West Europe)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1005840"/>
          <a:ext cx="70408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09728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Usage/Month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Unit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% of Total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VoiceLive Avatar (real-time)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2,000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79.2%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Batch Avatar Synthesis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 min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OpenAI 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~2M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$0.002-0.008/1K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0.9%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OpenAI Embeddings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~1.5M tokens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$0.02/1M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Apps (1vCPU, 2GB)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24/7 after free 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$0.000024/s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2.8%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Cosmos DB Serverless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~2M RUs + 1 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$0.25/1M RU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Blob Storage (Hot LRS)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$0.018/GB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Registry (Basic)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registry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0.4%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Log Analytics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 GB 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Free 5GB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$1,103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65760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</a:rPr>
              <a:t>Key Insight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333333"/>
                </a:solidFill>
              </a:rPr>
              <a:t>VoiceLive Avatar streaming represents 83% of total monthly cost.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</a:rPr>
              <a:t>Infrastructure costs are near-zero thanks to serverless/consumption pricing.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07C10"/>
                </a:solidFill>
              </a:rPr>
              <a:t>Per-user cost: ~$22/user/month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07C10"/>
                </a:solidFill>
              </a:rPr>
              <a:t>Per-session cost: ~$5.50/session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Annual estimate: ~$13,200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2: Production — Monthly Cost Estimate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05840"/>
            <a:ext cx="4389120" cy="2468880"/>
          </a:xfrm>
          <a:prstGeom prst="roundRect">
            <a:avLst/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</a:rPr>
              <a:t>Assumptions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500 users (Saint-Gobain departments)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~2,000 sessions/month (4 per user)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~10 min avg avatar time per session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100 batch videos/month (10 min avg)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37 languages (full RFI scope)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UC1 Gold: multi-deck AI selection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SGChat + M365 integration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2-region deployment (HA)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1005840"/>
          <a:ext cx="70408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097280"/>
                <a:gridCol w="1188720"/>
              </a:tblGrid>
              <a:tr h="34616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Usage/Month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Unit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% of Total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VoiceLive Avatar (real-time)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20,000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81.5%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Batch Avatar Synthesis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1,000 min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OpenAI 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~20M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$0.002-0.008/1K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0.8%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OpenAI Embeddings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~15M tokens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$0.02/1M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$0.30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AI Translator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~50M chars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$10/1M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4.1%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Apps (2vCPU, 4GB x2)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24/7, 2 replicas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$0.000024/s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2.5%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Cosmos DB Serverless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~20M RUs + 10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$0.25/1M RU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Blob Storage (Hot LRS)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~50 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$0.018/GB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Registry (Basic)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registry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Log Analytics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 GB logs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Free 5GB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AI Search (Basic) — UC1 Gold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unit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$73/month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0.6%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7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$11,497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</a:rPr>
              <a:t>Key Insight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333333"/>
                </a:solidFill>
              </a:rPr>
              <a:t>Cost scales linearly with user count. 10x users = ~10x avatar cost.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</a:rPr>
              <a:t>Azure AI Translator adds $500/mo for 37-language expansion.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</a:rPr>
              <a:t>AI Search added for UC1 Gold multi-deck retrieval.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78D4"/>
                </a:solidFill>
              </a:rPr>
              <a:t>Per-user cost: ~$23/user/month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78D4"/>
                </a:solidFill>
              </a:rPr>
              <a:t>Per-session cost: ~$5.75/session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Annual estimate: ~$138,000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A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3: Enterprise Scale — Monthly Cost Estimate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05840"/>
            <a:ext cx="4389120" cy="246888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A5010"/>
                </a:solidFill>
              </a:rPr>
              <a:t>Assumptions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5,000 users (global Saint-Gobain)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~15,000 sessions/month (3 per user)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~8 min avg avatar time per session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500 batch videos/month (10 min avg)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UC3: 50 podcasts/month (20 min each)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37 languages, custom avatar model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Full LMS/SCORM integration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Multi-region (3 regions, active-active)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1005840"/>
          <a:ext cx="70408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097280"/>
                <a:gridCol w="118872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Usage/Month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Unit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% of Total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VoiceLive Avatar (real-time)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120,000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79.3%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Batch Avatar Synthesis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5,000 min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$2,500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3.3%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UC3 Podcast (dual avatar)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1,000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 x2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1.3%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Custom Avatar Hosting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model, 24/7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$0.60/hr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$432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0.6%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OpenAI 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~150M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$0.002-0.008/1K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1.0%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OpenAI Embeddings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~100M tokens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$0.02/1M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AI Translator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~300M chars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$8.22/1M*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$2,466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3.3%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Apps (4vCPU, 8GB x3)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24/7, 3 replicas x3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$0.000024/s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$2,800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3.7%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Cosmos DB Serverless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~200M RUs + 100GB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$0.25/1M RU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0.1%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Blob Storage (Hot LRS)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~500 GB + videos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$0.018/GB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AI Search (Standard S1)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unit x 3 regions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$245/unit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1.0%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Registry (Std)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registry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$20/month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Log Analytics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~20 GB 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$2.76/GB*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Front Door (CDN + WAF)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Global routing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~$35/month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 Vault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RBAC + secrets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$0.03/10K ops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$70,867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A5010"/>
                </a:solidFill>
              </a:rPr>
              <a:t>Key Insight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333333"/>
                </a:solidFill>
              </a:rPr>
              <a:t>Per-user cost drops to ~$14/user/month at scale thanks to amortized infra.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</a:rPr>
              <a:t>Translator volume discount kicks in (250M+ chars).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</a:rPr>
              <a:t>Multi-region adds ~30% to compute costs but provides HA/DR.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A5010"/>
                </a:solidFill>
              </a:rPr>
              <a:t>Per-user cost: ~$14/user/month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A5010"/>
                </a:solidFill>
              </a:rPr>
              <a:t>Per-session cost: ~$4.70/session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Annual estimate: ~$850,000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Progressive Cost Summary — Phase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3108960"/>
                <a:gridCol w="3108960"/>
              </a:tblGrid>
              <a:tr h="31432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Phase 1: PoC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Phase 2: Production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Phase 3: Enterprise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5,000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Sessions/Month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2,000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15,000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Use Cases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UC1 Silver + UC2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UC1 All + UC2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UC1 + UC2 + UC3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Languages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Avatars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+ Custom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Regions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07C10"/>
                          </a:solidFill>
                        </a:defRPr>
                      </a:pPr>
                      <a:r>
                        <a:t>$1,103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0078D4"/>
                          </a:solidFill>
                        </a:defRPr>
                      </a:pPr>
                      <a:r>
                        <a:t>$11,497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CA5010"/>
                          </a:solidFill>
                        </a:defRPr>
                      </a:pPr>
                      <a:r>
                        <a:t>$70,867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Annual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07C10"/>
                          </a:solidFill>
                        </a:defRPr>
                      </a:pPr>
                      <a:r>
                        <a:t>$13,236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0078D4"/>
                          </a:solidFill>
                        </a:defRPr>
                      </a:pPr>
                      <a:r>
                        <a:t>$137,964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CA5010"/>
                          </a:solidFill>
                        </a:defRPr>
                      </a:pPr>
                      <a:r>
                        <a:t>$850,404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Per-User/Month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07C10"/>
                          </a:solidFill>
                        </a:defRPr>
                      </a:pPr>
                      <a:r>
                        <a:t>$22.06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0078D4"/>
                          </a:solidFill>
                        </a:defRPr>
                      </a:pPr>
                      <a:r>
                        <a:t>$22.99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CA5010"/>
                          </a:solidFill>
                        </a:defRPr>
                      </a:pPr>
                      <a:r>
                        <a:t>$14.17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Per-Session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07C10"/>
                          </a:solidFill>
                        </a:defRPr>
                      </a:pPr>
                      <a:r>
                        <a:t>$5.52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0078D4"/>
                          </a:solidFill>
                        </a:defRPr>
                      </a:pPr>
                      <a:r>
                        <a:t>$5.75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CA5010"/>
                          </a:solidFill>
                        </a:defRPr>
                      </a:pPr>
                      <a:r>
                        <a:t>$4.72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Avatar % of 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Infra % of Total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AI/LLM % of 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1%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Cost Scaling &amp; Unit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566928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Anatomy of a Single Session Cost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4592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Cost Component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Calculation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Per Session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Avatar streaming (10 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 min x $0.50/min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$5.00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GPT-4.1 translation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~5K tokens x $0.002-0.008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GPT-4.1 Q&amp;A (2 questions)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~4K tokens 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$0.02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Embeddings (RAG)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~5K tokens x $0.02/1M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Cosmos DB reads/writes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~20 RUs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$0.000005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Blob Storage reads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~10 images served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Apps compute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~10 min 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$0.014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 per Session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$5.06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17920" y="1097280"/>
            <a:ext cx="5669280" cy="45720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Cost Optimization Levers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Avatar Time = Cost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Reducing average avatar time from 10 to 7 min saves 30% of total cost.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Batch over Real-Time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Pre-recorded videos (UC2) can be reused unlimited times. Invest in batch for frequently-used content.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Smart Translation Caching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Background batch translation on upload means translations are cached in Cosmos DB. Zero cost on repeated access.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Enterprise Agreement Discounts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Saint-Gobain EA pricing could reduce avatar costs by 20-40% from published rates.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Reserved Capacity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Azure AI Services commitment tiers provide significant discounts for predictable workloads.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Hybrid Avatar Strategy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Use TTS audio-only for low-value interactions (agent chat), reserve avatar for presentations.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4572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Session Cost Breakdown — 99% is Avatar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623560"/>
            <a:ext cx="5248656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VoiceLive Avatar — $5.00 (98.8%)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05856" y="5623560"/>
            <a:ext cx="137160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0350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Avatar (98.8%)    OpenAI+Infra (1.2%)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Cost Optimization Scenarios (Phase 2 — 500 Users)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828800"/>
                <a:gridCol w="1280160"/>
                <a:gridCol w="4572000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Savings vs Base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Per-User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Baseline (published rates)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$11,497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 optimizations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EA Discount (20% on Avatar)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$9,497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-$2,000 (17%)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$19.0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Enterprise agreement pricing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EA Discount (40% on Avatar)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$7,497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-$4,000 (35%)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$15.0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Strong EA negotiation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Reduce avatar to 7 min avg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$8,497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-$3,000 (26%)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$17.0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Optimize content length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50% sessions use batch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$6,747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-$4,750 (41%)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Pre-record common content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Audio-only for agent chat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$10,497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-$1,000 (9%)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$21.0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TTS instead of avatar for Q&amp;A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Combined optimistic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$4,500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-$7,000 (61%)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$9.0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EA + batch + shorter sessions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274320" y="4572000"/>
            <a:ext cx="11612880" cy="20116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3366"/>
                </a:solidFill>
              </a:rPr>
              <a:t>Recommended Cost Strategy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1. Negotiate Enterprise Agreement pricing for AI Speech Services (target: 25-30% discount on avatar)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2. Implement "batch first" strategy — auto-generate batch videos for all uploaded presentations (reusable at zero marginal cost)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3. Use TTS audio-only for agent chat / Q&amp;A interactions — reserve VoiceLive for presentation mode only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4. Cache all translations on upload — Cosmos DB cache eliminates repeat translation costs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5. Monitor &amp; optimize session lengths — provide "key points summary" mode for shorter interactions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Total Cost of Ownership (3-Year View)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1828800"/>
                <a:gridCol w="2926080"/>
              </a:tblGrid>
              <a:tr h="31432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Cost Category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Year 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Year 2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Year 3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3-Year Total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1 Azure (6 months)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$6,618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$6,618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2 Azure (6mo Y1 + 12mo Y2)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$68,982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$137,964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$206,946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3 Azure (12 months)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$850,404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$850,404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Implementation (one-time)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1→2 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$80,000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2→3 development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$120,000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$120,000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Integration (SGChat, LMS)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$60,000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Custom avatar training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$30,000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$30,000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Support &amp; Operations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DevOps / SRE (0.5 FTE)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$150,000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03366"/>
                          </a:solidFill>
                        </a:defRPr>
                      </a:pPr>
                      <a:r>
                        <a:t>ANNUAL TOTAL</a:t>
                      </a:r>
                    </a:p>
                  </a:txBody>
                  <a:tcPr anchor="ctr"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03366"/>
                          </a:solidFill>
                        </a:defRPr>
                      </a:pPr>
                      <a:r>
                        <a:t>$205,600</a:t>
                      </a:r>
                    </a:p>
                  </a:txBody>
                  <a:tcPr anchor="ctr"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03366"/>
                          </a:solidFill>
                        </a:defRPr>
                      </a:pPr>
                      <a:r>
                        <a:t>$367,964</a:t>
                      </a:r>
                    </a:p>
                  </a:txBody>
                  <a:tcPr anchor="ctr"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03366"/>
                          </a:solidFill>
                        </a:defRPr>
                      </a:pPr>
                      <a:r>
                        <a:t>$930,404</a:t>
                      </a:r>
                    </a:p>
                  </a:txBody>
                  <a:tcPr anchor="ctr"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03366"/>
                          </a:solidFill>
                        </a:defRPr>
                      </a:pPr>
                      <a:r>
                        <a:t>$1,503,968</a:t>
                      </a:r>
                    </a:p>
                  </a:txBody>
                  <a:tcPr anchor="ctr">
                    <a:solidFill>
                      <a:srgbClr val="BBDE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217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66666"/>
                </a:solidFill>
              </a:rPr>
              <a:t>* Implementation costs are indicative estimates. Actual costs depend on team composition and project management approach.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666666"/>
                </a:solidFill>
              </a:rPr>
              <a:t>* Azure costs assume published pay-as-you-go rates. Enterprise Agreement discounts can reduce Azure costs by 20-40%.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Assumptions, Notes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566928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Key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3366"/>
                </a:solidFill>
              </a:rPr>
              <a:t>Usage Assumptions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Average 4 sessions per user per month (Phase 1-2), 3 at scale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Average 10 minutes of avatar streaming per session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10 slides per presentation, ~500 words per slide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2 Q&amp;A questions per session on average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03366"/>
                </a:solidFill>
              </a:rPr>
              <a:t>Pricing Assumptions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Azure published pay-as-you-go rates (April 2026)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West Europe region (France Central available)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No Enterprise Agreement discounts applied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No Azure Reserved Instances or Savings Plans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C50000"/>
                </a:solidFill>
              </a:rPr>
              <a:t>Not Included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Network egress / bandwidth costs (typically &lt;1%)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Azure Entra ID / Microsoft 365 licensing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End-user devices / browsers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Project management and change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566928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Recommended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1. Validate Usage Assumptions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Run a 2-week pilot with 10 users to measure actual session lengths and frequency.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2. Negotiate EA Pricing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Engage Microsoft account team for Saint-Gobain-specific Azure AI Speech pricing.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3. Run Azure Pricing Calculator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Configure exact workload in Azure Pricing Calculator for region-specific estimates.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4. Cost Monitoring Strategy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Implement Azure Cost Management budgets and alerts from day one.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5. Phased Go/No-Go Gates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Each phase has a cost review gate before scaling to the next tier.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