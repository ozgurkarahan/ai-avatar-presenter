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opening slide. Introduce SageGlass as Saint-Gobain's flagship dynamic glazing technology. Frame the conversation around decarbonising the built environment, which is responsible for roughly 40% of global CO2 emissions.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the technical depth slide. The expert should explain the five-layer stack and the ion migration principle. Keep the metaphor accessible — compare it to a rechargeable battery where the 'charge state' is the tint level.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interviewer should ask about quantified impact here. Expert shares the key metrics and grounds them in a relatable example, e.g., a typical 10,000 m² commercial building saves enough energy to power 40 homes per year.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Talk about a real-world deployment. Keep it concrete — single building, specific numbers, measured outcomes. The interviewer should pivot from 'how it works' to 'what it delivers'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Wrap up with the forward-looking story. The expert should describe how AI turns the glass from a passive product into an active part of the building's energy strategy. End on a confident, inviting note — this is the customer's 'future' if they partner with Saint-Gobain.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4206240"/>
            <a:ext cx="12188952" cy="54864"/>
          </a:xfrm>
          <a:prstGeom prst="rect">
            <a:avLst/>
          </a:prstGeom>
          <a:solidFill>
            <a:srgbClr val="00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31520" y="2194560"/>
            <a:ext cx="10515600" cy="1645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SageGlass — Dynamic Glazing for Net-Zero Buildings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31520" y="4389120"/>
            <a:ext cx="10515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009BDC"/>
                </a:solidFill>
              </a:defRPr>
            </a:pPr>
            <a:r>
              <a:t>Saint-Gobain Insights · Innovation Podcast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286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How Electrochromic Tinting Works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Five-layer ceramic coating on the inner glass surface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Low-voltage DC pulse migrates lithium ions between layers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Transition from clear (~60% VLT) to deeply tinted (~1% VLT) in minutes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No moving parts — solid-state switching rated for 100,000+ cycles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Saint-Gobain Insights   ·   Slide 2 of 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286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Why It Matters — Energy &amp; Comfort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HVAC savings: 10–20% annual reduction vs. low-e glass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Lighting savings: 60% less artificial lighting near windows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Glare control without blinds or shades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LEED credits: up to 8 under v4.1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Saint-Gobain Insights   ·   Slide 3 of 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286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Deployment Case Study — European HQ Retrofit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2,800 m² facade, 1,200 dynamic panes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Installed Q2 2024, fully integrated with BMS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Measured HVAC reduction: 18.4% year-one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Occupant satisfaction survey: +31 NPS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Saint-Gobain Insights   ·   Slide 4 of 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F1F5F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88952" cy="1005840"/>
          </a:xfrm>
          <a:prstGeom prst="rect">
            <a:avLst/>
          </a:prstGeom>
          <a:solidFill>
            <a:srgbClr val="00336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0" tIns="228600"/>
          <a:lstStyle/>
          <a:p>
            <a:pPr algn="ctr">
              <a:defRPr sz="2800" b="1">
                <a:solidFill>
                  <a:srgbClr val="FFFFFF"/>
                </a:solidFill>
              </a:defRPr>
            </a:pPr>
            <a:r>
              <a:t>What's Next — AI-Driven Control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005840"/>
            <a:ext cx="12188952" cy="73152"/>
          </a:xfrm>
          <a:prstGeom prst="rect">
            <a:avLst/>
          </a:prstGeom>
          <a:solidFill>
            <a:srgbClr val="009BD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463040"/>
            <a:ext cx="10515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ML models predict solar load 15 minutes ahead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Occupant preference learning per zone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Grid-aware tinting during peak pricing</a:t>
            </a:r>
          </a:p>
          <a:p>
            <a:pPr>
              <a:spcAft>
                <a:spcPts val="1400"/>
              </a:spcAft>
              <a:defRPr sz="2200">
                <a:solidFill>
                  <a:srgbClr val="334155"/>
                </a:solidFill>
              </a:defRPr>
            </a:pPr>
            <a:r>
              <a:t>•  Available in SageGlass SymphonyAI release — 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65760" y="6400800"/>
            <a:ext cx="11430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000">
                <a:solidFill>
                  <a:srgbClr val="94A3B8"/>
                </a:solidFill>
              </a:defRPr>
            </a:pPr>
            <a:r>
              <a:t>Saint-Gobain Insights   ·   Slide 5 of 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