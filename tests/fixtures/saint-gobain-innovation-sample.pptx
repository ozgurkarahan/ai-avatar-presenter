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our introduction to Saint-Gobain. We are a global leader in light and sustainable construction, operating in 76 countries with more than 160,000 employees. For over three and a half centuries we have been shaping the habitat and industries of tomorrow, combining performance, well-being and care for the planet.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Saint-Gobain is organized around four complementary business activities. High-Performance Solutions serves industries such as aerospace, healthcare and mobility. Construction Products delivers gypsum boards, insulation and mortars for energy-efficient buildings. Our Glass business provides innovative glazing for both buildings and vehicles. And our Distribution arm brings these solutions to professionals through thousands of branches.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Innovation is the engine of our growth. We run eight global research centers and collaborate with 100+ universities, employing 3,700 researchers who file more than 400 patents every year. Our open innovation approach connects us with start-ups through NOVA External Venturing, accelerating breakthroughs in low-carbon materials and digital construction.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Grow and Impact strategic plan sets the direction for the decade ahead. We have committed to net-zero carbon emissions by 2050, with an intermediate target of minus 33 percent CO2 by 2030 compared to our 2017 baseline. Circular economy principles are being embedded across every product family, from recycled glass to reusable gypsum boards.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why should you partner with Saint-Gobain. Because we combine centuries of materials expertise with a relentless focus on sustainability. Whether you are building a hospital, a data center or an electric vehicle, our teams deliver measurable performance and measurable carbon reductions. Thank you for listening, and we look forward to building the future with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0972800" cy="1097280"/>
          </a:xfrm>
          <a:prstGeom prst="rect">
            <a:avLst/>
          </a:prstGeom>
          <a:noFill/>
        </p:spPr>
        <p:txBody>
          <a:bodyPr wrap="square">
            <a:spAutoFit/>
          </a:bodyPr>
          <a:lstStyle/>
          <a:p>
            <a:pPr>
              <a:defRPr sz="3600" b="1">
                <a:solidFill>
                  <a:srgbClr val="0A2E5C"/>
                </a:solidFill>
              </a:defRPr>
            </a:pPr>
            <a:r>
              <a:t>Saint-Gobain: Shaping a Sustainable Future</a:t>
            </a:r>
          </a:p>
        </p:txBody>
      </p:sp>
      <p:sp>
        <p:nvSpPr>
          <p:cNvPr id="3" name="TextBox 2"/>
          <p:cNvSpPr txBox="1"/>
          <p:nvPr/>
        </p:nvSpPr>
        <p:spPr>
          <a:xfrm>
            <a:off x="731520" y="1645920"/>
            <a:ext cx="10789920" cy="4572000"/>
          </a:xfrm>
          <a:prstGeom prst="rect">
            <a:avLst/>
          </a:prstGeom>
          <a:noFill/>
        </p:spPr>
        <p:txBody>
          <a:bodyPr wrap="square">
            <a:spAutoFit/>
          </a:bodyPr>
          <a:lstStyle/>
          <a:p>
            <a:pPr>
              <a:spcAft>
                <a:spcPts val="1400"/>
              </a:spcAft>
              <a:defRPr sz="2200">
                <a:solidFill>
                  <a:srgbClr val="1F2A3D"/>
                </a:solidFill>
              </a:defRPr>
            </a:pPr>
            <a:r>
              <a:t>• 360+ years of materials innovation</a:t>
            </a:r>
          </a:p>
          <a:p>
            <a:pPr>
              <a:spcAft>
                <a:spcPts val="1400"/>
              </a:spcAft>
              <a:defRPr sz="2200">
                <a:solidFill>
                  <a:srgbClr val="1F2A3D"/>
                </a:solidFill>
              </a:defRPr>
            </a:pPr>
            <a:r>
              <a:t>• Present in 76 countries, 160,000+ employees</a:t>
            </a:r>
          </a:p>
          <a:p>
            <a:pPr>
              <a:spcAft>
                <a:spcPts val="1400"/>
              </a:spcAft>
              <a:defRPr sz="2200">
                <a:solidFill>
                  <a:srgbClr val="1F2A3D"/>
                </a:solidFill>
              </a:defRPr>
            </a:pPr>
            <a:r>
              <a:t>• Sustainability at the core of every product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0972800" cy="1097280"/>
          </a:xfrm>
          <a:prstGeom prst="rect">
            <a:avLst/>
          </a:prstGeom>
          <a:noFill/>
        </p:spPr>
        <p:txBody>
          <a:bodyPr wrap="square">
            <a:spAutoFit/>
          </a:bodyPr>
          <a:lstStyle/>
          <a:p>
            <a:pPr>
              <a:defRPr sz="3600" b="1">
                <a:solidFill>
                  <a:srgbClr val="0A2E5C"/>
                </a:solidFill>
              </a:defRPr>
            </a:pPr>
            <a:r>
              <a:t>Our Four Business Activities</a:t>
            </a:r>
          </a:p>
        </p:txBody>
      </p:sp>
      <p:sp>
        <p:nvSpPr>
          <p:cNvPr id="3" name="TextBox 2"/>
          <p:cNvSpPr txBox="1"/>
          <p:nvPr/>
        </p:nvSpPr>
        <p:spPr>
          <a:xfrm>
            <a:off x="731520" y="1645920"/>
            <a:ext cx="10789920" cy="4572000"/>
          </a:xfrm>
          <a:prstGeom prst="rect">
            <a:avLst/>
          </a:prstGeom>
          <a:noFill/>
        </p:spPr>
        <p:txBody>
          <a:bodyPr wrap="square">
            <a:spAutoFit/>
          </a:bodyPr>
          <a:lstStyle/>
          <a:p>
            <a:pPr>
              <a:spcAft>
                <a:spcPts val="1400"/>
              </a:spcAft>
              <a:defRPr sz="2200">
                <a:solidFill>
                  <a:srgbClr val="1F2A3D"/>
                </a:solidFill>
              </a:defRPr>
            </a:pPr>
            <a:r>
              <a:t>• High-Performance Solutions for industry</a:t>
            </a:r>
          </a:p>
          <a:p>
            <a:pPr>
              <a:spcAft>
                <a:spcPts val="1400"/>
              </a:spcAft>
              <a:defRPr sz="2200">
                <a:solidFill>
                  <a:srgbClr val="1F2A3D"/>
                </a:solidFill>
              </a:defRPr>
            </a:pPr>
            <a:r>
              <a:t>• Construction Products (gypsum, insulation, mortars)</a:t>
            </a:r>
          </a:p>
          <a:p>
            <a:pPr>
              <a:spcAft>
                <a:spcPts val="1400"/>
              </a:spcAft>
              <a:defRPr sz="2200">
                <a:solidFill>
                  <a:srgbClr val="1F2A3D"/>
                </a:solidFill>
              </a:defRPr>
            </a:pPr>
            <a:r>
              <a:t>• Glass for buildings and mobility</a:t>
            </a:r>
          </a:p>
          <a:p>
            <a:pPr>
              <a:spcAft>
                <a:spcPts val="1400"/>
              </a:spcAft>
              <a:defRPr sz="2200">
                <a:solidFill>
                  <a:srgbClr val="1F2A3D"/>
                </a:solidFill>
              </a:defRPr>
            </a:pPr>
            <a:r>
              <a:t>• Distribution across Europe and Latin America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0972800" cy="1097280"/>
          </a:xfrm>
          <a:prstGeom prst="rect">
            <a:avLst/>
          </a:prstGeom>
          <a:noFill/>
        </p:spPr>
        <p:txBody>
          <a:bodyPr wrap="square">
            <a:spAutoFit/>
          </a:bodyPr>
          <a:lstStyle/>
          <a:p>
            <a:pPr>
              <a:defRPr sz="3600" b="1">
                <a:solidFill>
                  <a:srgbClr val="0A2E5C"/>
                </a:solidFill>
              </a:defRPr>
            </a:pPr>
            <a:r>
              <a:t>Innovation &amp; R&amp;D at Scale</a:t>
            </a:r>
          </a:p>
        </p:txBody>
      </p:sp>
      <p:sp>
        <p:nvSpPr>
          <p:cNvPr id="3" name="TextBox 2"/>
          <p:cNvSpPr txBox="1"/>
          <p:nvPr/>
        </p:nvSpPr>
        <p:spPr>
          <a:xfrm>
            <a:off x="731520" y="1645920"/>
            <a:ext cx="10789920" cy="4572000"/>
          </a:xfrm>
          <a:prstGeom prst="rect">
            <a:avLst/>
          </a:prstGeom>
          <a:noFill/>
        </p:spPr>
        <p:txBody>
          <a:bodyPr wrap="square">
            <a:spAutoFit/>
          </a:bodyPr>
          <a:lstStyle/>
          <a:p>
            <a:pPr>
              <a:spcAft>
                <a:spcPts val="1400"/>
              </a:spcAft>
              <a:defRPr sz="2200">
                <a:solidFill>
                  <a:srgbClr val="1F2A3D"/>
                </a:solidFill>
              </a:defRPr>
            </a:pPr>
            <a:r>
              <a:t>• Eight cross-business research centers worldwide</a:t>
            </a:r>
          </a:p>
          <a:p>
            <a:pPr>
              <a:spcAft>
                <a:spcPts val="1400"/>
              </a:spcAft>
              <a:defRPr sz="2200">
                <a:solidFill>
                  <a:srgbClr val="1F2A3D"/>
                </a:solidFill>
              </a:defRPr>
            </a:pPr>
            <a:r>
              <a:t>• 3,700 researchers, 400+ patents filed per year</a:t>
            </a:r>
          </a:p>
          <a:p>
            <a:pPr>
              <a:spcAft>
                <a:spcPts val="1400"/>
              </a:spcAft>
              <a:defRPr sz="2200">
                <a:solidFill>
                  <a:srgbClr val="1F2A3D"/>
                </a:solidFill>
              </a:defRPr>
            </a:pPr>
            <a:r>
              <a:t>• Partnerships with top universities and start-ups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0972800" cy="1097280"/>
          </a:xfrm>
          <a:prstGeom prst="rect">
            <a:avLst/>
          </a:prstGeom>
          <a:noFill/>
        </p:spPr>
        <p:txBody>
          <a:bodyPr wrap="square">
            <a:spAutoFit/>
          </a:bodyPr>
          <a:lstStyle/>
          <a:p>
            <a:pPr>
              <a:defRPr sz="3600" b="1">
                <a:solidFill>
                  <a:srgbClr val="0A2E5C"/>
                </a:solidFill>
              </a:defRPr>
            </a:pPr>
            <a:r>
              <a:t>Grow &amp; Impact: Our 2030 Ambition</a:t>
            </a:r>
          </a:p>
        </p:txBody>
      </p:sp>
      <p:sp>
        <p:nvSpPr>
          <p:cNvPr id="3" name="TextBox 2"/>
          <p:cNvSpPr txBox="1"/>
          <p:nvPr/>
        </p:nvSpPr>
        <p:spPr>
          <a:xfrm>
            <a:off x="731520" y="1645920"/>
            <a:ext cx="10789920" cy="4572000"/>
          </a:xfrm>
          <a:prstGeom prst="rect">
            <a:avLst/>
          </a:prstGeom>
          <a:noFill/>
        </p:spPr>
        <p:txBody>
          <a:bodyPr wrap="square">
            <a:spAutoFit/>
          </a:bodyPr>
          <a:lstStyle/>
          <a:p>
            <a:pPr>
              <a:spcAft>
                <a:spcPts val="1400"/>
              </a:spcAft>
              <a:defRPr sz="2200">
                <a:solidFill>
                  <a:srgbClr val="1F2A3D"/>
                </a:solidFill>
              </a:defRPr>
            </a:pPr>
            <a:r>
              <a:t>• Net-zero carbon emissions by 2050</a:t>
            </a:r>
          </a:p>
          <a:p>
            <a:pPr>
              <a:spcAft>
                <a:spcPts val="1400"/>
              </a:spcAft>
              <a:defRPr sz="2200">
                <a:solidFill>
                  <a:srgbClr val="1F2A3D"/>
                </a:solidFill>
              </a:defRPr>
            </a:pPr>
            <a:r>
              <a:t>• -33% CO2 by 2030 vs 2017 baseline</a:t>
            </a:r>
          </a:p>
          <a:p>
            <a:pPr>
              <a:spcAft>
                <a:spcPts val="1400"/>
              </a:spcAft>
              <a:defRPr sz="2200">
                <a:solidFill>
                  <a:srgbClr val="1F2A3D"/>
                </a:solidFill>
              </a:defRPr>
            </a:pPr>
            <a:r>
              <a:t>• Circular economy across all product lines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0972800" cy="1097280"/>
          </a:xfrm>
          <a:prstGeom prst="rect">
            <a:avLst/>
          </a:prstGeom>
          <a:noFill/>
        </p:spPr>
        <p:txBody>
          <a:bodyPr wrap="square">
            <a:spAutoFit/>
          </a:bodyPr>
          <a:lstStyle/>
          <a:p>
            <a:pPr>
              <a:defRPr sz="3600" b="1">
                <a:solidFill>
                  <a:srgbClr val="0A2E5C"/>
                </a:solidFill>
              </a:defRPr>
            </a:pPr>
            <a:r>
              <a:t>Why Partner with Saint-Gobain?</a:t>
            </a:r>
          </a:p>
        </p:txBody>
      </p:sp>
      <p:sp>
        <p:nvSpPr>
          <p:cNvPr id="3" name="TextBox 2"/>
          <p:cNvSpPr txBox="1"/>
          <p:nvPr/>
        </p:nvSpPr>
        <p:spPr>
          <a:xfrm>
            <a:off x="731520" y="1645920"/>
            <a:ext cx="10789920" cy="4572000"/>
          </a:xfrm>
          <a:prstGeom prst="rect">
            <a:avLst/>
          </a:prstGeom>
          <a:noFill/>
        </p:spPr>
        <p:txBody>
          <a:bodyPr wrap="square">
            <a:spAutoFit/>
          </a:bodyPr>
          <a:lstStyle/>
          <a:p>
            <a:pPr>
              <a:spcAft>
                <a:spcPts val="1400"/>
              </a:spcAft>
              <a:defRPr sz="2200">
                <a:solidFill>
                  <a:srgbClr val="1F2A3D"/>
                </a:solidFill>
              </a:defRPr>
            </a:pPr>
            <a:r>
              <a:t>• Trusted expertise in materials science</a:t>
            </a:r>
          </a:p>
          <a:p>
            <a:pPr>
              <a:spcAft>
                <a:spcPts val="1400"/>
              </a:spcAft>
              <a:defRPr sz="2200">
                <a:solidFill>
                  <a:srgbClr val="1F2A3D"/>
                </a:solidFill>
              </a:defRPr>
            </a:pPr>
            <a:r>
              <a:t>• Proven track record on flagship projects</a:t>
            </a:r>
          </a:p>
          <a:p>
            <a:pPr>
              <a:spcAft>
                <a:spcPts val="1400"/>
              </a:spcAft>
              <a:defRPr sz="2200">
                <a:solidFill>
                  <a:srgbClr val="1F2A3D"/>
                </a:solidFill>
              </a:defRPr>
            </a:pPr>
            <a:r>
              <a:t>• Sustainability metrics embedded in every contract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